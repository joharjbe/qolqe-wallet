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esumen" id="{60a976ec-5032-733a-43e7-0231ae633453}">
          <p14:sldIdLst>
            <p14:sldId id="256"/>
            <p14:sldId id="257"/>
          </p14:sldIdLst>
        </p14:section>
        <p14:section name="Automatización" id="{896d0be0-a1ea-a07f-78f7-bc54690ae1fa}">
          <p14:sldIdLst>
            <p14:sldId id="258"/>
            <p14:sldId id="259"/>
            <p14:sldId id="260"/>
            <p14:sldId id="261"/>
            <p14:sldId id="262"/>
            <p14:sldId id="263"/>
          </p14:sldIdLst>
        </p14:section>
        <p14:section name="Pipeline" id="{cc513362-cee4-ac0e-219d-9ea2ef86abdf}">
          <p14:sldIdLst>
            <p14:sldId id="264"/>
            <p14:sldId id="265"/>
            <p14:sldId id="266"/>
            <p14:sldId id="267"/>
            <p14:sldId id="268"/>
            <p14:sldId id="269"/>
          </p14:sldIdLst>
        </p14:section>
        <p14:section name="Trazabilidad" id="{45c68536-737c-c202-b342-99f5f851d902}">
          <p14:sldIdLst>
            <p14:sldId id="270"/>
          </p14:sldIdLst>
        </p14:section>
        <p14:section name="Hallazgos" id="{731a390f-bcf6-7381-59ea-0f9b1764d3b9}">
          <p14:sldIdLst>
            <p14:sldId id="271"/>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62E"/>
                </a:solidFill>
                <a:latin typeface="+mn-lt"/>
              </a:defRPr>
            </a:pPr>
            <a:r>
              <a:rPr sz="1400" b="0" i="0" u="none" strike="noStrike">
                <a:solidFill>
                  <a:srgbClr val="16262E"/>
                </a:solidFill>
                <a:latin typeface="+mn-lt"/>
              </a:rPr>
              <a:t>Casos por historia y nivel (run #10)</a:t>
            </a:r>
          </a:p>
        </c:rich>
      </c:tx>
      <c:layout/>
      <c:overlay val="0"/>
    </c:title>
    <c:autoTitleDeleted val="0"/>
    <c:plotArea>
      <c:layout/>
      <c:barChart>
        <c:barDir val="bar"/>
        <c:grouping val="clustered"/>
        <c:varyColors val="0"/>
        <c:ser>
          <c:idx val="0"/>
          <c:order val="0"/>
          <c:tx>
            <c:strRef>
              <c:f>Sheet1!$B$1</c:f>
              <c:strCache>
                <c:ptCount val="1"/>
                <c:pt idx="0">
                  <c:v>API</c:v>
                </c:pt>
              </c:strCache>
            </c:strRef>
          </c:tx>
          <c:spPr>
            <a:solidFill>
              <a:srgbClr val="1F6F78"/>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cat>
            <c:multiLvlStrRef>
              <c:f>Sheet1!$A$2:$A$11</c:f>
              <c:multiLvlStrCache>
                <c:ptCount val="10"/>
                <c:lvl>
                  <c:pt idx="0">
                    <c:v>HU-01</c:v>
                  </c:pt>
                  <c:pt idx="1">
                    <c:v>HU-02</c:v>
                  </c:pt>
                  <c:pt idx="2">
                    <c:v>HU-03</c:v>
                  </c:pt>
                  <c:pt idx="3">
                    <c:v>HU-04</c:v>
                  </c:pt>
                  <c:pt idx="4">
                    <c:v>HU-05</c:v>
                  </c:pt>
                  <c:pt idx="5">
                    <c:v>HU-06</c:v>
                  </c:pt>
                  <c:pt idx="6">
                    <c:v>HU-07</c:v>
                  </c:pt>
                  <c:pt idx="7">
                    <c:v>HU-08</c:v>
                  </c:pt>
                  <c:pt idx="8">
                    <c:v>HU-09</c:v>
                  </c:pt>
                  <c:pt idx="9">
                    <c:v>HU-10</c:v>
                  </c:pt>
                </c:lvl>
              </c:multiLvlStrCache>
            </c:multiLvlStrRef>
          </c:cat>
          <c:val>
            <c:numRef>
              <c:f>Sheet1!$B$2:$B$11</c:f>
              <c:numCache>
                <c:formatCode>General</c:formatCode>
                <c:ptCount val="10"/>
                <c:pt idx="0">
                  <c:v>7</c:v>
                </c:pt>
                <c:pt idx="1">
                  <c:v>4</c:v>
                </c:pt>
                <c:pt idx="2">
                  <c:v>4</c:v>
                </c:pt>
                <c:pt idx="3">
                  <c:v>4</c:v>
                </c:pt>
                <c:pt idx="4">
                  <c:v>2</c:v>
                </c:pt>
                <c:pt idx="5">
                  <c:v>5</c:v>
                </c:pt>
                <c:pt idx="6">
                  <c:v>4</c:v>
                </c:pt>
                <c:pt idx="7">
                  <c:v>6</c:v>
                </c:pt>
                <c:pt idx="8">
                  <c:v>3</c:v>
                </c:pt>
                <c:pt idx="9">
                  <c:v>3</c:v>
                </c:pt>
              </c:numCache>
            </c:numRef>
          </c:val>
        </c:ser>
        <c:ser>
          <c:idx val="1"/>
          <c:order val="1"/>
          <c:tx>
            <c:strRef>
              <c:f>Sheet1!$C$1</c:f>
              <c:strCache>
                <c:ptCount val="1"/>
                <c:pt idx="0">
                  <c:v>Web</c:v>
                </c:pt>
              </c:strCache>
            </c:strRef>
          </c:tx>
          <c:spPr>
            <a:solidFill>
              <a:srgbClr val="E0A100"/>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cat>
            <c:multiLvlStrRef>
              <c:f>Sheet1!$A$2:$A$11</c:f>
              <c:multiLvlStrCache>
                <c:ptCount val="10"/>
                <c:lvl>
                  <c:pt idx="0">
                    <c:v>HU-01</c:v>
                  </c:pt>
                  <c:pt idx="1">
                    <c:v>HU-02</c:v>
                  </c:pt>
                  <c:pt idx="2">
                    <c:v>HU-03</c:v>
                  </c:pt>
                  <c:pt idx="3">
                    <c:v>HU-04</c:v>
                  </c:pt>
                  <c:pt idx="4">
                    <c:v>HU-05</c:v>
                  </c:pt>
                  <c:pt idx="5">
                    <c:v>HU-06</c:v>
                  </c:pt>
                  <c:pt idx="6">
                    <c:v>HU-07</c:v>
                  </c:pt>
                  <c:pt idx="7">
                    <c:v>HU-08</c:v>
                  </c:pt>
                  <c:pt idx="8">
                    <c:v>HU-09</c:v>
                  </c:pt>
                  <c:pt idx="9">
                    <c:v>HU-10</c:v>
                  </c:pt>
                </c:lvl>
              </c:multiLvlStrCache>
            </c:multiLvlStrRef>
          </c:cat>
          <c:val>
            <c:numRef>
              <c:f>Sheet1!$C$2:$C$11</c:f>
              <c:numCache>
                <c:formatCode>General</c:formatCode>
                <c:ptCount val="10"/>
                <c:pt idx="0">
                  <c:v>3</c:v>
                </c:pt>
                <c:pt idx="1">
                  <c:v>3</c:v>
                </c:pt>
                <c:pt idx="2">
                  <c:v>1</c:v>
                </c:pt>
                <c:pt idx="3">
                  <c:v>2</c:v>
                </c:pt>
                <c:pt idx="4">
                  <c:v>1</c:v>
                </c:pt>
                <c:pt idx="5">
                  <c:v>4</c:v>
                </c:pt>
                <c:pt idx="6">
                  <c:v>3</c:v>
                </c:pt>
                <c:pt idx="7">
                  <c:v>4</c:v>
                </c:pt>
                <c:pt idx="8">
                  <c:v>1</c:v>
                </c:pt>
                <c:pt idx="9">
                  <c:v>1</c:v>
                </c:pt>
              </c:numCache>
            </c:numRef>
          </c:val>
        </c:ser>
        <c:dLbls>
          <c:numFmt formatCode="#,##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3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62E"/>
                </a:solidFill>
                <a:latin typeface="+mn-lt"/>
              </a:defRPr>
            </a:pPr>
            <a:r>
              <a:rPr sz="1400" b="0" i="0" u="none" strike="noStrike">
                <a:solidFill>
                  <a:srgbClr val="16262E"/>
                </a:solidFill>
                <a:latin typeface="+mn-lt"/>
              </a:rPr>
              <a:t>61 casos en la matriz (run #10)</a:t>
            </a:r>
          </a:p>
        </c:rich>
      </c:tx>
      <c:layout/>
      <c:overlay val="0"/>
    </c:title>
    <c:autoTitleDeleted val="0"/>
    <c:plotArea>
      <c:layout/>
      <c:doughnutChart>
        <c:varyColors val="1"/>
        <c:ser>
          <c:idx val="0"/>
          <c:order val="0"/>
          <c:tx>
            <c:strRef>
              <c:f>Sheet1!$B$1</c:f>
              <c:strCache>
                <c:ptCount val="1"/>
                <c:pt idx="0">
                  <c:v>Resultado</c:v>
                </c:pt>
              </c:strCache>
            </c:strRef>
          </c:tx>
          <c:spPr>
            <a:solidFill>
              <a:schemeClr val="accent1"/>
            </a:solidFill>
            <a:ln w="9525" cap="flat">
              <a:solidFill>
                <a:srgbClr val="F9F9F9"/>
              </a:solidFill>
              <a:prstDash val="solid"/>
              <a:round/>
            </a:ln>
            <a:effectLst/>
          </c:spPr>
          <c:dPt>
            <c:idx val="0"/>
            <c:bubble3D val="0"/>
            <c:spPr>
              <a:solidFill>
                <a:srgbClr val="1E8E5A"/>
              </a:solidFill>
              <a:effectLst/>
            </c:spPr>
          </c:dPt>
          <c:dPt>
            <c:idx val="1"/>
            <c:bubble3D val="0"/>
            <c:spPr>
              <a:solidFill>
                <a:srgbClr val="E0A100"/>
              </a:solidFill>
              <a:effectLst/>
            </c:spPr>
          </c:dPt>
          <c:dLbls>
            <c:dLbl>
              <c:idx val="0"/>
              <c:numFmt formatCode="General" sourceLinked="0"/>
              <c:spPr/>
              <c:txPr>
                <a:bodyPr/>
                <a:lstStyle/>
                <a:p>
                  <a:pPr>
                    <a:defRPr sz="1400" b="1" i="0" u="none" strike="noStrike">
                      <a:solidFill>
                        <a:srgbClr val="FFFFFF"/>
                      </a:solidFill>
                      <a:latin typeface="+mn-lt"/>
                    </a:defRPr>
                  </a:pPr>
                </a:p>
              </c:txPr>
              <c:showLegendKey val="0"/>
              <c:showVal val="1"/>
              <c:showCatName val="0"/>
              <c:showSerName val="0"/>
              <c:showPercent val="0"/>
              <c:showBubbleSize val="0"/>
            </c:dLbl>
            <c:dLbl>
              <c:idx val="1"/>
              <c:numFmt formatCode="General" sourceLinked="0"/>
              <c:spPr/>
              <c:txPr>
                <a:bodyPr/>
                <a:lstStyle/>
                <a:p>
                  <a:pPr>
                    <a:defRPr sz="1400" b="1" i="0" u="none" strike="noStrike">
                      <a:solidFill>
                        <a:srgbClr val="FFFFFF"/>
                      </a:solidFill>
                      <a:latin typeface="+mn-lt"/>
                    </a:defRPr>
                  </a:pPr>
                </a:p>
              </c:txPr>
              <c:showLegendKey val="0"/>
              <c:showVal val="1"/>
              <c:showCatName val="0"/>
              <c:showSerName val="0"/>
              <c:showPercent val="0"/>
              <c:showBubbleSize val="0"/>
            </c:dLbl>
            <c:numFmt formatCode="General"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Passed</c:v>
                </c:pt>
                <c:pt idx="1">
                  <c:v>Xfailed → defecto</c:v>
                </c:pt>
              </c:strCache>
            </c:strRef>
          </c:cat>
          <c:val>
            <c:numRef>
              <c:f>Sheet1!$B$2:$B$3</c:f>
              <c:numCache>
                <c:ptCount val="2"/>
                <c:pt idx="0">
                  <c:v>57</c:v>
                </c:pt>
                <c:pt idx="1">
                  <c:v>4</c:v>
                </c:pt>
              </c:numCache>
            </c:numRef>
          </c:val>
        </c:ser>
        <c:firstSliceAng val="0"/>
        <c:holeSize val="58"/>
      </c:doughnutChart>
      <c:spPr>
        <a:noFill/>
        <a:ln>
          <a:noFill/>
        </a:ln>
        <a:effectLst/>
      </c:spPr>
    </c:plotArea>
    <c:legend>
      <c:legendPos val="b"/>
      <c:overlay val="0"/>
      <c:txPr>
        <a:bodyPr/>
        <a:lstStyle/>
        <a:p>
          <a:pPr>
            <a:defRPr sz="13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Buenas noches, profesora. Presento la Entrega 2 sobre el módulo G4 de Qolqe. Ordené la presentación según los criterios de su rúbrica, y todo lo que muestro sale de un run real del pipeline o de la aplicación corriendo.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su rúbrica de la Parte 2, con sus mismas palabras. A la derecha está lo que obtuve y en qué diapositiva está la evidencia. La etiqueta verde de arriba a la derecha indica qué criterio cubre cada diapositiva.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Elegí el módulo G4: contactos y solicitudes de dinero. Apliqué la regla de la clase 11: cada regla se prueba en el nivel más bajo donde se pueda detectar. Un criterio es web solo si lo que afirma se ve en pantalla, si es un recorrido crítico con dinero o si la interfaz debe comunicar un error. Por eso la API tiene más casos que la web.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mapa del primer criterio de la rúbrica. Cada fila es una historia y cada columna un criterio de aceptación. Cada celda verde dice qué escenario lo automatiza. No queda ninguna celda definida como web sin escenario, y los 19 pasan 3 de 3 en el run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escenario más importante, porque pasa por dinero y por dos usuarios. Diego agrega a Bruno y le pide 25 soles. La solicitud queda pendiente. Bruno entra, confirma y queda aceptada con código de operación. El saldo de Bruno baja de 800 a 775 y el de Diego sube de 2,500 a 2,525. Son capturas de Qolqe corriendo con estos mismos pasos, y en la demo lo verá en vivo.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tres escenarios justifican el nivel web. El primero comprueba que un error de la API llega al usuario. El segundo, que una solicitud vencida no ofrece botones: la API tiene un defecto aquí, y luego lo muestro. El tercero, que sin saldo se avisa y la solicitud sigue pendiente.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patrón es Page Object. El escenario en Gherkin dice qué hace el usuario y el Page Object es el único lugar que conoce los localizadores: si cambia la pantalla, se cambia un archivo. En toda la carpeta de pruebas no hay ninguna espera fija: las aserciones de Playwright reintentan hasta que se cumple la condición. Y el reporte publicado lo demuestra: 57 de 57, cero flaky.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el laboratorio me tocó Robot Framework, pero para el proyecto se podía elegir. Elegí Playwright con playwright-bdd porque lo que pide la entrega ya viene incluido: espera automática, repetir la suite, detectar pruebas frágiles y reportes para personas y para herramientas. El laboratorio de Robot sigue en labs/s11-robot.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el mismo esquema de la clase 12, ahora con los datos reales del run 10. El evento es push o pull request. El job api corre primero porque es lo más barato: fail fast. Con needs, web espera a api y repite la suite 3 veces. Reportes espera a los dos y publica, solo en main. Un solo workflow porque la suite es pequeña, la simplificación que la clase acepta para este proyecto. En total: 3 minutos 9 segundos.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un run real, disparado solo al entrar el cambio a main. Tres jobs en verde en poco más de 3 minutos. A la derecha está lo que escribe el resumen del job, con conteos que salen del JUnit XML. Abajo está toda la historia: 10 runs. Los rojos también son evidencia: el 1 y el 2 encontraron defectos reales, y el 8 es el PR que rompe una prueba a propósito.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Como dijo en clase, un pipeline que solo dice verde o rojo no basta. Están los tres tipos de reporte que pidió: JUnit XML para herramientas, HTML para personas y el resumen del job. Todo está publicado en GitHub Pages, sin descargar nada: joharjbe.github.io/qolqe-wallet.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clase pidió que Schemathesis también vaya en el pipeline, y va en el job api. En el run 10 generó 728 casos sobre 9 operaciones, sin fallos. Cada verificación desactivada está en schemathesis.toml, con su defecto o su motivo. Y una limitación que reconozco: el reporte avisa que varias operaciones rechazan casi todo lo generado, porque el contrato no declara sus reglas. Eso es DEF-05. Las reglas de negocio se prueban en pytest-bdd.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quality gate es la versión automática de los criterios de salida del ISTQB. Este PR cambia a propósito el saldo esperado en CP-A28: la API espera 770 y obtiene 775. El job api falla, web queda skipped y, como api y web son checks obligatorios, GitHub bloquea la fusión, incluso para mí como administrador. Skipped no es verde.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Tomé los cuatro casos del ejercicio 2 de la clase y los busqué en mi pipeline. El caso A es mi run 10: los 4 xfail tienen defecto reportado, así que pasa. El caso B me pasó de verdad en el run 1: en mi máquina todo pasaba, pero la referencia es el pipeline. El caso C no ocurrió, pero failOnFlakyTests lo bloquearía. Y el caso D es el PR 3. Verde no significa sin problemas.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trazabilidad une requisito, caso, resultado y defecto, como pide el ISTQB en 1.4.4. Sigamos una fila real: la historia HU-G4-08, la etiqueta en el escenario, el JUnit XML del pipeline y la matriz. Un script cruza las etiquetas con el JUnit, así que el ciclo de ejecución lo produce el pipeline: cada run tiene fecha, commit y evidencia. La fila resaltada es un fallo esperado, enlazado a su defecto.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hallazgo más valioso. En mi máquina todo pasaba y el primer run dio 6 fallos intermitentes. Podían parecer pruebas frágiles, pero investigué. Desde FastAPI 0.118, la respuesta sale antes de que este commit se ejecute, y el cliente puede leer datos viejos. Lo reproduje en 2 de 300 ciclos. Fijé FastAPI 0.117.1, con 0 de 1,500, y lo reporté como DEF-07 sin tocar el código de Qolqe. Como dijo en clase: el pipeline es la referencia, no la máquina de nadie.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Quedan 8 defectos abiertos, y dos son críticos porque mueven dinero. DEF-03: la pantalla oculta el botón de una solicitud vencida, por eso la web pasa, pero la API la acepta y Ana pierde 30 soles. Se detecta solo en API, y esa es la razón de probar en varios niveles. DEF-04: Diego transfiere a Fabián, cuya cuenta está cerrada: el dinero queda donde nadie lo puede usar. Los reproduje contra la aplicación y están en docs/defectos.md.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la teoría: esto es integración continua, no despliegue continuo, porque se integra y se prueba en cada cambio, pero no se publica Qolqe en producción. Lo publicado son los reportes. Cada concepto de la clase tiene aquí su evidencia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la demo. Muestro las cuatro cosas que pidió, en este orden: un run real, el reporte abierto, la matriz y la automatización corriendo. Además, el PR bloqueado. Antes de pasar, una limitación: verde no significa sin problemas. Quedan 8 defectos abiertos y la prueba manual desde la perspectiva del usuario sigue siendo necesaria.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188720"/>
            <a:ext cx="5760720" cy="237744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640080" y="3749040"/>
            <a:ext cx="5760720" cy="1554480"/>
          </a:xfrm>
          <a:prstGeom prst="rect">
            <a:avLst/>
          </a:prstGeom>
          <a:noFill/>
          <a:ln/>
        </p:spPr>
        <p:txBody>
          <a:bodyPr wrap="square" rtlCol="0"/>
          <a:lstStyle>
            <a:lvl1pPr algn="l" indent="0" marL="0">
              <a:buNone/>
              <a:defRPr lang="en-US" sz="1700" dirty="0">
                <a:solidFill>
                  <a:schemeClr val="accent6"/>
                </a:solidFill>
              </a:defRPr>
            </a:lvl1pPr>
          </a:lstStyle>
          <a:p>
            <a:pPr algn="l" indent="0" marL="0">
              <a:buNone/>
            </a:pPr>
            <a:endParaRPr lang="en-US" sz="17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rtlCol="0"/>
          <a:lstStyle>
            <a:lvl1pPr algn="l" indent="0" marL="0">
              <a:buNone/>
              <a:defRPr lang="en-US" sz="30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txBox="1"/>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CS5383 · Proyecto 2 · Entrega 2 · Módulo G4 · Datos del run #10 (commit c7d3d14)</a:t>
            </a:r>
            <a:endParaRPr lang="en-US" sz="1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github.com/Joharjbe/qolqe-wallet" TargetMode="External"/><Relationship Id="rId3" Type="http://schemas.openxmlformats.org/officeDocument/2006/relationships/hyperlink" Target="https://joharjbe.github.io/qolqe-wallet/" TargetMode="External"/><Relationship Id="rId1" Type="http://schemas.openxmlformats.org/officeDocument/2006/relationships/image" Target="../media/image-1-1.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chart" Target="/ppt/charts/chart1.xml"/><Relationship Id="rId1" Type="http://schemas.openxmlformats.org/officeDocument/2006/relationships/image" Target="../media/image-3-1.png"/><Relationship Id="rId2" Type="http://schemas.openxmlformats.org/officeDocument/2006/relationships/image" Target="../media/image-3-2.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15-1.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3.xml"/><Relationship Id="rId6"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188720"/>
            <a:ext cx="5760720" cy="237744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Pruebas E2E, CI/CD y trazabilidad en Qolqe</a:t>
            </a:r>
            <a:endParaRPr lang="en-US" sz="4000" dirty="0"/>
          </a:p>
        </p:txBody>
      </p:sp>
      <p:sp>
        <p:nvSpPr>
          <p:cNvPr id="3" name="Text 0"/>
          <p:cNvSpPr/>
          <p:nvPr>
            <p:ph idx="101" type="body" hasCustomPrompt="1"/>
          </p:nvPr>
        </p:nvSpPr>
        <p:spPr>
          <a:xfrm>
            <a:off x="640080" y="3749040"/>
            <a:ext cx="5760720" cy="1554480"/>
          </a:xfrm>
          <a:prstGeom prst="rect">
            <a:avLst/>
          </a:prstGeom>
          <a:noFill/>
          <a:ln/>
        </p:spPr>
        <p:txBody>
          <a:bodyPr wrap="square" lIns="0" tIns="0" rIns="0" bIns="0" rtlCol="0" anchor="t"/>
          <a:lstStyle/>
          <a:p>
            <a:pPr algn="l" indent="0" marL="0">
              <a:buNone/>
            </a:pPr>
            <a:r>
              <a:rPr lang="en-US" sz="1700" dirty="0">
                <a:solidFill>
                  <a:schemeClr val="accent6"/>
                </a:solidFill>
              </a:rPr>
              <a:t>Proyecto 2 · Entrega 2 · Módulo G4: contactos y solicitudes de dinero</a:t>
            </a:r>
            <a:endParaRPr lang="en-US" sz="1700" dirty="0"/>
          </a:p>
          <a:p>
            <a:pPr algn="l" indent="0" marL="0">
              <a:buNone/>
            </a:pPr>
            <a:r>
              <a:rPr lang="en-US" sz="1700" dirty="0">
                <a:solidFill>
                  <a:schemeClr val="accent6"/>
                </a:solidFill>
              </a:rPr>
              <a:t>CS5383 Pruebas y Verificación de Software · Prof. Judith Rojas</a:t>
            </a:r>
            <a:endParaRPr lang="en-US" sz="1700" dirty="0"/>
          </a:p>
          <a:p>
            <a:pPr algn="l" indent="0" marL="0">
              <a:buNone/>
            </a:pPr>
            <a:r>
              <a:rPr lang="en-US" sz="1700" dirty="0">
                <a:solidFill>
                  <a:schemeClr val="accent6"/>
                </a:solidFill>
              </a:rPr>
              <a:t>Johar Jared Barzola Estrella</a:t>
            </a:r>
            <a:endParaRPr lang="en-US" sz="1700" dirty="0"/>
          </a:p>
        </p:txBody>
      </p:sp>
      <p:sp>
        <p:nvSpPr>
          <p:cNvPr id="4" name="Marco Pantalla real de solicitudes de dinero en Qolqe"/>
          <p:cNvSpPr/>
          <p:nvPr/>
        </p:nvSpPr>
        <p:spPr>
          <a:xfrm>
            <a:off x="6844284" y="900684"/>
            <a:ext cx="4782312" cy="3730570"/>
          </a:xfrm>
          <a:prstGeom prst="rect">
            <a:avLst/>
          </a:prstGeom>
          <a:solidFill>
            <a:srgbClr val="FFFFFF"/>
          </a:solidFill>
          <a:ln w="9525">
            <a:solidFill>
              <a:srgbClr val="B9C6CB"/>
            </a:solidFill>
            <a:prstDash val="solid"/>
          </a:ln>
        </p:spPr>
      </p:sp>
      <p:pic>
        <p:nvPicPr>
          <p:cNvPr id="5" name="Pantalla real de solicitudes de dinero en Qolqe" descr="Pantalla real de solicitudes de dinero en Qolqe">    </p:cNvPr>
          <p:cNvPicPr>
            <a:picLocks noChangeAspect="1"/>
          </p:cNvPicPr>
          <p:nvPr/>
        </p:nvPicPr>
        <p:blipFill>
          <a:blip r:embed="rId1"/>
          <a:stretch>
            <a:fillRect/>
          </a:stretch>
        </p:blipFill>
        <p:spPr>
          <a:xfrm>
            <a:off x="6858000" y="914400"/>
            <a:ext cx="4754880" cy="3703138"/>
          </a:xfrm>
          <a:prstGeom prst="rect">
            <a:avLst/>
          </a:prstGeom>
        </p:spPr>
      </p:pic>
      <p:sp>
        <p:nvSpPr>
          <p:cNvPr id="6" name="Text 3"/>
          <p:cNvSpPr txBox="1"/>
          <p:nvPr/>
        </p:nvSpPr>
        <p:spPr>
          <a:xfrm>
            <a:off x="6858000" y="4846320"/>
            <a:ext cx="1517904" cy="502920"/>
          </a:xfrm>
          <a:prstGeom prst="rect">
            <a:avLst/>
          </a:prstGeom>
          <a:noFill/>
          <a:ln/>
        </p:spPr>
        <p:txBody>
          <a:bodyPr wrap="square" lIns="0" tIns="0" rIns="0" bIns="0" rtlCol="0" anchor="ctr"/>
          <a:lstStyle/>
          <a:p>
            <a:pPr indent="0" marL="0">
              <a:buNone/>
            </a:pPr>
            <a:r>
              <a:rPr lang="en-US" sz="2500" b="1" dirty="0">
                <a:solidFill>
                  <a:schemeClr val="bg1"/>
                </a:solidFill>
                <a:latin typeface="Cambria" pitchFamily="34" charset="0"/>
                <a:ea typeface="Cambria" pitchFamily="34" charset="-122"/>
                <a:cs typeface="Cambria" pitchFamily="34" charset="-120"/>
              </a:rPr>
              <a:t>57/57</a:t>
            </a:r>
            <a:endParaRPr lang="en-US" sz="2500" dirty="0"/>
          </a:p>
        </p:txBody>
      </p:sp>
      <p:sp>
        <p:nvSpPr>
          <p:cNvPr id="7" name="Text 4"/>
          <p:cNvSpPr txBox="1"/>
          <p:nvPr/>
        </p:nvSpPr>
        <p:spPr>
          <a:xfrm>
            <a:off x="6858000" y="5349240"/>
            <a:ext cx="1517904" cy="292608"/>
          </a:xfrm>
          <a:prstGeom prst="rect">
            <a:avLst/>
          </a:prstGeom>
          <a:noFill/>
          <a:ln/>
        </p:spPr>
        <p:txBody>
          <a:bodyPr wrap="square" lIns="0" tIns="0" rIns="0" bIns="0" rtlCol="0" anchor="ctr"/>
          <a:lstStyle/>
          <a:p>
            <a:pPr indent="0" marL="0">
              <a:buNone/>
            </a:pPr>
            <a:r>
              <a:rPr lang="en-US" sz="1300" dirty="0">
                <a:solidFill>
                  <a:schemeClr val="accent6"/>
                </a:solidFill>
              </a:rPr>
              <a:t>web, 3 veces</a:t>
            </a:r>
            <a:endParaRPr lang="en-US" sz="1300" dirty="0"/>
          </a:p>
        </p:txBody>
      </p:sp>
      <p:sp>
        <p:nvSpPr>
          <p:cNvPr id="8" name="Text 5"/>
          <p:cNvSpPr txBox="1"/>
          <p:nvPr/>
        </p:nvSpPr>
        <p:spPr>
          <a:xfrm>
            <a:off x="8476488" y="4846320"/>
            <a:ext cx="1517904" cy="502920"/>
          </a:xfrm>
          <a:prstGeom prst="rect">
            <a:avLst/>
          </a:prstGeom>
          <a:noFill/>
          <a:ln/>
        </p:spPr>
        <p:txBody>
          <a:bodyPr wrap="square" lIns="0" tIns="0" rIns="0" bIns="0" rtlCol="0" anchor="ctr"/>
          <a:lstStyle/>
          <a:p>
            <a:pPr indent="0" marL="0">
              <a:buNone/>
            </a:pPr>
            <a:r>
              <a:rPr lang="en-US" sz="2500" b="1" dirty="0">
                <a:solidFill>
                  <a:schemeClr val="bg1"/>
                </a:solidFill>
                <a:latin typeface="Cambria" pitchFamily="34" charset="0"/>
                <a:ea typeface="Cambria" pitchFamily="34" charset="-122"/>
                <a:cs typeface="Cambria" pitchFamily="34" charset="-120"/>
              </a:rPr>
              <a:t>64 + 4</a:t>
            </a:r>
            <a:endParaRPr lang="en-US" sz="2500" dirty="0"/>
          </a:p>
        </p:txBody>
      </p:sp>
      <p:sp>
        <p:nvSpPr>
          <p:cNvPr id="9" name="Text 6"/>
          <p:cNvSpPr txBox="1"/>
          <p:nvPr/>
        </p:nvSpPr>
        <p:spPr>
          <a:xfrm>
            <a:off x="8476488" y="5349240"/>
            <a:ext cx="1517904" cy="292608"/>
          </a:xfrm>
          <a:prstGeom prst="rect">
            <a:avLst/>
          </a:prstGeom>
          <a:noFill/>
          <a:ln/>
        </p:spPr>
        <p:txBody>
          <a:bodyPr wrap="square" lIns="0" tIns="0" rIns="0" bIns="0" rtlCol="0" anchor="ctr"/>
          <a:lstStyle/>
          <a:p>
            <a:pPr indent="0" marL="0">
              <a:buNone/>
            </a:pPr>
            <a:r>
              <a:rPr lang="en-US" sz="1300" dirty="0">
                <a:solidFill>
                  <a:schemeClr val="accent6"/>
                </a:solidFill>
              </a:rPr>
              <a:t>API: pasan + xfail</a:t>
            </a:r>
            <a:endParaRPr lang="en-US" sz="1300" dirty="0"/>
          </a:p>
        </p:txBody>
      </p:sp>
      <p:sp>
        <p:nvSpPr>
          <p:cNvPr id="10" name="Text 7"/>
          <p:cNvSpPr txBox="1"/>
          <p:nvPr/>
        </p:nvSpPr>
        <p:spPr>
          <a:xfrm>
            <a:off x="10094976" y="4846320"/>
            <a:ext cx="1517904" cy="502920"/>
          </a:xfrm>
          <a:prstGeom prst="rect">
            <a:avLst/>
          </a:prstGeom>
          <a:noFill/>
          <a:ln/>
        </p:spPr>
        <p:txBody>
          <a:bodyPr wrap="square" lIns="0" tIns="0" rIns="0" bIns="0" rtlCol="0" anchor="ctr"/>
          <a:lstStyle/>
          <a:p>
            <a:pPr indent="0" marL="0">
              <a:buNone/>
            </a:pPr>
            <a:r>
              <a:rPr lang="en-US" sz="2500" b="1" dirty="0">
                <a:solidFill>
                  <a:schemeClr val="bg1"/>
                </a:solidFill>
                <a:latin typeface="Cambria" pitchFamily="34" charset="0"/>
                <a:ea typeface="Cambria" pitchFamily="34" charset="-122"/>
                <a:cs typeface="Cambria" pitchFamily="34" charset="-120"/>
              </a:rPr>
              <a:t>728</a:t>
            </a:r>
            <a:endParaRPr lang="en-US" sz="2500" dirty="0"/>
          </a:p>
        </p:txBody>
      </p:sp>
      <p:sp>
        <p:nvSpPr>
          <p:cNvPr id="11" name="Text 8"/>
          <p:cNvSpPr txBox="1"/>
          <p:nvPr/>
        </p:nvSpPr>
        <p:spPr>
          <a:xfrm>
            <a:off x="10094976" y="5349240"/>
            <a:ext cx="1517904" cy="292608"/>
          </a:xfrm>
          <a:prstGeom prst="rect">
            <a:avLst/>
          </a:prstGeom>
          <a:noFill/>
          <a:ln/>
        </p:spPr>
        <p:txBody>
          <a:bodyPr wrap="square" lIns="0" tIns="0" rIns="0" bIns="0" rtlCol="0" anchor="ctr"/>
          <a:lstStyle/>
          <a:p>
            <a:pPr indent="0" marL="0">
              <a:buNone/>
            </a:pPr>
            <a:r>
              <a:rPr lang="en-US" sz="1300" dirty="0">
                <a:solidFill>
                  <a:schemeClr val="accent6"/>
                </a:solidFill>
              </a:rPr>
              <a:t>casos de contrato</a:t>
            </a:r>
            <a:endParaRPr lang="en-US" sz="1300" dirty="0"/>
          </a:p>
        </p:txBody>
      </p:sp>
      <p:sp>
        <p:nvSpPr>
          <p:cNvPr id="12" name="Enlace Repositorio"/>
          <p:cNvSpPr/>
          <p:nvPr/>
        </p:nvSpPr>
        <p:spPr>
          <a:xfrm>
            <a:off x="640080" y="5257800"/>
            <a:ext cx="2743200" cy="384048"/>
          </a:xfrm>
          <a:prstGeom prst="roundRect">
            <a:avLst>
              <a:gd name="adj" fmla="val 19048"/>
            </a:avLst>
          </a:prstGeom>
          <a:solidFill>
            <a:schemeClr val="bg1"/>
          </a:solidFill>
          <a:ln/>
        </p:spPr>
      </p:sp>
      <p:sp>
        <p:nvSpPr>
          <p:cNvPr id="13" name="Text 10"/>
          <p:cNvSpPr txBox="1"/>
          <p:nvPr/>
        </p:nvSpPr>
        <p:spPr>
          <a:xfrm>
            <a:off x="640080" y="5257800"/>
            <a:ext cx="2743200" cy="384048"/>
          </a:xfrm>
          <a:prstGeom prst="rect">
            <a:avLst/>
          </a:prstGeom>
          <a:noFill/>
          <a:ln/>
        </p:spPr>
        <p:txBody>
          <a:bodyPr wrap="square" lIns="0" tIns="0" rIns="0" bIns="0" rtlCol="0" anchor="ctr"/>
          <a:lstStyle/>
          <a:p>
            <a:pPr algn="ctr" indent="0" marL="0">
              <a:buNone/>
            </a:pPr>
            <a:r>
              <a:rPr lang="en-US" sz="1300" b="1" u="sng" dirty="0">
                <a:solidFill>
                  <a:schemeClr val="accent1"/>
                </a:solidFill>
                <a:hlinkClick r:id="rId2" invalidUrl="" action="" tgtFrame="" tooltip="Repositorio" history="1" highlightClick="0" endSnd="0">
                  <a:extLst>
                    <a:ext uri="{A12FA001-AC4F-418D-AE19-62706E023703}">
                      <ahyp:hlinkClr xmlns:ahyp="http://schemas.microsoft.com/office/drawing/2018/hyperlinkcolor" val="tx"/>
                    </a:ext>
                  </a:extLst>
                </a:hlinkClick>
              </a:rPr>
              <a:t>github.com/Joharjbe/qolqe-wallet</a:t>
            </a:r>
            <a:endParaRPr lang="en-US" sz="1300" dirty="0"/>
          </a:p>
        </p:txBody>
      </p:sp>
      <p:sp>
        <p:nvSpPr>
          <p:cNvPr id="14" name="Enlace Reportes"/>
          <p:cNvSpPr/>
          <p:nvPr/>
        </p:nvSpPr>
        <p:spPr>
          <a:xfrm>
            <a:off x="3520440" y="5257800"/>
            <a:ext cx="2743200" cy="384048"/>
          </a:xfrm>
          <a:prstGeom prst="roundRect">
            <a:avLst>
              <a:gd name="adj" fmla="val 19048"/>
            </a:avLst>
          </a:prstGeom>
          <a:solidFill>
            <a:schemeClr val="bg1"/>
          </a:solidFill>
          <a:ln/>
        </p:spPr>
      </p:sp>
      <p:sp>
        <p:nvSpPr>
          <p:cNvPr id="15" name="Text 12"/>
          <p:cNvSpPr txBox="1"/>
          <p:nvPr/>
        </p:nvSpPr>
        <p:spPr>
          <a:xfrm>
            <a:off x="3520440" y="5257800"/>
            <a:ext cx="2743200" cy="384048"/>
          </a:xfrm>
          <a:prstGeom prst="rect">
            <a:avLst/>
          </a:prstGeom>
          <a:noFill/>
          <a:ln/>
        </p:spPr>
        <p:txBody>
          <a:bodyPr wrap="square" lIns="0" tIns="0" rIns="0" bIns="0" rtlCol="0" anchor="ctr"/>
          <a:lstStyle/>
          <a:p>
            <a:pPr algn="ctr" indent="0" marL="0">
              <a:buNone/>
            </a:pPr>
            <a:r>
              <a:rPr lang="en-US" sz="1300" b="1" u="sng" dirty="0">
                <a:solidFill>
                  <a:schemeClr val="accent1"/>
                </a:solidFill>
                <a:hlinkClick r:id="rId3" invalidUrl="" action="" tgtFrame="" tooltip="Reportes" history="1" highlightClick="0" endSnd="0">
                  <a:extLst>
                    <a:ext uri="{A12FA001-AC4F-418D-AE19-62706E023703}">
                      <ahyp:hlinkClr xmlns:ahyp="http://schemas.microsoft.com/office/drawing/2018/hyperlinkcolor" val="tx"/>
                    </a:ext>
                  </a:extLst>
                </a:hlinkClick>
              </a:rPr>
              <a:t>joharjbe.github.io/qolqe-wallet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Lo que evalúa la rúbrica y dónde verlo</a:t>
            </a:r>
            <a:endParaRPr lang="en-US" sz="3000" dirty="0"/>
          </a:p>
        </p:txBody>
      </p:sp>
      <p:sp>
        <p:nvSpPr>
          <p:cNvPr id="4" name="Etiqueta Entrega 2 · 30 %"/>
          <p:cNvSpPr/>
          <p:nvPr/>
        </p:nvSpPr>
        <p:spPr>
          <a:xfrm>
            <a:off x="9646920" y="475488"/>
            <a:ext cx="1965960" cy="457200"/>
          </a:xfrm>
          <a:prstGeom prst="roundRect">
            <a:avLst>
              <a:gd name="adj" fmla="val 24000"/>
            </a:avLst>
          </a:prstGeom>
          <a:solidFill>
            <a:schemeClr val="bg2"/>
          </a:solidFill>
          <a:ln/>
        </p:spPr>
        <p:txBody>
          <a:bodyPr wrap="square" lIns="0" tIns="0" rIns="0" bIns="0" rtlCol="0" anchor="ctr"/>
          <a:lstStyle/>
          <a:p>
            <a:pPr algn="ctr" indent="0" marL="0">
              <a:buNone/>
            </a:pPr>
            <a:r>
              <a:rPr lang="en-US" sz="1300" b="1" dirty="0">
                <a:solidFill>
                  <a:schemeClr val="tx2"/>
                </a:solidFill>
              </a:rPr>
              <a:t>Entrega 2 · 30 %</a:t>
            </a:r>
            <a:endParaRPr lang="en-US" sz="1300" dirty="0"/>
          </a:p>
        </p:txBody>
      </p:sp>
      <p:sp>
        <p:nvSpPr>
          <p:cNvPr id="5" name="Fila 1"/>
          <p:cNvSpPr/>
          <p:nvPr/>
        </p:nvSpPr>
        <p:spPr>
          <a:xfrm>
            <a:off x="548640" y="1207008"/>
            <a:ext cx="11064240" cy="896112"/>
          </a:xfrm>
          <a:prstGeom prst="roundRect">
            <a:avLst>
              <a:gd name="adj" fmla="val 8163"/>
            </a:avLst>
          </a:prstGeom>
          <a:solidFill>
            <a:schemeClr val="bg2"/>
          </a:solidFill>
          <a:ln/>
        </p:spPr>
      </p:sp>
      <p:sp>
        <p:nvSpPr>
          <p:cNvPr id="6" name="Puntos 1"/>
          <p:cNvSpPr/>
          <p:nvPr/>
        </p:nvSpPr>
        <p:spPr>
          <a:xfrm>
            <a:off x="658368" y="1380744"/>
            <a:ext cx="548640" cy="54864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7" name="Text 4"/>
          <p:cNvSpPr txBox="1"/>
          <p:nvPr/>
        </p:nvSpPr>
        <p:spPr>
          <a:xfrm>
            <a:off x="1344168" y="1261872"/>
            <a:ext cx="3520440" cy="786384"/>
          </a:xfrm>
          <a:prstGeom prst="rect">
            <a:avLst/>
          </a:prstGeom>
          <a:noFill/>
          <a:ln/>
        </p:spPr>
        <p:txBody>
          <a:bodyPr wrap="square" lIns="0" tIns="0" rIns="0" bIns="0" rtlCol="0" anchor="ctr"/>
          <a:lstStyle/>
          <a:p>
            <a:pPr indent="0" marL="0">
              <a:buNone/>
            </a:pPr>
            <a:r>
              <a:rPr lang="en-US" sz="1400" b="1" dirty="0">
                <a:solidFill>
                  <a:schemeClr val="tx2"/>
                </a:solidFill>
              </a:rPr>
              <a:t>Todos los criterios definidos como web, automatizados</a:t>
            </a:r>
            <a:endParaRPr lang="en-US" sz="1400" dirty="0"/>
          </a:p>
        </p:txBody>
      </p:sp>
      <p:sp>
        <p:nvSpPr>
          <p:cNvPr id="8" name="Text 5"/>
          <p:cNvSpPr txBox="1"/>
          <p:nvPr/>
        </p:nvSpPr>
        <p:spPr>
          <a:xfrm>
            <a:off x="4983480" y="1261872"/>
            <a:ext cx="3291840" cy="786384"/>
          </a:xfrm>
          <a:prstGeom prst="rect">
            <a:avLst/>
          </a:prstGeom>
          <a:noFill/>
          <a:ln/>
        </p:spPr>
        <p:txBody>
          <a:bodyPr wrap="square" lIns="0" tIns="0" rIns="0" bIns="0" rtlCol="0" anchor="ctr"/>
          <a:lstStyle/>
          <a:p>
            <a:pPr indent="0" marL="0">
              <a:buNone/>
            </a:pPr>
            <a:r>
              <a:rPr lang="en-US" sz="1400" dirty="0">
                <a:solidFill>
                  <a:schemeClr val="tx1"/>
                </a:solidFill>
              </a:rPr>
              <a:t>19 escenarios · 18 de 18 criterios · 10 historias</a:t>
            </a:r>
            <a:endParaRPr lang="en-US" sz="1400" dirty="0"/>
          </a:p>
        </p:txBody>
      </p:sp>
      <p:sp>
        <p:nvSpPr>
          <p:cNvPr id="9" name="Marco Evidencia del criterio 1"/>
          <p:cNvSpPr/>
          <p:nvPr/>
        </p:nvSpPr>
        <p:spPr>
          <a:xfrm>
            <a:off x="8571396" y="1257300"/>
            <a:ext cx="1693847" cy="795528"/>
          </a:xfrm>
          <a:prstGeom prst="rect">
            <a:avLst/>
          </a:prstGeom>
          <a:solidFill>
            <a:srgbClr val="FFFFFF"/>
          </a:solidFill>
          <a:ln w="9525">
            <a:solidFill>
              <a:srgbClr val="B9C6CB"/>
            </a:solidFill>
            <a:prstDash val="solid"/>
          </a:ln>
        </p:spPr>
      </p:sp>
      <p:pic>
        <p:nvPicPr>
          <p:cNvPr id="10" name="Evidencia del criterio 1" descr="Evidencia del criterio 1">    </p:cNvPr>
          <p:cNvPicPr>
            <a:picLocks noChangeAspect="1"/>
          </p:cNvPicPr>
          <p:nvPr/>
        </p:nvPicPr>
        <p:blipFill>
          <a:blip r:embed="rId1"/>
          <a:stretch>
            <a:fillRect/>
          </a:stretch>
        </p:blipFill>
        <p:spPr>
          <a:xfrm>
            <a:off x="8585112" y="1271016"/>
            <a:ext cx="1666415" cy="768096"/>
          </a:xfrm>
          <a:prstGeom prst="rect">
            <a:avLst/>
          </a:prstGeom>
        </p:spPr>
      </p:pic>
      <p:sp>
        <p:nvSpPr>
          <p:cNvPr id="11" name="Text 7"/>
          <p:cNvSpPr txBox="1"/>
          <p:nvPr/>
        </p:nvSpPr>
        <p:spPr>
          <a:xfrm>
            <a:off x="10469880" y="1261872"/>
            <a:ext cx="1069848" cy="786384"/>
          </a:xfrm>
          <a:prstGeom prst="rect">
            <a:avLst/>
          </a:prstGeom>
          <a:noFill/>
          <a:ln/>
        </p:spPr>
        <p:txBody>
          <a:bodyPr wrap="square" lIns="0" tIns="0" rIns="0" bIns="0" rtlCol="0" anchor="ctr"/>
          <a:lstStyle/>
          <a:p>
            <a:pPr algn="ctr" indent="0" marL="0">
              <a:buNone/>
            </a:pPr>
            <a:r>
              <a:rPr lang="en-US" sz="1300" b="1" dirty="0">
                <a:solidFill>
                  <a:schemeClr val="accent1"/>
                </a:solidFill>
              </a:rPr>
              <a:t>Diap. 4 a 6</a:t>
            </a:r>
            <a:endParaRPr lang="en-US" sz="1300" dirty="0"/>
          </a:p>
        </p:txBody>
      </p:sp>
      <p:sp>
        <p:nvSpPr>
          <p:cNvPr id="12" name="Fila 2"/>
          <p:cNvSpPr/>
          <p:nvPr/>
        </p:nvSpPr>
        <p:spPr>
          <a:xfrm>
            <a:off x="548640" y="2194560"/>
            <a:ext cx="11064240" cy="896112"/>
          </a:xfrm>
          <a:prstGeom prst="roundRect">
            <a:avLst>
              <a:gd name="adj" fmla="val 8163"/>
            </a:avLst>
          </a:prstGeom>
          <a:solidFill>
            <a:schemeClr val="bg2"/>
          </a:solidFill>
          <a:ln/>
        </p:spPr>
      </p:sp>
      <p:sp>
        <p:nvSpPr>
          <p:cNvPr id="13" name="Puntos 2"/>
          <p:cNvSpPr/>
          <p:nvPr/>
        </p:nvSpPr>
        <p:spPr>
          <a:xfrm>
            <a:off x="658368" y="2368296"/>
            <a:ext cx="548640" cy="54864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4" name="Text 10"/>
          <p:cNvSpPr txBox="1"/>
          <p:nvPr/>
        </p:nvSpPr>
        <p:spPr>
          <a:xfrm>
            <a:off x="1344168" y="2249424"/>
            <a:ext cx="3520440" cy="786384"/>
          </a:xfrm>
          <a:prstGeom prst="rect">
            <a:avLst/>
          </a:prstGeom>
          <a:noFill/>
          <a:ln/>
        </p:spPr>
        <p:txBody>
          <a:bodyPr wrap="square" lIns="0" tIns="0" rIns="0" bIns="0" rtlCol="0" anchor="ctr"/>
          <a:lstStyle/>
          <a:p>
            <a:pPr indent="0" marL="0">
              <a:buNone/>
            </a:pPr>
            <a:r>
              <a:rPr lang="en-US" sz="1400" b="1" dirty="0">
                <a:solidFill>
                  <a:schemeClr val="tx2"/>
                </a:solidFill>
              </a:rPr>
              <a:t>Patrón mantenible, sin esperas fijas; pasa 3 veces seguidas</a:t>
            </a:r>
            <a:endParaRPr lang="en-US" sz="1400" dirty="0"/>
          </a:p>
        </p:txBody>
      </p:sp>
      <p:sp>
        <p:nvSpPr>
          <p:cNvPr id="15" name="Text 11"/>
          <p:cNvSpPr txBox="1"/>
          <p:nvPr/>
        </p:nvSpPr>
        <p:spPr>
          <a:xfrm>
            <a:off x="4983480" y="2249424"/>
            <a:ext cx="3291840" cy="786384"/>
          </a:xfrm>
          <a:prstGeom prst="rect">
            <a:avLst/>
          </a:prstGeom>
          <a:noFill/>
          <a:ln/>
        </p:spPr>
        <p:txBody>
          <a:bodyPr wrap="square" lIns="0" tIns="0" rIns="0" bIns="0" rtlCol="0" anchor="ctr"/>
          <a:lstStyle/>
          <a:p>
            <a:pPr indent="0" marL="0">
              <a:buNone/>
            </a:pPr>
            <a:r>
              <a:rPr lang="en-US" sz="1400" dirty="0">
                <a:solidFill>
                  <a:schemeClr val="tx1"/>
                </a:solidFill>
              </a:rPr>
              <a:t>Page Object · 0 esperas fijas · 57 de 57, 0 flaky</a:t>
            </a:r>
            <a:endParaRPr lang="en-US" sz="1400" dirty="0"/>
          </a:p>
        </p:txBody>
      </p:sp>
      <p:sp>
        <p:nvSpPr>
          <p:cNvPr id="16" name="Marco Evidencia del criterio 2"/>
          <p:cNvSpPr/>
          <p:nvPr/>
        </p:nvSpPr>
        <p:spPr>
          <a:xfrm>
            <a:off x="8398764" y="2244852"/>
            <a:ext cx="2039112" cy="468770"/>
          </a:xfrm>
          <a:prstGeom prst="rect">
            <a:avLst/>
          </a:prstGeom>
          <a:solidFill>
            <a:srgbClr val="FFFFFF"/>
          </a:solidFill>
          <a:ln w="9525">
            <a:solidFill>
              <a:srgbClr val="B9C6CB"/>
            </a:solidFill>
            <a:prstDash val="solid"/>
          </a:ln>
        </p:spPr>
      </p:sp>
      <p:pic>
        <p:nvPicPr>
          <p:cNvPr id="17" name="Evidencia del criterio 2" descr="Evidencia del criterio 2">    </p:cNvPr>
          <p:cNvPicPr>
            <a:picLocks noChangeAspect="1"/>
          </p:cNvPicPr>
          <p:nvPr/>
        </p:nvPicPr>
        <p:blipFill>
          <a:blip r:embed="rId2"/>
          <a:stretch>
            <a:fillRect/>
          </a:stretch>
        </p:blipFill>
        <p:spPr>
          <a:xfrm>
            <a:off x="8412480" y="2258568"/>
            <a:ext cx="2011680" cy="441338"/>
          </a:xfrm>
          <a:prstGeom prst="rect">
            <a:avLst/>
          </a:prstGeom>
        </p:spPr>
      </p:pic>
      <p:sp>
        <p:nvSpPr>
          <p:cNvPr id="18" name="Text 13"/>
          <p:cNvSpPr txBox="1"/>
          <p:nvPr/>
        </p:nvSpPr>
        <p:spPr>
          <a:xfrm>
            <a:off x="10469880" y="2249424"/>
            <a:ext cx="1069848" cy="786384"/>
          </a:xfrm>
          <a:prstGeom prst="rect">
            <a:avLst/>
          </a:prstGeom>
          <a:noFill/>
          <a:ln/>
        </p:spPr>
        <p:txBody>
          <a:bodyPr wrap="square" lIns="0" tIns="0" rIns="0" bIns="0" rtlCol="0" anchor="ctr"/>
          <a:lstStyle/>
          <a:p>
            <a:pPr algn="ctr" indent="0" marL="0">
              <a:buNone/>
            </a:pPr>
            <a:r>
              <a:rPr lang="en-US" sz="1300" b="1" dirty="0">
                <a:solidFill>
                  <a:schemeClr val="accent1"/>
                </a:solidFill>
              </a:rPr>
              <a:t>Diap. 7 y 8</a:t>
            </a:r>
            <a:endParaRPr lang="en-US" sz="1300" dirty="0"/>
          </a:p>
        </p:txBody>
      </p:sp>
      <p:sp>
        <p:nvSpPr>
          <p:cNvPr id="19" name="Fila 3"/>
          <p:cNvSpPr/>
          <p:nvPr/>
        </p:nvSpPr>
        <p:spPr>
          <a:xfrm>
            <a:off x="548640" y="3182112"/>
            <a:ext cx="11064240" cy="896112"/>
          </a:xfrm>
          <a:prstGeom prst="roundRect">
            <a:avLst>
              <a:gd name="adj" fmla="val 8163"/>
            </a:avLst>
          </a:prstGeom>
          <a:solidFill>
            <a:schemeClr val="bg2"/>
          </a:solidFill>
          <a:ln/>
        </p:spPr>
      </p:sp>
      <p:sp>
        <p:nvSpPr>
          <p:cNvPr id="20" name="Puntos 3"/>
          <p:cNvSpPr/>
          <p:nvPr/>
        </p:nvSpPr>
        <p:spPr>
          <a:xfrm>
            <a:off x="658368" y="3355848"/>
            <a:ext cx="548640" cy="54864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1" name="Text 16"/>
          <p:cNvSpPr txBox="1"/>
          <p:nvPr/>
        </p:nvSpPr>
        <p:spPr>
          <a:xfrm>
            <a:off x="1344168" y="3236976"/>
            <a:ext cx="3520440" cy="786384"/>
          </a:xfrm>
          <a:prstGeom prst="rect">
            <a:avLst/>
          </a:prstGeom>
          <a:noFill/>
          <a:ln/>
        </p:spPr>
        <p:txBody>
          <a:bodyPr wrap="square" lIns="0" tIns="0" rIns="0" bIns="0" rtlCol="0" anchor="ctr"/>
          <a:lstStyle/>
          <a:p>
            <a:pPr indent="0" marL="0">
              <a:buNone/>
            </a:pPr>
            <a:r>
              <a:rPr lang="en-US" sz="1400" b="1" dirty="0">
                <a:solidFill>
                  <a:schemeClr val="tx2"/>
                </a:solidFill>
              </a:rPr>
              <a:t>Pipeline en cada push o PR: API + web en verde, con reportes publicados</a:t>
            </a:r>
            <a:endParaRPr lang="en-US" sz="1400" dirty="0"/>
          </a:p>
        </p:txBody>
      </p:sp>
      <p:sp>
        <p:nvSpPr>
          <p:cNvPr id="22" name="Text 17"/>
          <p:cNvSpPr txBox="1"/>
          <p:nvPr/>
        </p:nvSpPr>
        <p:spPr>
          <a:xfrm>
            <a:off x="4983480" y="3236976"/>
            <a:ext cx="3291840" cy="786384"/>
          </a:xfrm>
          <a:prstGeom prst="rect">
            <a:avLst/>
          </a:prstGeom>
          <a:noFill/>
          <a:ln/>
        </p:spPr>
        <p:txBody>
          <a:bodyPr wrap="square" lIns="0" tIns="0" rIns="0" bIns="0" rtlCol="0" anchor="ctr"/>
          <a:lstStyle/>
          <a:p>
            <a:pPr indent="0" marL="0">
              <a:buNone/>
            </a:pPr>
            <a:r>
              <a:rPr lang="en-US" sz="1400" dirty="0">
                <a:solidFill>
                  <a:schemeClr val="tx1"/>
                </a:solidFill>
              </a:rPr>
              <a:t>Run #10 en verde · 64 + 4 xfail · 728 de contrato · Pages</a:t>
            </a:r>
            <a:endParaRPr lang="en-US" sz="1400" dirty="0"/>
          </a:p>
        </p:txBody>
      </p:sp>
      <p:sp>
        <p:nvSpPr>
          <p:cNvPr id="23" name="Marco Evidencia del criterio 3"/>
          <p:cNvSpPr/>
          <p:nvPr/>
        </p:nvSpPr>
        <p:spPr>
          <a:xfrm>
            <a:off x="8544935" y="3232404"/>
            <a:ext cx="1746771" cy="795528"/>
          </a:xfrm>
          <a:prstGeom prst="rect">
            <a:avLst/>
          </a:prstGeom>
          <a:solidFill>
            <a:srgbClr val="FFFFFF"/>
          </a:solidFill>
          <a:ln w="9525">
            <a:solidFill>
              <a:srgbClr val="B9C6CB"/>
            </a:solidFill>
            <a:prstDash val="solid"/>
          </a:ln>
        </p:spPr>
      </p:sp>
      <p:pic>
        <p:nvPicPr>
          <p:cNvPr id="24" name="Evidencia del criterio 3" descr="Evidencia del criterio 3">    </p:cNvPr>
          <p:cNvPicPr>
            <a:picLocks noChangeAspect="1"/>
          </p:cNvPicPr>
          <p:nvPr/>
        </p:nvPicPr>
        <p:blipFill>
          <a:blip r:embed="rId3"/>
          <a:stretch>
            <a:fillRect/>
          </a:stretch>
        </p:blipFill>
        <p:spPr>
          <a:xfrm>
            <a:off x="8558651" y="3246120"/>
            <a:ext cx="1719339" cy="768096"/>
          </a:xfrm>
          <a:prstGeom prst="rect">
            <a:avLst/>
          </a:prstGeom>
        </p:spPr>
      </p:pic>
      <p:sp>
        <p:nvSpPr>
          <p:cNvPr id="25" name="Text 19"/>
          <p:cNvSpPr txBox="1"/>
          <p:nvPr/>
        </p:nvSpPr>
        <p:spPr>
          <a:xfrm>
            <a:off x="10469880" y="3236976"/>
            <a:ext cx="1069848" cy="786384"/>
          </a:xfrm>
          <a:prstGeom prst="rect">
            <a:avLst/>
          </a:prstGeom>
          <a:noFill/>
          <a:ln/>
        </p:spPr>
        <p:txBody>
          <a:bodyPr wrap="square" lIns="0" tIns="0" rIns="0" bIns="0" rtlCol="0" anchor="ctr"/>
          <a:lstStyle/>
          <a:p>
            <a:pPr algn="ctr" indent="0" marL="0">
              <a:buNone/>
            </a:pPr>
            <a:r>
              <a:rPr lang="en-US" sz="1300" b="1" dirty="0">
                <a:solidFill>
                  <a:schemeClr val="accent1"/>
                </a:solidFill>
              </a:rPr>
              <a:t>Diap. 9 a 14</a:t>
            </a:r>
            <a:endParaRPr lang="en-US" sz="1300" dirty="0"/>
          </a:p>
        </p:txBody>
      </p:sp>
      <p:sp>
        <p:nvSpPr>
          <p:cNvPr id="26" name="Fila 4"/>
          <p:cNvSpPr/>
          <p:nvPr/>
        </p:nvSpPr>
        <p:spPr>
          <a:xfrm>
            <a:off x="548640" y="4169664"/>
            <a:ext cx="11064240" cy="896112"/>
          </a:xfrm>
          <a:prstGeom prst="roundRect">
            <a:avLst>
              <a:gd name="adj" fmla="val 8163"/>
            </a:avLst>
          </a:prstGeom>
          <a:solidFill>
            <a:schemeClr val="bg2"/>
          </a:solidFill>
          <a:ln/>
        </p:spPr>
      </p:sp>
      <p:sp>
        <p:nvSpPr>
          <p:cNvPr id="27" name="Puntos 4"/>
          <p:cNvSpPr/>
          <p:nvPr/>
        </p:nvSpPr>
        <p:spPr>
          <a:xfrm>
            <a:off x="658368" y="4343400"/>
            <a:ext cx="548640" cy="54864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8" name="Text 22"/>
          <p:cNvSpPr txBox="1"/>
          <p:nvPr/>
        </p:nvSpPr>
        <p:spPr>
          <a:xfrm>
            <a:off x="1344168" y="4224528"/>
            <a:ext cx="3520440" cy="786384"/>
          </a:xfrm>
          <a:prstGeom prst="rect">
            <a:avLst/>
          </a:prstGeom>
          <a:noFill/>
          <a:ln/>
        </p:spPr>
        <p:txBody>
          <a:bodyPr wrap="square" lIns="0" tIns="0" rIns="0" bIns="0" rtlCol="0" anchor="ctr"/>
          <a:lstStyle/>
          <a:p>
            <a:pPr indent="0" marL="0">
              <a:buNone/>
            </a:pPr>
            <a:r>
              <a:rPr lang="en-US" sz="1400" b="1" dirty="0">
                <a:solidFill>
                  <a:schemeClr val="tx2"/>
                </a:solidFill>
              </a:rPr>
              <a:t>Trazabilidad HU → casos → ejecución con los resultados del pipeline</a:t>
            </a:r>
            <a:endParaRPr lang="en-US" sz="1400" dirty="0"/>
          </a:p>
        </p:txBody>
      </p:sp>
      <p:sp>
        <p:nvSpPr>
          <p:cNvPr id="29" name="Text 23"/>
          <p:cNvSpPr txBox="1"/>
          <p:nvPr/>
        </p:nvSpPr>
        <p:spPr>
          <a:xfrm>
            <a:off x="4983480" y="4224528"/>
            <a:ext cx="3291840" cy="786384"/>
          </a:xfrm>
          <a:prstGeom prst="rect">
            <a:avLst/>
          </a:prstGeom>
          <a:noFill/>
          <a:ln/>
        </p:spPr>
        <p:txBody>
          <a:bodyPr wrap="square" lIns="0" tIns="0" rIns="0" bIns="0" rtlCol="0" anchor="ctr"/>
          <a:lstStyle/>
          <a:p>
            <a:pPr indent="0" marL="0">
              <a:buNone/>
            </a:pPr>
            <a:r>
              <a:rPr lang="en-US" sz="1400" dirty="0">
                <a:solidFill>
                  <a:schemeClr val="tx1"/>
                </a:solidFill>
              </a:rPr>
              <a:t>61 casos en la matriz · generada en cada run · 4 xfail → defecto</a:t>
            </a:r>
            <a:endParaRPr lang="en-US" sz="1400" dirty="0"/>
          </a:p>
        </p:txBody>
      </p:sp>
      <p:sp>
        <p:nvSpPr>
          <p:cNvPr id="30" name="Marco Evidencia del criterio 4"/>
          <p:cNvSpPr/>
          <p:nvPr/>
        </p:nvSpPr>
        <p:spPr>
          <a:xfrm>
            <a:off x="8567455" y="4219956"/>
            <a:ext cx="1701730" cy="795528"/>
          </a:xfrm>
          <a:prstGeom prst="rect">
            <a:avLst/>
          </a:prstGeom>
          <a:solidFill>
            <a:srgbClr val="FFFFFF"/>
          </a:solidFill>
          <a:ln w="9525">
            <a:solidFill>
              <a:srgbClr val="B9C6CB"/>
            </a:solidFill>
            <a:prstDash val="solid"/>
          </a:ln>
        </p:spPr>
      </p:sp>
      <p:pic>
        <p:nvPicPr>
          <p:cNvPr id="31" name="Evidencia del criterio 4" descr="Evidencia del criterio 4">    </p:cNvPr>
          <p:cNvPicPr>
            <a:picLocks noChangeAspect="1"/>
          </p:cNvPicPr>
          <p:nvPr/>
        </p:nvPicPr>
        <p:blipFill>
          <a:blip r:embed="rId4"/>
          <a:stretch>
            <a:fillRect/>
          </a:stretch>
        </p:blipFill>
        <p:spPr>
          <a:xfrm>
            <a:off x="8581171" y="4233672"/>
            <a:ext cx="1674298" cy="768096"/>
          </a:xfrm>
          <a:prstGeom prst="rect">
            <a:avLst/>
          </a:prstGeom>
        </p:spPr>
      </p:pic>
      <p:sp>
        <p:nvSpPr>
          <p:cNvPr id="32" name="Text 25"/>
          <p:cNvSpPr txBox="1"/>
          <p:nvPr/>
        </p:nvSpPr>
        <p:spPr>
          <a:xfrm>
            <a:off x="10469880" y="4224528"/>
            <a:ext cx="1069848" cy="786384"/>
          </a:xfrm>
          <a:prstGeom prst="rect">
            <a:avLst/>
          </a:prstGeom>
          <a:noFill/>
          <a:ln/>
        </p:spPr>
        <p:txBody>
          <a:bodyPr wrap="square" lIns="0" tIns="0" rIns="0" bIns="0" rtlCol="0" anchor="ctr"/>
          <a:lstStyle/>
          <a:p>
            <a:pPr algn="ctr" indent="0" marL="0">
              <a:buNone/>
            </a:pPr>
            <a:r>
              <a:rPr lang="en-US" sz="1300" b="1" dirty="0">
                <a:solidFill>
                  <a:schemeClr val="accent1"/>
                </a:solidFill>
              </a:rPr>
              <a:t>Diap. 15</a:t>
            </a:r>
            <a:endParaRPr lang="en-US" sz="1300" dirty="0"/>
          </a:p>
        </p:txBody>
      </p:sp>
      <p:sp>
        <p:nvSpPr>
          <p:cNvPr id="33" name="Fila 5"/>
          <p:cNvSpPr/>
          <p:nvPr/>
        </p:nvSpPr>
        <p:spPr>
          <a:xfrm>
            <a:off x="548640" y="5157216"/>
            <a:ext cx="11064240" cy="896112"/>
          </a:xfrm>
          <a:prstGeom prst="roundRect">
            <a:avLst>
              <a:gd name="adj" fmla="val 8163"/>
            </a:avLst>
          </a:prstGeom>
          <a:solidFill>
            <a:schemeClr val="bg2"/>
          </a:solidFill>
          <a:ln/>
        </p:spPr>
      </p:sp>
      <p:sp>
        <p:nvSpPr>
          <p:cNvPr id="34" name="Puntos 5"/>
          <p:cNvSpPr/>
          <p:nvPr/>
        </p:nvSpPr>
        <p:spPr>
          <a:xfrm>
            <a:off x="658368" y="5330952"/>
            <a:ext cx="548640" cy="54864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35" name="Text 28"/>
          <p:cNvSpPr txBox="1"/>
          <p:nvPr/>
        </p:nvSpPr>
        <p:spPr>
          <a:xfrm>
            <a:off x="1344168" y="5212080"/>
            <a:ext cx="3520440" cy="786384"/>
          </a:xfrm>
          <a:prstGeom prst="rect">
            <a:avLst/>
          </a:prstGeom>
          <a:noFill/>
          <a:ln/>
        </p:spPr>
        <p:txBody>
          <a:bodyPr wrap="square" lIns="0" tIns="0" rIns="0" bIns="0" rtlCol="0" anchor="ctr"/>
          <a:lstStyle/>
          <a:p>
            <a:pPr indent="0" marL="0">
              <a:buNone/>
            </a:pPr>
            <a:r>
              <a:rPr lang="en-US" sz="1400" b="1" dirty="0">
                <a:solidFill>
                  <a:schemeClr val="tx2"/>
                </a:solidFill>
              </a:rPr>
              <a:t>Exposición con demo en vivo</a:t>
            </a:r>
            <a:endParaRPr lang="en-US" sz="1400" dirty="0"/>
          </a:p>
        </p:txBody>
      </p:sp>
      <p:sp>
        <p:nvSpPr>
          <p:cNvPr id="36" name="Text 29"/>
          <p:cNvSpPr txBox="1"/>
          <p:nvPr/>
        </p:nvSpPr>
        <p:spPr>
          <a:xfrm>
            <a:off x="4983480" y="5212080"/>
            <a:ext cx="3291840" cy="786384"/>
          </a:xfrm>
          <a:prstGeom prst="rect">
            <a:avLst/>
          </a:prstGeom>
          <a:noFill/>
          <a:ln/>
        </p:spPr>
        <p:txBody>
          <a:bodyPr wrap="square" lIns="0" tIns="0" rIns="0" bIns="0" rtlCol="0" anchor="ctr"/>
          <a:lstStyle/>
          <a:p>
            <a:pPr indent="0" marL="0">
              <a:buNone/>
            </a:pPr>
            <a:r>
              <a:rPr lang="en-US" sz="1400" dirty="0">
                <a:solidFill>
                  <a:schemeClr val="tx1"/>
                </a:solidFill>
              </a:rPr>
              <a:t>Run real, reporte abierto, matriz y automatización</a:t>
            </a:r>
            <a:endParaRPr lang="en-US" sz="1400" dirty="0"/>
          </a:p>
        </p:txBody>
      </p:sp>
      <p:sp>
        <p:nvSpPr>
          <p:cNvPr id="37" name="Marco Evidencia del criterio 5"/>
          <p:cNvSpPr/>
          <p:nvPr/>
        </p:nvSpPr>
        <p:spPr>
          <a:xfrm>
            <a:off x="8444484" y="5207508"/>
            <a:ext cx="1947672" cy="795528"/>
          </a:xfrm>
          <a:prstGeom prst="rect">
            <a:avLst/>
          </a:prstGeom>
          <a:solidFill>
            <a:srgbClr val="FFFFFF"/>
          </a:solidFill>
          <a:ln w="9525">
            <a:solidFill>
              <a:srgbClr val="B9C6CB"/>
            </a:solidFill>
            <a:prstDash val="solid"/>
          </a:ln>
        </p:spPr>
      </p:sp>
      <p:pic>
        <p:nvPicPr>
          <p:cNvPr id="38" name="Evidencia del criterio 5" descr="Evidencia del criterio 5">    </p:cNvPr>
          <p:cNvPicPr>
            <a:picLocks noChangeAspect="1"/>
          </p:cNvPicPr>
          <p:nvPr/>
        </p:nvPicPr>
        <p:blipFill>
          <a:blip r:embed="rId5"/>
          <a:stretch>
            <a:fillRect/>
          </a:stretch>
        </p:blipFill>
        <p:spPr>
          <a:xfrm>
            <a:off x="8458200" y="5221224"/>
            <a:ext cx="1920240" cy="768096"/>
          </a:xfrm>
          <a:prstGeom prst="rect">
            <a:avLst/>
          </a:prstGeom>
        </p:spPr>
      </p:pic>
      <p:sp>
        <p:nvSpPr>
          <p:cNvPr id="39" name="Text 31"/>
          <p:cNvSpPr txBox="1"/>
          <p:nvPr/>
        </p:nvSpPr>
        <p:spPr>
          <a:xfrm>
            <a:off x="10469880" y="5212080"/>
            <a:ext cx="1069848" cy="786384"/>
          </a:xfrm>
          <a:prstGeom prst="rect">
            <a:avLst/>
          </a:prstGeom>
          <a:noFill/>
          <a:ln/>
        </p:spPr>
        <p:txBody>
          <a:bodyPr wrap="square" lIns="0" tIns="0" rIns="0" bIns="0" rtlCol="0" anchor="ctr"/>
          <a:lstStyle/>
          <a:p>
            <a:pPr algn="ctr" indent="0" marL="0">
              <a:buNone/>
            </a:pPr>
            <a:r>
              <a:rPr lang="en-US" sz="1300" b="1" dirty="0">
                <a:solidFill>
                  <a:schemeClr val="accent1"/>
                </a:solidFill>
              </a:rPr>
              <a:t>Diap. 19</a:t>
            </a:r>
            <a:endParaRPr lang="en-US" sz="1300" dirty="0"/>
          </a:p>
        </p:txBody>
      </p:sp>
      <p:sp>
        <p:nvSpPr>
          <p:cNvPr id="40" name="Text 32"/>
          <p:cNvSpPr txBox="1"/>
          <p:nvPr/>
        </p:nvSpPr>
        <p:spPr>
          <a:xfrm>
            <a:off x="548640" y="6108192"/>
            <a:ext cx="11064240" cy="310896"/>
          </a:xfrm>
          <a:prstGeom prst="rect">
            <a:avLst/>
          </a:prstGeom>
          <a:noFill/>
          <a:ln/>
        </p:spPr>
        <p:txBody>
          <a:bodyPr wrap="square" lIns="0" tIns="0" rIns="0" bIns="0" rtlCol="0" anchor="t"/>
          <a:lstStyle/>
          <a:p>
            <a:pPr algn="l" indent="0" marL="0">
              <a:buNone/>
            </a:pPr>
            <a:r>
              <a:rPr lang="en-US" sz="1300" dirty="0">
                <a:solidFill>
                  <a:schemeClr val="accent5"/>
                </a:solidFill>
              </a:rPr>
              <a:t>Total: 20 puntos · Fuente: Semana 12, Automatización y CI/CD, diapositiva de cierre</a:t>
            </a:r>
            <a:endParaRPr lang="en-US" sz="13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Alcance: G4 en dos pantallas y 10 historias</a:t>
            </a:r>
            <a:endParaRPr lang="en-US" sz="3000" dirty="0"/>
          </a:p>
        </p:txBody>
      </p:sp>
      <p:sp>
        <p:nvSpPr>
          <p:cNvPr id="4" name="Etiqueta Contexto"/>
          <p:cNvSpPr/>
          <p:nvPr/>
        </p:nvSpPr>
        <p:spPr>
          <a:xfrm>
            <a:off x="9646920" y="475488"/>
            <a:ext cx="1965960" cy="457200"/>
          </a:xfrm>
          <a:prstGeom prst="roundRect">
            <a:avLst>
              <a:gd name="adj" fmla="val 24000"/>
            </a:avLst>
          </a:prstGeom>
          <a:solidFill>
            <a:schemeClr val="bg2"/>
          </a:solidFill>
          <a:ln/>
        </p:spPr>
        <p:txBody>
          <a:bodyPr wrap="square" lIns="0" tIns="0" rIns="0" bIns="0" rtlCol="0" anchor="ctr"/>
          <a:lstStyle/>
          <a:p>
            <a:pPr algn="ctr" indent="0" marL="0">
              <a:buNone/>
            </a:pPr>
            <a:r>
              <a:rPr lang="en-US" sz="1300" b="1" dirty="0">
                <a:solidFill>
                  <a:schemeClr val="tx2"/>
                </a:solidFill>
              </a:rPr>
              <a:t>Contexto</a:t>
            </a:r>
            <a:endParaRPr lang="en-US" sz="1300" dirty="0"/>
          </a:p>
        </p:txBody>
      </p:sp>
      <p:sp>
        <p:nvSpPr>
          <p:cNvPr id="5" name="Marco Pantalla real de contactos"/>
          <p:cNvSpPr/>
          <p:nvPr/>
        </p:nvSpPr>
        <p:spPr>
          <a:xfrm>
            <a:off x="571080" y="1220724"/>
            <a:ext cx="3338400" cy="2606040"/>
          </a:xfrm>
          <a:prstGeom prst="rect">
            <a:avLst/>
          </a:prstGeom>
          <a:solidFill>
            <a:srgbClr val="FFFFFF"/>
          </a:solidFill>
          <a:ln w="9525">
            <a:solidFill>
              <a:srgbClr val="B9C6CB"/>
            </a:solidFill>
            <a:prstDash val="solid"/>
          </a:ln>
        </p:spPr>
      </p:sp>
      <p:pic>
        <p:nvPicPr>
          <p:cNvPr id="6" name="Pantalla real de contactos" descr="Pantalla real de contactos">    </p:cNvPr>
          <p:cNvPicPr>
            <a:picLocks noChangeAspect="1"/>
          </p:cNvPicPr>
          <p:nvPr/>
        </p:nvPicPr>
        <p:blipFill>
          <a:blip r:embed="rId1"/>
          <a:stretch>
            <a:fillRect/>
          </a:stretch>
        </p:blipFill>
        <p:spPr>
          <a:xfrm>
            <a:off x="584796" y="1234440"/>
            <a:ext cx="3310968" cy="2578608"/>
          </a:xfrm>
          <a:prstGeom prst="rect">
            <a:avLst/>
          </a:prstGeom>
        </p:spPr>
      </p:pic>
      <p:sp>
        <p:nvSpPr>
          <p:cNvPr id="7" name="Marco Pantalla real de solicitudes"/>
          <p:cNvSpPr/>
          <p:nvPr/>
        </p:nvSpPr>
        <p:spPr>
          <a:xfrm>
            <a:off x="4091520" y="1220724"/>
            <a:ext cx="3338400" cy="2606040"/>
          </a:xfrm>
          <a:prstGeom prst="rect">
            <a:avLst/>
          </a:prstGeom>
          <a:solidFill>
            <a:srgbClr val="FFFFFF"/>
          </a:solidFill>
          <a:ln w="9525">
            <a:solidFill>
              <a:srgbClr val="B9C6CB"/>
            </a:solidFill>
            <a:prstDash val="solid"/>
          </a:ln>
        </p:spPr>
      </p:sp>
      <p:pic>
        <p:nvPicPr>
          <p:cNvPr id="8" name="Pantalla real de solicitudes" descr="Pantalla real de solicitudes">    </p:cNvPr>
          <p:cNvPicPr>
            <a:picLocks noChangeAspect="1"/>
          </p:cNvPicPr>
          <p:nvPr/>
        </p:nvPicPr>
        <p:blipFill>
          <a:blip r:embed="rId2"/>
          <a:stretch>
            <a:fillRect/>
          </a:stretch>
        </p:blipFill>
        <p:spPr>
          <a:xfrm>
            <a:off x="4105236" y="1234440"/>
            <a:ext cx="3310968" cy="2578608"/>
          </a:xfrm>
          <a:prstGeom prst="rect">
            <a:avLst/>
          </a:prstGeom>
        </p:spPr>
      </p:pic>
      <p:sp>
        <p:nvSpPr>
          <p:cNvPr id="9" name="Tarjeta Un criterio se define como web si…"/>
          <p:cNvSpPr/>
          <p:nvPr/>
        </p:nvSpPr>
        <p:spPr>
          <a:xfrm>
            <a:off x="548640" y="4023360"/>
            <a:ext cx="6903720" cy="2194560"/>
          </a:xfrm>
          <a:prstGeom prst="roundRect">
            <a:avLst>
              <a:gd name="adj" fmla="val 3333"/>
            </a:avLst>
          </a:prstGeom>
          <a:solidFill>
            <a:schemeClr val="bg2"/>
          </a:solidFill>
          <a:ln/>
        </p:spPr>
      </p:sp>
      <p:sp>
        <p:nvSpPr>
          <p:cNvPr id="10" name="Text 5"/>
          <p:cNvSpPr txBox="1"/>
          <p:nvPr/>
        </p:nvSpPr>
        <p:spPr>
          <a:xfrm>
            <a:off x="713232" y="4114800"/>
            <a:ext cx="6574536" cy="365760"/>
          </a:xfrm>
          <a:prstGeom prst="rect">
            <a:avLst/>
          </a:prstGeom>
          <a:noFill/>
          <a:ln/>
        </p:spPr>
        <p:txBody>
          <a:bodyPr wrap="square" lIns="0" tIns="0" rIns="0" bIns="0" rtlCol="0" anchor="ctr"/>
          <a:lstStyle/>
          <a:p>
            <a:pPr indent="0" marL="0">
              <a:buNone/>
            </a:pPr>
            <a:r>
              <a:rPr lang="en-US" sz="1600" b="1" dirty="0">
                <a:solidFill>
                  <a:schemeClr val="accent1"/>
                </a:solidFill>
              </a:rPr>
              <a:t>Un criterio se define como web si…</a:t>
            </a:r>
            <a:endParaRPr lang="en-US" sz="1600" dirty="0"/>
          </a:p>
        </p:txBody>
      </p:sp>
      <p:sp>
        <p:nvSpPr>
          <p:cNvPr id="11" name="Text 6"/>
          <p:cNvSpPr txBox="1"/>
          <p:nvPr/>
        </p:nvSpPr>
        <p:spPr>
          <a:xfrm>
            <a:off x="713232" y="4498848"/>
            <a:ext cx="6574536" cy="1645920"/>
          </a:xfrm>
          <a:prstGeom prst="rect">
            <a:avLst/>
          </a:prstGeom>
          <a:noFill/>
          <a:ln/>
        </p:spPr>
        <p:txBody>
          <a:bodyPr wrap="square" lIns="0" tIns="0" rIns="0" bIns="0" rtlCol="0" anchor="t"/>
          <a:lstStyle/>
          <a:p>
            <a:pPr marL="177800" indent="-177800">
              <a:spcAft>
                <a:spcPts val="300"/>
              </a:spcAft>
              <a:buSzPct val="100000"/>
              <a:buChar char="•"/>
            </a:pPr>
            <a:r>
              <a:rPr lang="en-US" sz="1500" dirty="0">
                <a:solidFill>
                  <a:schemeClr val="tx1"/>
                </a:solidFill>
              </a:rPr>
              <a:t>Lo que afirma solo se ve en pantalla: lista, orden, pestañas, avisos, botones</a:t>
            </a:r>
            <a:endParaRPr lang="en-US" sz="1500" dirty="0"/>
          </a:p>
          <a:p>
            <a:pPr marL="177800" indent="-177800">
              <a:spcAft>
                <a:spcPts val="300"/>
              </a:spcAft>
              <a:buSzPct val="100000"/>
              <a:buChar char="•"/>
            </a:pPr>
            <a:r>
              <a:rPr lang="en-US" sz="1500" dirty="0">
                <a:solidFill>
                  <a:schemeClr val="tx1"/>
                </a:solidFill>
              </a:rPr>
              <a:t>Es un paso de un recorrido crítico que pasa por dinero</a:t>
            </a:r>
            <a:endParaRPr lang="en-US" sz="1500" dirty="0"/>
          </a:p>
          <a:p>
            <a:pPr marL="177800" indent="-177800">
              <a:spcAft>
                <a:spcPts val="300"/>
              </a:spcAft>
              <a:buSzPct val="100000"/>
              <a:buChar char="•"/>
            </a:pPr>
            <a:r>
              <a:rPr lang="en-US" sz="1500" dirty="0">
                <a:solidFill>
                  <a:schemeClr val="tx1"/>
                </a:solidFill>
              </a:rPr>
              <a:t>La interfaz debe comunicar al usuario un error de la API</a:t>
            </a:r>
            <a:endParaRPr lang="en-US" sz="1500" dirty="0"/>
          </a:p>
          <a:p>
            <a:pPr marL="177800" indent="-177800">
              <a:spcAft>
                <a:spcPts val="300"/>
              </a:spcAft>
              <a:buSzPct val="100000"/>
              <a:buChar char="•"/>
            </a:pPr>
            <a:r>
              <a:rPr lang="en-US" sz="1500" dirty="0">
                <a:solidFill>
                  <a:schemeClr val="tx1"/>
                </a:solidFill>
              </a:rPr>
              <a:t>Límites, formatos y permisos quedan en API: docs/alcance-y-casos.md</a:t>
            </a:r>
            <a:endParaRPr lang="en-US" sz="1500" dirty="0"/>
          </a:p>
        </p:txBody>
      </p:sp>
      <p:graphicFrame>
        <p:nvGraphicFramePr>
          <p:cNvPr id="12" name="Casos por historia" descr=""/>
          <p:cNvGraphicFramePr/>
          <p:nvPr/>
        </p:nvGraphicFramePr>
        <p:xfrm>
          <a:off x="7680960" y="1188720"/>
          <a:ext cx="3931920" cy="5029200"/>
        </p:xfrm>
        <a:graphic xmlns:a="http://schemas.openxmlformats.org/drawingml/2006/main">
          <a:graphicData uri="http://schemas.openxmlformats.org/drawingml/2006/chart">
            <c:chart xmlns:c="http://schemas.openxmlformats.org/drawingml/2006/chart" r:id="rId3"/>
          </a:graphicData>
        </a:graphic>
      </p:graphicFrame>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18 de 18 criterios web, automatizados</a:t>
            </a:r>
            <a:endParaRPr lang="en-US" sz="3000" dirty="0"/>
          </a:p>
        </p:txBody>
      </p:sp>
      <p:sp>
        <p:nvSpPr>
          <p:cNvPr id="4" name="Etiqueta Criterio 1 · 5 pts"/>
          <p:cNvSpPr/>
          <p:nvPr/>
        </p:nvSpPr>
        <p:spPr>
          <a:xfrm>
            <a:off x="9646920" y="475488"/>
            <a:ext cx="1965960" cy="457200"/>
          </a:xfrm>
          <a:prstGeom prst="roundRect">
            <a:avLst>
              <a:gd name="adj" fmla="val 24000"/>
            </a:avLst>
          </a:prstGeom>
          <a:solidFill>
            <a:schemeClr val="accent1"/>
          </a:solidFill>
          <a:ln/>
        </p:spPr>
        <p:txBody>
          <a:bodyPr wrap="square" lIns="0" tIns="0" rIns="0" bIns="0" rtlCol="0" anchor="ctr"/>
          <a:lstStyle/>
          <a:p>
            <a:pPr algn="ctr" indent="0" marL="0">
              <a:buNone/>
            </a:pPr>
            <a:r>
              <a:rPr lang="en-US" sz="1300" b="1" dirty="0">
                <a:solidFill>
                  <a:schemeClr val="bg1"/>
                </a:solidFill>
              </a:rPr>
              <a:t>Criterio 1 · 5 pts</a:t>
            </a:r>
            <a:endParaRPr lang="en-US" sz="1300" dirty="0"/>
          </a:p>
        </p:txBody>
      </p:sp>
      <p:graphicFrame>
        <p:nvGraphicFramePr>
          <p:cNvPr id="5" name="Mapa de criterios web"/>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3429000"/>
                <a:gridCol w="868680"/>
                <a:gridCol w="1737360"/>
                <a:gridCol w="822960"/>
                <a:gridCol w="1188720"/>
                <a:gridCol w="822960"/>
                <a:gridCol w="2194560"/>
              </a:tblGrid>
              <a:tr h="384048">
                <a:tc>
                  <a:txBody>
                    <a:bodyPr/>
                    <a:lstStyle/>
                    <a:p>
                      <a:pPr indent="0" marL="0">
                        <a:buNone/>
                      </a:pPr>
                      <a:r>
                        <a:rPr lang="en-US" sz="1400" b="1" dirty="0">
                          <a:solidFill>
                            <a:schemeClr val="bg1"/>
                          </a:solidFill>
                        </a:rPr>
                        <a:t>Historia de usuario</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Prioridad</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CA1</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CA2</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CA3</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CA4</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Run #10</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chemeClr val="tx2"/>
                    </a:solidFill>
                  </a:tcPr>
                </a:tc>
              </a:tr>
              <a:tr h="384048">
                <a:tc>
                  <a:txBody>
                    <a:bodyPr/>
                    <a:lstStyle/>
                    <a:p>
                      <a:pPr indent="0" marL="0">
                        <a:buNone/>
                      </a:pPr>
                      <a:r>
                        <a:rPr lang="en-US" sz="1400" dirty="0">
                          <a:solidFill>
                            <a:schemeClr val="tx1"/>
                          </a:solidFill>
                        </a:rPr>
                        <a:t>HU-G4-01 Agregar un contacto</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400" dirty="0">
                          <a:solidFill>
                            <a:schemeClr val="tx1"/>
                          </a:solidFill>
                        </a:rPr>
                        <a:t>Alta</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400" b="1" dirty="0">
                          <a:solidFill>
                            <a:schemeClr val="tx2"/>
                          </a:solidFill>
                        </a:rPr>
                        <a:t>W01, W02, W10</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E3F3EA"/>
                    </a:solidFill>
                  </a:tcPr>
                </a:tc>
                <a:tc>
                  <a:txBody>
                    <a:bodyPr/>
                    <a:lstStyle/>
                    <a:p>
                      <a:pPr indent="0" marL="0">
                        <a:buNone/>
                      </a:pP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r>
                        <a:rPr lang="en-US" sz="1400" b="1" dirty="0">
                          <a:solidFill>
                            <a:schemeClr val="accent3"/>
                          </a:solidFill>
                        </a:rPr>
                        <a:t>3 casos · 3/3</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384048">
                <a:tc>
                  <a:txBody>
                    <a:bodyPr/>
                    <a:lstStyle/>
                    <a:p>
                      <a:pPr indent="0" marL="0">
                        <a:buNone/>
                      </a:pPr>
                      <a:r>
                        <a:rPr lang="en-US" sz="1400" dirty="0">
                          <a:solidFill>
                            <a:schemeClr val="tx1"/>
                          </a:solidFill>
                        </a:rPr>
                        <a:t>HU-G4-02 Ver y buscar contactos</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400" dirty="0">
                          <a:solidFill>
                            <a:schemeClr val="tx1"/>
                          </a:solidFill>
                        </a:rPr>
                        <a:t>Media</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400" b="1" dirty="0">
                          <a:solidFill>
                            <a:schemeClr val="tx2"/>
                          </a:solidFill>
                        </a:rPr>
                        <a:t>W03</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E3F3EA"/>
                    </a:solidFill>
                  </a:tcPr>
                </a:tc>
                <a:tc>
                  <a:txBody>
                    <a:bodyPr/>
                    <a:lstStyle/>
                    <a:p>
                      <a:pPr indent="0" marL="0">
                        <a:buNone/>
                      </a:pPr>
                      <a:r>
                        <a:rPr lang="en-US" sz="1400" b="1" dirty="0">
                          <a:solidFill>
                            <a:schemeClr val="tx2"/>
                          </a:solidFill>
                        </a:rPr>
                        <a:t>W04</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E3F3EA"/>
                    </a:solidFill>
                  </a:tcPr>
                </a:tc>
                <a:tc>
                  <a:txBody>
                    <a:bodyPr/>
                    <a:lstStyle/>
                    <a:p>
                      <a:pPr indent="0" marL="0">
                        <a:buNone/>
                      </a:pPr>
                      <a:r>
                        <a:rPr lang="en-US" sz="1400" b="1" dirty="0">
                          <a:solidFill>
                            <a:schemeClr val="tx2"/>
                          </a:solidFill>
                        </a:rPr>
                        <a:t>W05</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E3F3EA"/>
                    </a:solidFill>
                  </a:tcPr>
                </a:tc>
                <a:tc>
                  <a:txBody>
                    <a:bodyPr/>
                    <a:lstStyle/>
                    <a:p>
                      <a:pPr indent="0" marL="0">
                        <a:buNone/>
                      </a:pP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r>
                        <a:rPr lang="en-US" sz="1400" b="1" dirty="0">
                          <a:solidFill>
                            <a:schemeClr val="accent3"/>
                          </a:solidFill>
                        </a:rPr>
                        <a:t>3 casos · 3/3</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384048">
                <a:tc>
                  <a:txBody>
                    <a:bodyPr/>
                    <a:lstStyle/>
                    <a:p>
                      <a:pPr indent="0" marL="0">
                        <a:buNone/>
                      </a:pPr>
                      <a:r>
                        <a:rPr lang="en-US" sz="1400" dirty="0">
                          <a:solidFill>
                            <a:schemeClr val="tx1"/>
                          </a:solidFill>
                        </a:rPr>
                        <a:t>HU-G4-03 Editar un contacto</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400" dirty="0">
                          <a:solidFill>
                            <a:schemeClr val="tx1"/>
                          </a:solidFill>
                        </a:rPr>
                        <a:t>Media</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400" b="1" dirty="0">
                          <a:solidFill>
                            <a:schemeClr val="tx2"/>
                          </a:solidFill>
                        </a:rPr>
                        <a:t>W06</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E3F3EA"/>
                    </a:solidFill>
                  </a:tcPr>
                </a:tc>
                <a:tc>
                  <a:txBody>
                    <a:bodyPr/>
                    <a:lstStyle/>
                    <a:p>
                      <a:pPr indent="0" marL="0">
                        <a:buNone/>
                      </a:pP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r>
                        <a:rPr lang="en-US" sz="1400" b="1" dirty="0">
                          <a:solidFill>
                            <a:schemeClr val="accent3"/>
                          </a:solidFill>
                        </a:rPr>
                        <a:t>1 caso · 3/3</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384048">
                <a:tc>
                  <a:txBody>
                    <a:bodyPr/>
                    <a:lstStyle/>
                    <a:p>
                      <a:pPr indent="0" marL="0">
                        <a:buNone/>
                      </a:pPr>
                      <a:r>
                        <a:rPr lang="en-US" sz="1400" dirty="0">
                          <a:solidFill>
                            <a:schemeClr val="tx1"/>
                          </a:solidFill>
                        </a:rPr>
                        <a:t>HU-G4-04 Eliminar un contacto</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400" dirty="0">
                          <a:solidFill>
                            <a:schemeClr val="tx1"/>
                          </a:solidFill>
                        </a:rPr>
                        <a:t>Baja</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400" b="1" dirty="0">
                          <a:solidFill>
                            <a:schemeClr val="tx2"/>
                          </a:solidFill>
                        </a:rPr>
                        <a:t>W07</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E3F3EA"/>
                    </a:solidFill>
                  </a:tcPr>
                </a:tc>
                <a:tc>
                  <a:txBody>
                    <a:bodyPr/>
                    <a:lstStyle/>
                    <a:p>
                      <a:pPr indent="0" marL="0">
                        <a:buNone/>
                      </a:pPr>
                      <a:r>
                        <a:rPr lang="en-US" sz="1400" b="1" dirty="0">
                          <a:solidFill>
                            <a:schemeClr val="tx2"/>
                          </a:solidFill>
                        </a:rPr>
                        <a:t>W08</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E3F3EA"/>
                    </a:solidFill>
                  </a:tcPr>
                </a:tc>
                <a:tc>
                  <a:txBody>
                    <a:bodyPr/>
                    <a:lstStyle/>
                    <a:p>
                      <a:pPr indent="0" marL="0">
                        <a:buNone/>
                      </a:pP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r>
                        <a:rPr lang="en-US" sz="1400" b="1" dirty="0">
                          <a:solidFill>
                            <a:schemeClr val="accent3"/>
                          </a:solidFill>
                        </a:rPr>
                        <a:t>2 casos · 3/3</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384048">
                <a:tc>
                  <a:txBody>
                    <a:bodyPr/>
                    <a:lstStyle/>
                    <a:p>
                      <a:pPr indent="0" marL="0">
                        <a:buNone/>
                      </a:pPr>
                      <a:r>
                        <a:rPr lang="en-US" sz="1400" dirty="0">
                          <a:solidFill>
                            <a:schemeClr val="tx1"/>
                          </a:solidFill>
                        </a:rPr>
                        <a:t>HU-G4-05 Transferir a un contacto</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400" dirty="0">
                          <a:solidFill>
                            <a:schemeClr val="tx1"/>
                          </a:solidFill>
                        </a:rPr>
                        <a:t>Alta</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400" b="1" dirty="0">
                          <a:solidFill>
                            <a:schemeClr val="tx2"/>
                          </a:solidFill>
                        </a:rPr>
                        <a:t>W09</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E3F3EA"/>
                    </a:solidFill>
                  </a:tcPr>
                </a:tc>
                <a:tc>
                  <a:txBody>
                    <a:bodyPr/>
                    <a:lstStyle/>
                    <a:p>
                      <a:pPr indent="0" marL="0">
                        <a:buNone/>
                      </a:pP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r>
                        <a:rPr lang="en-US" sz="1400" b="1" dirty="0">
                          <a:solidFill>
                            <a:schemeClr val="accent3"/>
                          </a:solidFill>
                        </a:rPr>
                        <a:t>1 caso · 3/3</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384048">
                <a:tc>
                  <a:txBody>
                    <a:bodyPr/>
                    <a:lstStyle/>
                    <a:p>
                      <a:pPr indent="0" marL="0">
                        <a:buNone/>
                      </a:pPr>
                      <a:r>
                        <a:rPr lang="en-US" sz="1400" dirty="0">
                          <a:solidFill>
                            <a:schemeClr val="tx1"/>
                          </a:solidFill>
                        </a:rPr>
                        <a:t>HU-G4-06 Solicitar dinero</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400" dirty="0">
                          <a:solidFill>
                            <a:schemeClr val="tx1"/>
                          </a:solidFill>
                        </a:rPr>
                        <a:t>Alta</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400" b="1" dirty="0">
                          <a:solidFill>
                            <a:schemeClr val="tx2"/>
                          </a:solidFill>
                        </a:rPr>
                        <a:t>W10, W11, W12</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E3F3EA"/>
                    </a:solidFill>
                  </a:tcPr>
                </a:tc>
                <a:tc>
                  <a:txBody>
                    <a:bodyPr/>
                    <a:lstStyle/>
                    <a:p>
                      <a:pPr indent="0" marL="0">
                        <a:buNone/>
                      </a:pPr>
                      <a:r>
                        <a:rPr lang="en-US" sz="1400" b="1" dirty="0">
                          <a:solidFill>
                            <a:schemeClr val="tx2"/>
                          </a:solidFill>
                        </a:rPr>
                        <a:t>W13</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E3F3EA"/>
                    </a:solidFill>
                  </a:tcPr>
                </a:tc>
                <a:tc>
                  <a:txBody>
                    <a:bodyPr/>
                    <a:lstStyle/>
                    <a:p>
                      <a:pPr indent="0" marL="0">
                        <a:buNone/>
                      </a:pP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r>
                        <a:rPr lang="en-US" sz="1400" b="1" dirty="0">
                          <a:solidFill>
                            <a:schemeClr val="accent3"/>
                          </a:solidFill>
                        </a:rPr>
                        <a:t>4 casos · 3/3</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384048">
                <a:tc>
                  <a:txBody>
                    <a:bodyPr/>
                    <a:lstStyle/>
                    <a:p>
                      <a:pPr indent="0" marL="0">
                        <a:buNone/>
                      </a:pPr>
                      <a:r>
                        <a:rPr lang="en-US" sz="1400" dirty="0">
                          <a:solidFill>
                            <a:schemeClr val="tx1"/>
                          </a:solidFill>
                        </a:rPr>
                        <a:t>HU-G4-07 Ver mis solicitudes</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400" dirty="0">
                          <a:solidFill>
                            <a:schemeClr val="tx1"/>
                          </a:solidFill>
                        </a:rPr>
                        <a:t>Media</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400" b="1" dirty="0">
                          <a:solidFill>
                            <a:schemeClr val="tx2"/>
                          </a:solidFill>
                        </a:rPr>
                        <a:t>W10, W14</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E3F3EA"/>
                    </a:solidFill>
                  </a:tcPr>
                </a:tc>
                <a:tc>
                  <a:txBody>
                    <a:bodyPr/>
                    <a:lstStyle/>
                    <a:p>
                      <a:pPr indent="0" marL="0">
                        <a:buNone/>
                      </a:pPr>
                      <a:r>
                        <a:rPr lang="en-US" sz="1400" b="1" dirty="0">
                          <a:solidFill>
                            <a:schemeClr val="tx2"/>
                          </a:solidFill>
                        </a:rPr>
                        <a:t>W15</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E3F3EA"/>
                    </a:solidFill>
                  </a:tcPr>
                </a:tc>
                <a:tc>
                  <a:txBody>
                    <a:bodyPr/>
                    <a:lstStyle/>
                    <a:p>
                      <a:pPr indent="0" marL="0">
                        <a:buNone/>
                      </a:pP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r>
                        <a:rPr lang="en-US" sz="1400" b="1" dirty="0">
                          <a:solidFill>
                            <a:schemeClr val="accent3"/>
                          </a:solidFill>
                        </a:rPr>
                        <a:t>3 casos · 3/3</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384048">
                <a:tc>
                  <a:txBody>
                    <a:bodyPr/>
                    <a:lstStyle/>
                    <a:p>
                      <a:pPr indent="0" marL="0">
                        <a:buNone/>
                      </a:pPr>
                      <a:r>
                        <a:rPr lang="en-US" sz="1400" dirty="0">
                          <a:solidFill>
                            <a:schemeClr val="tx1"/>
                          </a:solidFill>
                        </a:rPr>
                        <a:t>HU-G4-08 Aceptar una solicitud</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400" dirty="0">
                          <a:solidFill>
                            <a:schemeClr val="tx1"/>
                          </a:solidFill>
                        </a:rPr>
                        <a:t>Alta</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400" b="1" dirty="0">
                          <a:solidFill>
                            <a:schemeClr val="tx2"/>
                          </a:solidFill>
                        </a:rPr>
                        <a:t>W10, W16</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E3F3EA"/>
                    </a:solidFill>
                  </a:tcPr>
                </a:tc>
                <a:tc>
                  <a:txBody>
                    <a:bodyPr/>
                    <a:lstStyle/>
                    <a:p>
                      <a:pPr indent="0" marL="0">
                        <a:buNone/>
                      </a:pPr>
                      <a:r>
                        <a:rPr lang="en-US" sz="1400" b="1" dirty="0">
                          <a:solidFill>
                            <a:schemeClr val="tx2"/>
                          </a:solidFill>
                        </a:rPr>
                        <a:t>W17</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E3F3EA"/>
                    </a:solidFill>
                  </a:tcPr>
                </a:tc>
                <a:tc>
                  <a:txBody>
                    <a:bodyPr/>
                    <a:lstStyle/>
                    <a:p>
                      <a:pPr indent="0" marL="0">
                        <a:buNone/>
                      </a:pPr>
                      <a:r>
                        <a:rPr lang="en-US" sz="1400" b="1" dirty="0">
                          <a:solidFill>
                            <a:schemeClr val="tx2"/>
                          </a:solidFill>
                        </a:rPr>
                        <a:t>W10, W16</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E3F3EA"/>
                    </a:solidFill>
                  </a:tcPr>
                </a:tc>
                <a:tc>
                  <a:txBody>
                    <a:bodyPr/>
                    <a:lstStyle/>
                    <a:p>
                      <a:pPr indent="0" marL="0">
                        <a:buNone/>
                      </a:pPr>
                      <a:r>
                        <a:rPr lang="en-US" sz="1400" b="1" dirty="0">
                          <a:solidFill>
                            <a:schemeClr val="tx2"/>
                          </a:solidFill>
                        </a:rPr>
                        <a:t>W15</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E3F3EA"/>
                    </a:solidFill>
                  </a:tcPr>
                </a:tc>
                <a:tc>
                  <a:txBody>
                    <a:bodyPr/>
                    <a:lstStyle/>
                    <a:p>
                      <a:pPr indent="0" marL="0">
                        <a:buNone/>
                      </a:pPr>
                      <a:r>
                        <a:rPr lang="en-US" sz="1400" b="1" dirty="0">
                          <a:solidFill>
                            <a:schemeClr val="accent3"/>
                          </a:solidFill>
                        </a:rPr>
                        <a:t>4 casos · 3/3</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384048">
                <a:tc>
                  <a:txBody>
                    <a:bodyPr/>
                    <a:lstStyle/>
                    <a:p>
                      <a:pPr indent="0" marL="0">
                        <a:buNone/>
                      </a:pPr>
                      <a:r>
                        <a:rPr lang="en-US" sz="1400" dirty="0">
                          <a:solidFill>
                            <a:schemeClr val="tx1"/>
                          </a:solidFill>
                        </a:rPr>
                        <a:t>HU-G4-09 Rechazar una solicitud</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400" dirty="0">
                          <a:solidFill>
                            <a:schemeClr val="tx1"/>
                          </a:solidFill>
                        </a:rPr>
                        <a:t>Media</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400" b="1" dirty="0">
                          <a:solidFill>
                            <a:schemeClr val="tx2"/>
                          </a:solidFill>
                        </a:rPr>
                        <a:t>W18</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E3F3EA"/>
                    </a:solidFill>
                  </a:tcPr>
                </a:tc>
                <a:tc>
                  <a:txBody>
                    <a:bodyPr/>
                    <a:lstStyle/>
                    <a:p>
                      <a:pPr indent="0" marL="0">
                        <a:buNone/>
                      </a:pP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r>
                        <a:rPr lang="en-US" sz="1400" b="1" dirty="0">
                          <a:solidFill>
                            <a:schemeClr val="accent3"/>
                          </a:solidFill>
                        </a:rPr>
                        <a:t>1 caso · 3/3</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384048">
                <a:tc>
                  <a:txBody>
                    <a:bodyPr/>
                    <a:lstStyle/>
                    <a:p>
                      <a:pPr indent="0" marL="0">
                        <a:buNone/>
                      </a:pPr>
                      <a:r>
                        <a:rPr lang="en-US" sz="1400" dirty="0">
                          <a:solidFill>
                            <a:schemeClr val="tx1"/>
                          </a:solidFill>
                        </a:rPr>
                        <a:t>HU-G4-10 Cancelar una solicitud</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400" dirty="0">
                          <a:solidFill>
                            <a:schemeClr val="tx1"/>
                          </a:solidFill>
                        </a:rPr>
                        <a:t>Media</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400" b="1" dirty="0">
                          <a:solidFill>
                            <a:schemeClr val="tx2"/>
                          </a:solidFill>
                        </a:rPr>
                        <a:t>W19</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E3F3EA"/>
                    </a:solidFill>
                  </a:tcPr>
                </a:tc>
                <a:tc>
                  <a:txBody>
                    <a:bodyPr/>
                    <a:lstStyle/>
                    <a:p>
                      <a:pPr indent="0" marL="0">
                        <a:buNone/>
                      </a:pP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FFFFF"/>
                    </a:solidFill>
                  </a:tcPr>
                </a:tc>
                <a:tc>
                  <a:txBody>
                    <a:bodyPr/>
                    <a:lstStyle/>
                    <a:p>
                      <a:pPr indent="0" marL="0">
                        <a:buNone/>
                      </a:pPr>
                      <a:r>
                        <a:rPr lang="en-US" sz="1400" b="1" dirty="0">
                          <a:solidFill>
                            <a:schemeClr val="accent3"/>
                          </a:solidFill>
                        </a:rPr>
                        <a:t>1 caso · 3/3</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bl>
          </a:graphicData>
        </a:graphic>
      </p:graphicFrame>
      <p:sp>
        <p:nvSpPr>
          <p:cNvPr id="6" name="Text 2"/>
          <p:cNvSpPr txBox="1"/>
          <p:nvPr/>
        </p:nvSpPr>
        <p:spPr>
          <a:xfrm>
            <a:off x="548640" y="5623560"/>
            <a:ext cx="11064240" cy="548640"/>
          </a:xfrm>
          <a:prstGeom prst="rect">
            <a:avLst/>
          </a:prstGeom>
          <a:noFill/>
          <a:ln/>
        </p:spPr>
        <p:txBody>
          <a:bodyPr wrap="square" lIns="0" tIns="0" rIns="0" bIns="0" rtlCol="0" anchor="t"/>
          <a:lstStyle/>
          <a:p>
            <a:pPr algn="l" indent="0" marL="0">
              <a:buNone/>
            </a:pPr>
            <a:r>
              <a:rPr lang="en-US" sz="1300" dirty="0">
                <a:solidFill>
                  <a:schemeClr val="tx1"/>
                </a:solidFill>
              </a:rPr>
              <a:t>W = CP-W. Cada escenario lleva sus etiquetas @HU, @CA y @CP en features/web/. Un caso puede cubrir varias historias; 3/3 = pasa las tres repeticiones.</a:t>
            </a:r>
            <a:endParaRPr lang="en-US" sz="13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CP-W10: el recorrido crítico, con datos reales</a:t>
            </a:r>
            <a:endParaRPr lang="en-US" sz="3000" dirty="0"/>
          </a:p>
        </p:txBody>
      </p:sp>
      <p:sp>
        <p:nvSpPr>
          <p:cNvPr id="4" name="Etiqueta Criterio 1 · 5 pts"/>
          <p:cNvSpPr/>
          <p:nvPr/>
        </p:nvSpPr>
        <p:spPr>
          <a:xfrm>
            <a:off x="9646920" y="475488"/>
            <a:ext cx="1965960" cy="457200"/>
          </a:xfrm>
          <a:prstGeom prst="roundRect">
            <a:avLst>
              <a:gd name="adj" fmla="val 24000"/>
            </a:avLst>
          </a:prstGeom>
          <a:solidFill>
            <a:schemeClr val="accent1"/>
          </a:solidFill>
          <a:ln/>
        </p:spPr>
        <p:txBody>
          <a:bodyPr wrap="square" lIns="0" tIns="0" rIns="0" bIns="0" rtlCol="0" anchor="ctr"/>
          <a:lstStyle/>
          <a:p>
            <a:pPr algn="ctr" indent="0" marL="0">
              <a:buNone/>
            </a:pPr>
            <a:r>
              <a:rPr lang="en-US" sz="1300" b="1" dirty="0">
                <a:solidFill>
                  <a:schemeClr val="bg1"/>
                </a:solidFill>
              </a:rPr>
              <a:t>Criterio 1 · 5 pts</a:t>
            </a:r>
            <a:endParaRPr lang="en-US" sz="1300" dirty="0"/>
          </a:p>
        </p:txBody>
      </p:sp>
      <p:sp>
        <p:nvSpPr>
          <p:cNvPr id="5" name="Marco Paso 1 de CP-W10: Diego agrega a «Bruno Demo»"/>
          <p:cNvSpPr/>
          <p:nvPr/>
        </p:nvSpPr>
        <p:spPr>
          <a:xfrm>
            <a:off x="534924" y="1193292"/>
            <a:ext cx="3593592" cy="1727853"/>
          </a:xfrm>
          <a:prstGeom prst="rect">
            <a:avLst/>
          </a:prstGeom>
          <a:solidFill>
            <a:srgbClr val="FFFFFF"/>
          </a:solidFill>
          <a:ln w="9525">
            <a:solidFill>
              <a:srgbClr val="B9C6CB"/>
            </a:solidFill>
            <a:prstDash val="solid"/>
          </a:ln>
        </p:spPr>
      </p:sp>
      <p:pic>
        <p:nvPicPr>
          <p:cNvPr id="6" name="Paso 1 de CP-W10: Diego agrega a «Bruno Demo»" descr="Paso 1 de CP-W10: Diego agrega a «Bruno Demo»">    </p:cNvPr>
          <p:cNvPicPr>
            <a:picLocks noChangeAspect="1"/>
          </p:cNvPicPr>
          <p:nvPr/>
        </p:nvPicPr>
        <p:blipFill>
          <a:blip r:embed="rId1"/>
          <a:stretch>
            <a:fillRect/>
          </a:stretch>
        </p:blipFill>
        <p:spPr>
          <a:xfrm>
            <a:off x="548640" y="1207008"/>
            <a:ext cx="3566160" cy="1700421"/>
          </a:xfrm>
          <a:prstGeom prst="rect">
            <a:avLst/>
          </a:prstGeom>
        </p:spPr>
      </p:pic>
      <p:sp>
        <p:nvSpPr>
          <p:cNvPr id="7" name="Número 1"/>
          <p:cNvSpPr/>
          <p:nvPr/>
        </p:nvSpPr>
        <p:spPr>
          <a:xfrm>
            <a:off x="548640" y="2990088"/>
            <a:ext cx="329184" cy="329184"/>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8" name="Text 4"/>
          <p:cNvSpPr txBox="1"/>
          <p:nvPr/>
        </p:nvSpPr>
        <p:spPr>
          <a:xfrm>
            <a:off x="950976" y="2990088"/>
            <a:ext cx="3163824" cy="457200"/>
          </a:xfrm>
          <a:prstGeom prst="rect">
            <a:avLst/>
          </a:prstGeom>
          <a:noFill/>
          <a:ln/>
        </p:spPr>
        <p:txBody>
          <a:bodyPr wrap="square" lIns="0" tIns="0" rIns="0" bIns="0" rtlCol="0" anchor="t"/>
          <a:lstStyle/>
          <a:p>
            <a:pPr algn="l" indent="0" marL="0">
              <a:buNone/>
            </a:pPr>
            <a:r>
              <a:rPr lang="en-US" sz="1400" dirty="0">
                <a:solidFill>
                  <a:schemeClr val="tx1"/>
                </a:solidFill>
              </a:rPr>
              <a:t>Diego agrega a «Bruno Demo»</a:t>
            </a:r>
            <a:endParaRPr lang="en-US" sz="1400" dirty="0"/>
          </a:p>
        </p:txBody>
      </p:sp>
      <p:sp>
        <p:nvSpPr>
          <p:cNvPr id="9" name="Marco Paso 2 de CP-W10: Solicita S/ 25.00: queda Pendiente, vence en 48 h"/>
          <p:cNvSpPr/>
          <p:nvPr/>
        </p:nvSpPr>
        <p:spPr>
          <a:xfrm>
            <a:off x="4283964" y="1193292"/>
            <a:ext cx="3593592" cy="1727853"/>
          </a:xfrm>
          <a:prstGeom prst="rect">
            <a:avLst/>
          </a:prstGeom>
          <a:solidFill>
            <a:srgbClr val="FFFFFF"/>
          </a:solidFill>
          <a:ln w="9525">
            <a:solidFill>
              <a:srgbClr val="B9C6CB"/>
            </a:solidFill>
            <a:prstDash val="solid"/>
          </a:ln>
        </p:spPr>
      </p:sp>
      <p:pic>
        <p:nvPicPr>
          <p:cNvPr id="10" name="Paso 2 de CP-W10: Solicita S/ 25.00: queda Pendiente, vence en 48 h" descr="Paso 2 de CP-W10: Solicita S/ 25.00: queda Pendiente, vence en 48 h">    </p:cNvPr>
          <p:cNvPicPr>
            <a:picLocks noChangeAspect="1"/>
          </p:cNvPicPr>
          <p:nvPr/>
        </p:nvPicPr>
        <p:blipFill>
          <a:blip r:embed="rId2"/>
          <a:stretch>
            <a:fillRect/>
          </a:stretch>
        </p:blipFill>
        <p:spPr>
          <a:xfrm>
            <a:off x="4297680" y="1207008"/>
            <a:ext cx="3566160" cy="1700421"/>
          </a:xfrm>
          <a:prstGeom prst="rect">
            <a:avLst/>
          </a:prstGeom>
        </p:spPr>
      </p:pic>
      <p:sp>
        <p:nvSpPr>
          <p:cNvPr id="11" name="Número 2"/>
          <p:cNvSpPr/>
          <p:nvPr/>
        </p:nvSpPr>
        <p:spPr>
          <a:xfrm>
            <a:off x="4297680" y="2990088"/>
            <a:ext cx="329184" cy="329184"/>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2" name="Text 7"/>
          <p:cNvSpPr txBox="1"/>
          <p:nvPr/>
        </p:nvSpPr>
        <p:spPr>
          <a:xfrm>
            <a:off x="4700016" y="2990088"/>
            <a:ext cx="3163824" cy="457200"/>
          </a:xfrm>
          <a:prstGeom prst="rect">
            <a:avLst/>
          </a:prstGeom>
          <a:noFill/>
          <a:ln/>
        </p:spPr>
        <p:txBody>
          <a:bodyPr wrap="square" lIns="0" tIns="0" rIns="0" bIns="0" rtlCol="0" anchor="t"/>
          <a:lstStyle/>
          <a:p>
            <a:pPr algn="l" indent="0" marL="0">
              <a:buNone/>
            </a:pPr>
            <a:r>
              <a:rPr lang="en-US" sz="1400" dirty="0">
                <a:solidFill>
                  <a:schemeClr val="tx1"/>
                </a:solidFill>
              </a:rPr>
              <a:t>Solicita S/ 25.00: queda Pendiente, vence en 48 h</a:t>
            </a:r>
            <a:endParaRPr lang="en-US" sz="1400" dirty="0"/>
          </a:p>
        </p:txBody>
      </p:sp>
      <p:sp>
        <p:nvSpPr>
          <p:cNvPr id="13" name="Marco Paso 3 de CP-W10: Bruno acepta: se pide confirmación"/>
          <p:cNvSpPr/>
          <p:nvPr/>
        </p:nvSpPr>
        <p:spPr>
          <a:xfrm>
            <a:off x="8033004" y="1193292"/>
            <a:ext cx="3593592" cy="1727853"/>
          </a:xfrm>
          <a:prstGeom prst="rect">
            <a:avLst/>
          </a:prstGeom>
          <a:solidFill>
            <a:srgbClr val="FFFFFF"/>
          </a:solidFill>
          <a:ln w="9525">
            <a:solidFill>
              <a:srgbClr val="B9C6CB"/>
            </a:solidFill>
            <a:prstDash val="solid"/>
          </a:ln>
        </p:spPr>
      </p:sp>
      <p:pic>
        <p:nvPicPr>
          <p:cNvPr id="14" name="Paso 3 de CP-W10: Bruno acepta: se pide confirmación" descr="Paso 3 de CP-W10: Bruno acepta: se pide confirmación">    </p:cNvPr>
          <p:cNvPicPr>
            <a:picLocks noChangeAspect="1"/>
          </p:cNvPicPr>
          <p:nvPr/>
        </p:nvPicPr>
        <p:blipFill>
          <a:blip r:embed="rId3"/>
          <a:stretch>
            <a:fillRect/>
          </a:stretch>
        </p:blipFill>
        <p:spPr>
          <a:xfrm>
            <a:off x="8046720" y="1207008"/>
            <a:ext cx="3566160" cy="1700421"/>
          </a:xfrm>
          <a:prstGeom prst="rect">
            <a:avLst/>
          </a:prstGeom>
        </p:spPr>
      </p:pic>
      <p:sp>
        <p:nvSpPr>
          <p:cNvPr id="15" name="Número 3"/>
          <p:cNvSpPr/>
          <p:nvPr/>
        </p:nvSpPr>
        <p:spPr>
          <a:xfrm>
            <a:off x="8046720" y="2990088"/>
            <a:ext cx="329184" cy="329184"/>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6" name="Text 10"/>
          <p:cNvSpPr txBox="1"/>
          <p:nvPr/>
        </p:nvSpPr>
        <p:spPr>
          <a:xfrm>
            <a:off x="8449056" y="2990088"/>
            <a:ext cx="3163824" cy="457200"/>
          </a:xfrm>
          <a:prstGeom prst="rect">
            <a:avLst/>
          </a:prstGeom>
          <a:noFill/>
          <a:ln/>
        </p:spPr>
        <p:txBody>
          <a:bodyPr wrap="square" lIns="0" tIns="0" rIns="0" bIns="0" rtlCol="0" anchor="t"/>
          <a:lstStyle/>
          <a:p>
            <a:pPr algn="l" indent="0" marL="0">
              <a:buNone/>
            </a:pPr>
            <a:r>
              <a:rPr lang="en-US" sz="1400" dirty="0">
                <a:solidFill>
                  <a:schemeClr val="tx1"/>
                </a:solidFill>
              </a:rPr>
              <a:t>Bruno acepta: se pide confirmación</a:t>
            </a:r>
            <a:endParaRPr lang="en-US" sz="1400" dirty="0"/>
          </a:p>
        </p:txBody>
      </p:sp>
      <p:sp>
        <p:nvSpPr>
          <p:cNvPr id="17" name="Marco Paso 4 de CP-W10: Aceptada, con su código de operación"/>
          <p:cNvSpPr/>
          <p:nvPr/>
        </p:nvSpPr>
        <p:spPr>
          <a:xfrm>
            <a:off x="534924" y="3589020"/>
            <a:ext cx="3593592" cy="1727853"/>
          </a:xfrm>
          <a:prstGeom prst="rect">
            <a:avLst/>
          </a:prstGeom>
          <a:solidFill>
            <a:srgbClr val="FFFFFF"/>
          </a:solidFill>
          <a:ln w="9525">
            <a:solidFill>
              <a:srgbClr val="B9C6CB"/>
            </a:solidFill>
            <a:prstDash val="solid"/>
          </a:ln>
        </p:spPr>
      </p:sp>
      <p:pic>
        <p:nvPicPr>
          <p:cNvPr id="18" name="Paso 4 de CP-W10: Aceptada, con su código de operación" descr="Paso 4 de CP-W10: Aceptada, con su código de operación">    </p:cNvPr>
          <p:cNvPicPr>
            <a:picLocks noChangeAspect="1"/>
          </p:cNvPicPr>
          <p:nvPr/>
        </p:nvPicPr>
        <p:blipFill>
          <a:blip r:embed="rId4"/>
          <a:stretch>
            <a:fillRect/>
          </a:stretch>
        </p:blipFill>
        <p:spPr>
          <a:xfrm>
            <a:off x="548640" y="3602736"/>
            <a:ext cx="3566160" cy="1700421"/>
          </a:xfrm>
          <a:prstGeom prst="rect">
            <a:avLst/>
          </a:prstGeom>
        </p:spPr>
      </p:pic>
      <p:sp>
        <p:nvSpPr>
          <p:cNvPr id="19" name="Número 4"/>
          <p:cNvSpPr/>
          <p:nvPr/>
        </p:nvSpPr>
        <p:spPr>
          <a:xfrm>
            <a:off x="548640" y="5385816"/>
            <a:ext cx="329184" cy="329184"/>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0" name="Text 13"/>
          <p:cNvSpPr txBox="1"/>
          <p:nvPr/>
        </p:nvSpPr>
        <p:spPr>
          <a:xfrm>
            <a:off x="950976" y="5385816"/>
            <a:ext cx="3163824" cy="457200"/>
          </a:xfrm>
          <a:prstGeom prst="rect">
            <a:avLst/>
          </a:prstGeom>
          <a:noFill/>
          <a:ln/>
        </p:spPr>
        <p:txBody>
          <a:bodyPr wrap="square" lIns="0" tIns="0" rIns="0" bIns="0" rtlCol="0" anchor="t"/>
          <a:lstStyle/>
          <a:p>
            <a:pPr algn="l" indent="0" marL="0">
              <a:buNone/>
            </a:pPr>
            <a:r>
              <a:rPr lang="en-US" sz="1400" dirty="0">
                <a:solidFill>
                  <a:schemeClr val="tx1"/>
                </a:solidFill>
              </a:rPr>
              <a:t>Aceptada, con su código de operación</a:t>
            </a:r>
            <a:endParaRPr lang="en-US" sz="1400" dirty="0"/>
          </a:p>
        </p:txBody>
      </p:sp>
      <p:sp>
        <p:nvSpPr>
          <p:cNvPr id="21" name="Marco Paso 5 de CP-W10: Saldo de Bruno: 800 → S/ 775.00"/>
          <p:cNvSpPr/>
          <p:nvPr/>
        </p:nvSpPr>
        <p:spPr>
          <a:xfrm>
            <a:off x="4283964" y="3589020"/>
            <a:ext cx="3593592" cy="1727853"/>
          </a:xfrm>
          <a:prstGeom prst="rect">
            <a:avLst/>
          </a:prstGeom>
          <a:solidFill>
            <a:srgbClr val="FFFFFF"/>
          </a:solidFill>
          <a:ln w="9525">
            <a:solidFill>
              <a:srgbClr val="B9C6CB"/>
            </a:solidFill>
            <a:prstDash val="solid"/>
          </a:ln>
        </p:spPr>
      </p:sp>
      <p:pic>
        <p:nvPicPr>
          <p:cNvPr id="22" name="Paso 5 de CP-W10: Saldo de Bruno: 800 → S/ 775.00" descr="Paso 5 de CP-W10: Saldo de Bruno: 800 → S/ 775.00">    </p:cNvPr>
          <p:cNvPicPr>
            <a:picLocks noChangeAspect="1"/>
          </p:cNvPicPr>
          <p:nvPr/>
        </p:nvPicPr>
        <p:blipFill>
          <a:blip r:embed="rId5"/>
          <a:stretch>
            <a:fillRect/>
          </a:stretch>
        </p:blipFill>
        <p:spPr>
          <a:xfrm>
            <a:off x="4297680" y="3602736"/>
            <a:ext cx="3566160" cy="1700421"/>
          </a:xfrm>
          <a:prstGeom prst="rect">
            <a:avLst/>
          </a:prstGeom>
        </p:spPr>
      </p:pic>
      <p:sp>
        <p:nvSpPr>
          <p:cNvPr id="23" name="Número 5"/>
          <p:cNvSpPr/>
          <p:nvPr/>
        </p:nvSpPr>
        <p:spPr>
          <a:xfrm>
            <a:off x="4297680" y="5385816"/>
            <a:ext cx="329184" cy="329184"/>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4" name="Text 16"/>
          <p:cNvSpPr txBox="1"/>
          <p:nvPr/>
        </p:nvSpPr>
        <p:spPr>
          <a:xfrm>
            <a:off x="4700016" y="5385816"/>
            <a:ext cx="3163824" cy="457200"/>
          </a:xfrm>
          <a:prstGeom prst="rect">
            <a:avLst/>
          </a:prstGeom>
          <a:noFill/>
          <a:ln/>
        </p:spPr>
        <p:txBody>
          <a:bodyPr wrap="square" lIns="0" tIns="0" rIns="0" bIns="0" rtlCol="0" anchor="t"/>
          <a:lstStyle/>
          <a:p>
            <a:pPr algn="l" indent="0" marL="0">
              <a:buNone/>
            </a:pPr>
            <a:r>
              <a:rPr lang="en-US" sz="1400" b="1" dirty="0">
                <a:solidFill>
                  <a:schemeClr val="tx1"/>
                </a:solidFill>
              </a:rPr>
              <a:t>Saldo de Bruno: 800 → S/ 775.00</a:t>
            </a:r>
            <a:endParaRPr lang="en-US" sz="1400" dirty="0"/>
          </a:p>
        </p:txBody>
      </p:sp>
      <p:sp>
        <p:nvSpPr>
          <p:cNvPr id="25" name="Marco Paso 6 de CP-W10: Saldo de Diego: 2,500 → S/ 2,525.00"/>
          <p:cNvSpPr/>
          <p:nvPr/>
        </p:nvSpPr>
        <p:spPr>
          <a:xfrm>
            <a:off x="8033004" y="3589020"/>
            <a:ext cx="3593592" cy="1727853"/>
          </a:xfrm>
          <a:prstGeom prst="rect">
            <a:avLst/>
          </a:prstGeom>
          <a:solidFill>
            <a:srgbClr val="FFFFFF"/>
          </a:solidFill>
          <a:ln w="9525">
            <a:solidFill>
              <a:srgbClr val="B9C6CB"/>
            </a:solidFill>
            <a:prstDash val="solid"/>
          </a:ln>
        </p:spPr>
      </p:sp>
      <p:pic>
        <p:nvPicPr>
          <p:cNvPr id="26" name="Paso 6 de CP-W10: Saldo de Diego: 2,500 → S/ 2,525.00" descr="Paso 6 de CP-W10: Saldo de Diego: 2,500 → S/ 2,525.00">    </p:cNvPr>
          <p:cNvPicPr>
            <a:picLocks noChangeAspect="1"/>
          </p:cNvPicPr>
          <p:nvPr/>
        </p:nvPicPr>
        <p:blipFill>
          <a:blip r:embed="rId6"/>
          <a:stretch>
            <a:fillRect/>
          </a:stretch>
        </p:blipFill>
        <p:spPr>
          <a:xfrm>
            <a:off x="8046720" y="3602736"/>
            <a:ext cx="3566160" cy="1700421"/>
          </a:xfrm>
          <a:prstGeom prst="rect">
            <a:avLst/>
          </a:prstGeom>
        </p:spPr>
      </p:pic>
      <p:sp>
        <p:nvSpPr>
          <p:cNvPr id="27" name="Número 6"/>
          <p:cNvSpPr/>
          <p:nvPr/>
        </p:nvSpPr>
        <p:spPr>
          <a:xfrm>
            <a:off x="8046720" y="5385816"/>
            <a:ext cx="329184" cy="329184"/>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28" name="Text 19"/>
          <p:cNvSpPr txBox="1"/>
          <p:nvPr/>
        </p:nvSpPr>
        <p:spPr>
          <a:xfrm>
            <a:off x="8449056" y="5385816"/>
            <a:ext cx="3163824" cy="457200"/>
          </a:xfrm>
          <a:prstGeom prst="rect">
            <a:avLst/>
          </a:prstGeom>
          <a:noFill/>
          <a:ln/>
        </p:spPr>
        <p:txBody>
          <a:bodyPr wrap="square" lIns="0" tIns="0" rIns="0" bIns="0" rtlCol="0" anchor="t"/>
          <a:lstStyle/>
          <a:p>
            <a:pPr algn="l" indent="0" marL="0">
              <a:buNone/>
            </a:pPr>
            <a:r>
              <a:rPr lang="en-US" sz="1400" b="1" dirty="0">
                <a:solidFill>
                  <a:schemeClr val="tx1"/>
                </a:solidFill>
              </a:rPr>
              <a:t>Saldo de Diego: 2,500 → S/ 2,525.00</a:t>
            </a:r>
            <a:endParaRPr lang="en-US" sz="1400" dirty="0"/>
          </a:p>
        </p:txBody>
      </p:sp>
      <p:sp>
        <p:nvSpPr>
          <p:cNvPr id="29" name="Text 20"/>
          <p:cNvSpPr txBox="1"/>
          <p:nvPr/>
        </p:nvSpPr>
        <p:spPr>
          <a:xfrm>
            <a:off x="548640" y="5989320"/>
            <a:ext cx="11064240" cy="310896"/>
          </a:xfrm>
          <a:prstGeom prst="rect">
            <a:avLst/>
          </a:prstGeom>
          <a:noFill/>
          <a:ln/>
        </p:spPr>
        <p:txBody>
          <a:bodyPr wrap="square" lIns="0" tIns="0" rIns="0" bIns="0" rtlCol="0" anchor="t"/>
          <a:lstStyle/>
          <a:p>
            <a:pPr algn="l" indent="0" marL="0">
              <a:buNone/>
            </a:pPr>
            <a:r>
              <a:rPr lang="en-US" sz="1300" dirty="0">
                <a:solidFill>
                  <a:schemeClr val="accent5"/>
                </a:solidFill>
              </a:rPr>
              <a:t>Capturas de Qolqe en ejecución con los pasos de CP-W10: features/web/solicitudes_web.feature. Etiquetas: @HU-G4-01, 06, 07 y 08.</a:t>
            </a:r>
            <a:endParaRPr lang="en-US" sz="13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Lo que solo se comprueba en la pantalla</a:t>
            </a:r>
            <a:endParaRPr lang="en-US" sz="3000" dirty="0"/>
          </a:p>
        </p:txBody>
      </p:sp>
      <p:sp>
        <p:nvSpPr>
          <p:cNvPr id="4" name="Etiqueta Criterio 1 · 5 pts"/>
          <p:cNvSpPr/>
          <p:nvPr/>
        </p:nvSpPr>
        <p:spPr>
          <a:xfrm>
            <a:off x="9646920" y="475488"/>
            <a:ext cx="1965960" cy="457200"/>
          </a:xfrm>
          <a:prstGeom prst="roundRect">
            <a:avLst>
              <a:gd name="adj" fmla="val 24000"/>
            </a:avLst>
          </a:prstGeom>
          <a:solidFill>
            <a:schemeClr val="accent1"/>
          </a:solidFill>
          <a:ln/>
        </p:spPr>
        <p:txBody>
          <a:bodyPr wrap="square" lIns="0" tIns="0" rIns="0" bIns="0" rtlCol="0" anchor="ctr"/>
          <a:lstStyle/>
          <a:p>
            <a:pPr algn="ctr" indent="0" marL="0">
              <a:buNone/>
            </a:pPr>
            <a:r>
              <a:rPr lang="en-US" sz="1300" b="1" dirty="0">
                <a:solidFill>
                  <a:schemeClr val="bg1"/>
                </a:solidFill>
              </a:rPr>
              <a:t>Criterio 1 · 5 pts</a:t>
            </a:r>
            <a:endParaRPr lang="en-US" sz="1300" dirty="0"/>
          </a:p>
        </p:txBody>
      </p:sp>
      <p:sp>
        <p:nvSpPr>
          <p:cNvPr id="5" name="Marco Un error de la API se muestra"/>
          <p:cNvSpPr/>
          <p:nvPr/>
        </p:nvSpPr>
        <p:spPr>
          <a:xfrm>
            <a:off x="534924" y="1220724"/>
            <a:ext cx="3593592" cy="1727853"/>
          </a:xfrm>
          <a:prstGeom prst="rect">
            <a:avLst/>
          </a:prstGeom>
          <a:solidFill>
            <a:srgbClr val="FFFFFF"/>
          </a:solidFill>
          <a:ln w="9525">
            <a:solidFill>
              <a:srgbClr val="B9C6CB"/>
            </a:solidFill>
            <a:prstDash val="solid"/>
          </a:ln>
        </p:spPr>
      </p:sp>
      <p:pic>
        <p:nvPicPr>
          <p:cNvPr id="6" name="Un error de la API se muestra" descr="Un error de la API se muestra">    </p:cNvPr>
          <p:cNvPicPr>
            <a:picLocks noChangeAspect="1"/>
          </p:cNvPicPr>
          <p:nvPr/>
        </p:nvPicPr>
        <p:blipFill>
          <a:blip r:embed="rId1"/>
          <a:stretch>
            <a:fillRect/>
          </a:stretch>
        </p:blipFill>
        <p:spPr>
          <a:xfrm>
            <a:off x="548640" y="1234440"/>
            <a:ext cx="3566160" cy="1700421"/>
          </a:xfrm>
          <a:prstGeom prst="rect">
            <a:avLst/>
          </a:prstGeom>
        </p:spPr>
      </p:pic>
      <p:sp>
        <p:nvSpPr>
          <p:cNvPr id="7" name="Text 3"/>
          <p:cNvSpPr txBox="1"/>
          <p:nvPr/>
        </p:nvSpPr>
        <p:spPr>
          <a:xfrm>
            <a:off x="548640" y="3017520"/>
            <a:ext cx="3566160" cy="347472"/>
          </a:xfrm>
          <a:prstGeom prst="rect">
            <a:avLst/>
          </a:prstGeom>
          <a:noFill/>
          <a:ln/>
        </p:spPr>
        <p:txBody>
          <a:bodyPr wrap="square" lIns="0" tIns="0" rIns="0" bIns="0" rtlCol="0" anchor="ctr"/>
          <a:lstStyle/>
          <a:p>
            <a:pPr indent="0" marL="0">
              <a:buNone/>
            </a:pPr>
            <a:r>
              <a:rPr lang="en-US" sz="1700" b="1" dirty="0">
                <a:solidFill>
                  <a:schemeClr val="tx2"/>
                </a:solidFill>
              </a:rPr>
              <a:t>Un error de la API se muestra</a:t>
            </a:r>
            <a:endParaRPr lang="en-US" sz="1700" dirty="0"/>
          </a:p>
        </p:txBody>
      </p:sp>
      <p:sp>
        <p:nvSpPr>
          <p:cNvPr id="8" name="Text 4"/>
          <p:cNvSpPr txBox="1"/>
          <p:nvPr/>
        </p:nvSpPr>
        <p:spPr>
          <a:xfrm>
            <a:off x="548640" y="3364992"/>
            <a:ext cx="3566160" cy="310896"/>
          </a:xfrm>
          <a:prstGeom prst="rect">
            <a:avLst/>
          </a:prstGeom>
          <a:noFill/>
          <a:ln/>
        </p:spPr>
        <p:txBody>
          <a:bodyPr wrap="square" lIns="0" tIns="0" rIns="0" bIns="0" rtlCol="0" anchor="t"/>
          <a:lstStyle/>
          <a:p>
            <a:pPr algn="l" indent="0" marL="0">
              <a:buNone/>
            </a:pPr>
            <a:r>
              <a:rPr lang="en-US" sz="1300" b="1" dirty="0">
                <a:solidFill>
                  <a:schemeClr val="accent1"/>
                </a:solidFill>
              </a:rPr>
              <a:t>CP-W02 · HU-G4-01 CA1</a:t>
            </a:r>
            <a:endParaRPr lang="en-US" sz="1300" dirty="0"/>
          </a:p>
        </p:txBody>
      </p:sp>
      <p:sp>
        <p:nvSpPr>
          <p:cNvPr id="9" name="Código Un error de la API se muestra"/>
          <p:cNvSpPr/>
          <p:nvPr/>
        </p:nvSpPr>
        <p:spPr>
          <a:xfrm>
            <a:off x="548640" y="3703320"/>
            <a:ext cx="3566160" cy="1572768"/>
          </a:xfrm>
          <a:prstGeom prst="roundRect">
            <a:avLst>
              <a:gd name="adj" fmla="val 2907"/>
            </a:avLst>
          </a:prstGeom>
          <a:solidFill>
            <a:schemeClr val="tx2"/>
          </a:solidFill>
          <a:ln/>
        </p:spPr>
        <p:txBody>
          <a:bodyPr wrap="square" lIns="76200" tIns="76200" rIns="76200" bIns="7620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Cuando agrega el contacto "900000999"</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con alias "No Existe"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Entonces ve el error de contactos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"no está registrado"</a:t>
            </a:r>
            <a:endParaRPr lang="en-US" sz="1200" dirty="0"/>
          </a:p>
        </p:txBody>
      </p:sp>
      <p:sp>
        <p:nvSpPr>
          <p:cNvPr id="10" name="Por qué es web 1"/>
          <p:cNvSpPr/>
          <p:nvPr/>
        </p:nvSpPr>
        <p:spPr>
          <a:xfrm>
            <a:off x="548640" y="5367528"/>
            <a:ext cx="3566160" cy="850392"/>
          </a:xfrm>
          <a:prstGeom prst="roundRect">
            <a:avLst>
              <a:gd name="adj" fmla="val 8602"/>
            </a:avLst>
          </a:prstGeom>
          <a:solidFill>
            <a:srgbClr val="E3F3EA"/>
          </a:solidFill>
          <a:ln/>
        </p:spPr>
      </p:sp>
      <p:sp>
        <p:nvSpPr>
          <p:cNvPr id="11" name="Text 7"/>
          <p:cNvSpPr txBox="1"/>
          <p:nvPr/>
        </p:nvSpPr>
        <p:spPr>
          <a:xfrm>
            <a:off x="658368" y="5394960"/>
            <a:ext cx="3346704" cy="795528"/>
          </a:xfrm>
          <a:prstGeom prst="rect">
            <a:avLst/>
          </a:prstGeom>
          <a:noFill/>
          <a:ln/>
        </p:spPr>
        <p:txBody>
          <a:bodyPr wrap="square" lIns="0" tIns="0" rIns="0" bIns="0" rtlCol="0" anchor="ctr"/>
          <a:lstStyle/>
          <a:p>
            <a:pPr indent="0" marL="0">
              <a:buNone/>
            </a:pPr>
            <a:r>
              <a:rPr lang="en-US" sz="1400" b="1" dirty="0">
                <a:solidFill>
                  <a:schemeClr val="tx1"/>
                </a:solidFill>
              </a:rPr>
              <a:t>Por qué es web: </a:t>
            </a:r>
            <a:pPr indent="0" marL="0">
              <a:buNone/>
            </a:pPr>
            <a:r>
              <a:rPr lang="en-US" sz="1400" dirty="0">
                <a:solidFill>
                  <a:schemeClr val="tx1"/>
                </a:solidFill>
              </a:rPr>
              <a:t>La interfaz debe comunicar un error de la API</a:t>
            </a:r>
            <a:endParaRPr lang="en-US" sz="1400" dirty="0"/>
          </a:p>
        </p:txBody>
      </p:sp>
      <p:sp>
        <p:nvSpPr>
          <p:cNvPr id="12" name="Marco Vencida y sin botones"/>
          <p:cNvSpPr/>
          <p:nvPr/>
        </p:nvSpPr>
        <p:spPr>
          <a:xfrm>
            <a:off x="4283964" y="1220724"/>
            <a:ext cx="3593592" cy="1727853"/>
          </a:xfrm>
          <a:prstGeom prst="rect">
            <a:avLst/>
          </a:prstGeom>
          <a:solidFill>
            <a:srgbClr val="FFFFFF"/>
          </a:solidFill>
          <a:ln w="9525">
            <a:solidFill>
              <a:srgbClr val="B9C6CB"/>
            </a:solidFill>
            <a:prstDash val="solid"/>
          </a:ln>
        </p:spPr>
      </p:sp>
      <p:pic>
        <p:nvPicPr>
          <p:cNvPr id="13" name="Vencida y sin botones" descr="Vencida y sin botones">    </p:cNvPr>
          <p:cNvPicPr>
            <a:picLocks noChangeAspect="1"/>
          </p:cNvPicPr>
          <p:nvPr/>
        </p:nvPicPr>
        <p:blipFill>
          <a:blip r:embed="rId2"/>
          <a:stretch>
            <a:fillRect/>
          </a:stretch>
        </p:blipFill>
        <p:spPr>
          <a:xfrm>
            <a:off x="4297680" y="1234440"/>
            <a:ext cx="3566160" cy="1700421"/>
          </a:xfrm>
          <a:prstGeom prst="rect">
            <a:avLst/>
          </a:prstGeom>
        </p:spPr>
      </p:pic>
      <p:sp>
        <p:nvSpPr>
          <p:cNvPr id="14" name="Text 9"/>
          <p:cNvSpPr txBox="1"/>
          <p:nvPr/>
        </p:nvSpPr>
        <p:spPr>
          <a:xfrm>
            <a:off x="4297680" y="3017520"/>
            <a:ext cx="3566160" cy="347472"/>
          </a:xfrm>
          <a:prstGeom prst="rect">
            <a:avLst/>
          </a:prstGeom>
          <a:noFill/>
          <a:ln/>
        </p:spPr>
        <p:txBody>
          <a:bodyPr wrap="square" lIns="0" tIns="0" rIns="0" bIns="0" rtlCol="0" anchor="ctr"/>
          <a:lstStyle/>
          <a:p>
            <a:pPr indent="0" marL="0">
              <a:buNone/>
            </a:pPr>
            <a:r>
              <a:rPr lang="en-US" sz="1700" b="1" dirty="0">
                <a:solidFill>
                  <a:schemeClr val="tx2"/>
                </a:solidFill>
              </a:rPr>
              <a:t>Vencida y sin botones</a:t>
            </a:r>
            <a:endParaRPr lang="en-US" sz="1700" dirty="0"/>
          </a:p>
        </p:txBody>
      </p:sp>
      <p:sp>
        <p:nvSpPr>
          <p:cNvPr id="15" name="Text 10"/>
          <p:cNvSpPr txBox="1"/>
          <p:nvPr/>
        </p:nvSpPr>
        <p:spPr>
          <a:xfrm>
            <a:off x="4297680" y="3364992"/>
            <a:ext cx="3566160" cy="310896"/>
          </a:xfrm>
          <a:prstGeom prst="rect">
            <a:avLst/>
          </a:prstGeom>
          <a:noFill/>
          <a:ln/>
        </p:spPr>
        <p:txBody>
          <a:bodyPr wrap="square" lIns="0" tIns="0" rIns="0" bIns="0" rtlCol="0" anchor="t"/>
          <a:lstStyle/>
          <a:p>
            <a:pPr algn="l" indent="0" marL="0">
              <a:buNone/>
            </a:pPr>
            <a:r>
              <a:rPr lang="en-US" sz="1300" b="1" dirty="0">
                <a:solidFill>
                  <a:schemeClr val="accent1"/>
                </a:solidFill>
              </a:rPr>
              <a:t>CP-W15 · HU-G4-07 CA2, HU-G4-08 CA4</a:t>
            </a:r>
            <a:endParaRPr lang="en-US" sz="1300" dirty="0"/>
          </a:p>
        </p:txBody>
      </p:sp>
      <p:sp>
        <p:nvSpPr>
          <p:cNvPr id="16" name="Código Vencida y sin botones"/>
          <p:cNvSpPr/>
          <p:nvPr/>
        </p:nvSpPr>
        <p:spPr>
          <a:xfrm>
            <a:off x="4297680" y="3703320"/>
            <a:ext cx="3566160" cy="1572768"/>
          </a:xfrm>
          <a:prstGeom prst="roundRect">
            <a:avLst>
              <a:gd name="adj" fmla="val 2907"/>
            </a:avLst>
          </a:prstGeom>
          <a:solidFill>
            <a:schemeClr val="tx2"/>
          </a:solidFill>
          <a:ln/>
        </p:spPr>
        <p:txBody>
          <a:bodyPr wrap="square" lIns="76200" tIns="76200" rIns="76200" bIns="7620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Y filtra por el estado "Vencidas"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Entonces la primera solicitud está</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"Vencida" y no ofrece aceptar</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ni rechazar</a:t>
            </a:r>
            <a:endParaRPr lang="en-US" sz="1200" dirty="0"/>
          </a:p>
        </p:txBody>
      </p:sp>
      <p:sp>
        <p:nvSpPr>
          <p:cNvPr id="17" name="Por qué es web 2"/>
          <p:cNvSpPr/>
          <p:nvPr/>
        </p:nvSpPr>
        <p:spPr>
          <a:xfrm>
            <a:off x="4297680" y="5367528"/>
            <a:ext cx="3566160" cy="850392"/>
          </a:xfrm>
          <a:prstGeom prst="roundRect">
            <a:avLst>
              <a:gd name="adj" fmla="val 8602"/>
            </a:avLst>
          </a:prstGeom>
          <a:solidFill>
            <a:srgbClr val="E3F3EA"/>
          </a:solidFill>
          <a:ln/>
        </p:spPr>
      </p:sp>
      <p:sp>
        <p:nvSpPr>
          <p:cNvPr id="18" name="Text 13"/>
          <p:cNvSpPr txBox="1"/>
          <p:nvPr/>
        </p:nvSpPr>
        <p:spPr>
          <a:xfrm>
            <a:off x="4407408" y="5394960"/>
            <a:ext cx="3346704" cy="795528"/>
          </a:xfrm>
          <a:prstGeom prst="rect">
            <a:avLst/>
          </a:prstGeom>
          <a:noFill/>
          <a:ln/>
        </p:spPr>
        <p:txBody>
          <a:bodyPr wrap="square" lIns="0" tIns="0" rIns="0" bIns="0" rtlCol="0" anchor="ctr"/>
          <a:lstStyle/>
          <a:p>
            <a:pPr indent="0" marL="0">
              <a:buNone/>
            </a:pPr>
            <a:r>
              <a:rPr lang="en-US" sz="1400" b="1" dirty="0">
                <a:solidFill>
                  <a:schemeClr val="tx1"/>
                </a:solidFill>
              </a:rPr>
              <a:t>Por qué es web: </a:t>
            </a:r>
            <a:pPr indent="0" marL="0">
              <a:buNone/>
            </a:pPr>
            <a:r>
              <a:rPr lang="en-US" sz="1400" dirty="0">
                <a:solidFill>
                  <a:schemeClr val="tx1"/>
                </a:solidFill>
              </a:rPr>
              <a:t>Lo que afirma solo se ve en pantalla: los botones disponibles</a:t>
            </a:r>
            <a:endParaRPr lang="en-US" sz="1400" dirty="0"/>
          </a:p>
        </p:txBody>
      </p:sp>
      <p:sp>
        <p:nvSpPr>
          <p:cNvPr id="19" name="Marco Sin saldo: avisa y sigue pendiente"/>
          <p:cNvSpPr/>
          <p:nvPr/>
        </p:nvSpPr>
        <p:spPr>
          <a:xfrm>
            <a:off x="8033004" y="1220724"/>
            <a:ext cx="3593592" cy="1727853"/>
          </a:xfrm>
          <a:prstGeom prst="rect">
            <a:avLst/>
          </a:prstGeom>
          <a:solidFill>
            <a:srgbClr val="FFFFFF"/>
          </a:solidFill>
          <a:ln w="9525">
            <a:solidFill>
              <a:srgbClr val="B9C6CB"/>
            </a:solidFill>
            <a:prstDash val="solid"/>
          </a:ln>
        </p:spPr>
      </p:sp>
      <p:pic>
        <p:nvPicPr>
          <p:cNvPr id="20" name="Sin saldo: avisa y sigue pendiente" descr="Sin saldo: avisa y sigue pendiente">    </p:cNvPr>
          <p:cNvPicPr>
            <a:picLocks noChangeAspect="1"/>
          </p:cNvPicPr>
          <p:nvPr/>
        </p:nvPicPr>
        <p:blipFill>
          <a:blip r:embed="rId3"/>
          <a:stretch>
            <a:fillRect/>
          </a:stretch>
        </p:blipFill>
        <p:spPr>
          <a:xfrm>
            <a:off x="8046720" y="1234440"/>
            <a:ext cx="3566160" cy="1700421"/>
          </a:xfrm>
          <a:prstGeom prst="rect">
            <a:avLst/>
          </a:prstGeom>
        </p:spPr>
      </p:pic>
      <p:sp>
        <p:nvSpPr>
          <p:cNvPr id="21" name="Text 15"/>
          <p:cNvSpPr txBox="1"/>
          <p:nvPr/>
        </p:nvSpPr>
        <p:spPr>
          <a:xfrm>
            <a:off x="8046720" y="3017520"/>
            <a:ext cx="3566160" cy="347472"/>
          </a:xfrm>
          <a:prstGeom prst="rect">
            <a:avLst/>
          </a:prstGeom>
          <a:noFill/>
          <a:ln/>
        </p:spPr>
        <p:txBody>
          <a:bodyPr wrap="square" lIns="0" tIns="0" rIns="0" bIns="0" rtlCol="0" anchor="ctr"/>
          <a:lstStyle/>
          <a:p>
            <a:pPr indent="0" marL="0">
              <a:buNone/>
            </a:pPr>
            <a:r>
              <a:rPr lang="en-US" sz="1700" b="1" dirty="0">
                <a:solidFill>
                  <a:schemeClr val="tx2"/>
                </a:solidFill>
              </a:rPr>
              <a:t>Sin saldo: avisa y sigue pendiente</a:t>
            </a:r>
            <a:endParaRPr lang="en-US" sz="1700" dirty="0"/>
          </a:p>
        </p:txBody>
      </p:sp>
      <p:sp>
        <p:nvSpPr>
          <p:cNvPr id="22" name="Text 16"/>
          <p:cNvSpPr txBox="1"/>
          <p:nvPr/>
        </p:nvSpPr>
        <p:spPr>
          <a:xfrm>
            <a:off x="8046720" y="3364992"/>
            <a:ext cx="3566160" cy="310896"/>
          </a:xfrm>
          <a:prstGeom prst="rect">
            <a:avLst/>
          </a:prstGeom>
          <a:noFill/>
          <a:ln/>
        </p:spPr>
        <p:txBody>
          <a:bodyPr wrap="square" lIns="0" tIns="0" rIns="0" bIns="0" rtlCol="0" anchor="t"/>
          <a:lstStyle/>
          <a:p>
            <a:pPr algn="l" indent="0" marL="0">
              <a:buNone/>
            </a:pPr>
            <a:r>
              <a:rPr lang="en-US" sz="1300" b="1" dirty="0">
                <a:solidFill>
                  <a:schemeClr val="accent1"/>
                </a:solidFill>
              </a:rPr>
              <a:t>CP-W17 · HU-G4-08 CA2</a:t>
            </a:r>
            <a:endParaRPr lang="en-US" sz="1300" dirty="0"/>
          </a:p>
        </p:txBody>
      </p:sp>
      <p:sp>
        <p:nvSpPr>
          <p:cNvPr id="23" name="Código Sin saldo: avisa y sigue pendiente"/>
          <p:cNvSpPr/>
          <p:nvPr/>
        </p:nvSpPr>
        <p:spPr>
          <a:xfrm>
            <a:off x="8046720" y="3703320"/>
            <a:ext cx="3566160" cy="1572768"/>
          </a:xfrm>
          <a:prstGeom prst="roundRect">
            <a:avLst>
              <a:gd name="adj" fmla="val 2907"/>
            </a:avLst>
          </a:prstGeom>
          <a:solidFill>
            <a:schemeClr val="tx2"/>
          </a:solidFill>
          <a:ln/>
        </p:spPr>
        <p:txBody>
          <a:bodyPr wrap="square" lIns="76200" tIns="76200" rIns="76200" bIns="7620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Cuando acepta la solicitud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"Regalo de Ana"</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Entonces ve el aviso</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"Saldo insuficiente"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Y la solicitud está "Pendiente"</a:t>
            </a:r>
            <a:endParaRPr lang="en-US" sz="1200" dirty="0"/>
          </a:p>
        </p:txBody>
      </p:sp>
      <p:sp>
        <p:nvSpPr>
          <p:cNvPr id="24" name="Por qué es web 3"/>
          <p:cNvSpPr/>
          <p:nvPr/>
        </p:nvSpPr>
        <p:spPr>
          <a:xfrm>
            <a:off x="8046720" y="5367528"/>
            <a:ext cx="3566160" cy="850392"/>
          </a:xfrm>
          <a:prstGeom prst="roundRect">
            <a:avLst>
              <a:gd name="adj" fmla="val 8602"/>
            </a:avLst>
          </a:prstGeom>
          <a:solidFill>
            <a:srgbClr val="E3F3EA"/>
          </a:solidFill>
          <a:ln/>
        </p:spPr>
      </p:sp>
      <p:sp>
        <p:nvSpPr>
          <p:cNvPr id="25" name="Text 19"/>
          <p:cNvSpPr txBox="1"/>
          <p:nvPr/>
        </p:nvSpPr>
        <p:spPr>
          <a:xfrm>
            <a:off x="8156448" y="5394960"/>
            <a:ext cx="3346704" cy="795528"/>
          </a:xfrm>
          <a:prstGeom prst="rect">
            <a:avLst/>
          </a:prstGeom>
          <a:noFill/>
          <a:ln/>
        </p:spPr>
        <p:txBody>
          <a:bodyPr wrap="square" lIns="0" tIns="0" rIns="0" bIns="0" rtlCol="0" anchor="ctr"/>
          <a:lstStyle/>
          <a:p>
            <a:pPr indent="0" marL="0">
              <a:buNone/>
            </a:pPr>
            <a:r>
              <a:rPr lang="en-US" sz="1400" b="1" dirty="0">
                <a:solidFill>
                  <a:schemeClr val="tx1"/>
                </a:solidFill>
              </a:rPr>
              <a:t>Por qué es web: </a:t>
            </a:r>
            <a:pPr indent="0" marL="0">
              <a:buNone/>
            </a:pPr>
            <a:r>
              <a:rPr lang="en-US" sz="1400" dirty="0">
                <a:solidFill>
                  <a:schemeClr val="tx1"/>
                </a:solidFill>
              </a:rPr>
              <a:t>Recorrido con dinero y un error que el usuario debe ver</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Page Object, sin esperas fijas, 3 veces</a:t>
            </a:r>
            <a:endParaRPr lang="en-US" sz="3000" dirty="0"/>
          </a:p>
        </p:txBody>
      </p:sp>
      <p:sp>
        <p:nvSpPr>
          <p:cNvPr id="4" name="Etiqueta Criterio 2 · 2 pts"/>
          <p:cNvSpPr/>
          <p:nvPr/>
        </p:nvSpPr>
        <p:spPr>
          <a:xfrm>
            <a:off x="9646920" y="475488"/>
            <a:ext cx="1965960" cy="457200"/>
          </a:xfrm>
          <a:prstGeom prst="roundRect">
            <a:avLst>
              <a:gd name="adj" fmla="val 24000"/>
            </a:avLst>
          </a:prstGeom>
          <a:solidFill>
            <a:schemeClr val="accent1"/>
          </a:solidFill>
          <a:ln/>
        </p:spPr>
        <p:txBody>
          <a:bodyPr wrap="square" lIns="0" tIns="0" rIns="0" bIns="0" rtlCol="0" anchor="ctr"/>
          <a:lstStyle/>
          <a:p>
            <a:pPr algn="ctr" indent="0" marL="0">
              <a:buNone/>
            </a:pPr>
            <a:r>
              <a:rPr lang="en-US" sz="1300" b="1" dirty="0">
                <a:solidFill>
                  <a:schemeClr val="bg1"/>
                </a:solidFill>
              </a:rPr>
              <a:t>Criterio 2 · 2 pts</a:t>
            </a:r>
            <a:endParaRPr lang="en-US" sz="1300" dirty="0"/>
          </a:p>
        </p:txBody>
      </p:sp>
      <p:sp>
        <p:nvSpPr>
          <p:cNvPr id="5" name="Text 2"/>
          <p:cNvSpPr txBox="1"/>
          <p:nvPr/>
        </p:nvSpPr>
        <p:spPr>
          <a:xfrm>
            <a:off x="548640" y="1207008"/>
            <a:ext cx="5577840" cy="310896"/>
          </a:xfrm>
          <a:prstGeom prst="rect">
            <a:avLst/>
          </a:prstGeom>
          <a:noFill/>
          <a:ln/>
        </p:spPr>
        <p:txBody>
          <a:bodyPr wrap="square" lIns="0" tIns="0" rIns="0" bIns="0" rtlCol="0" anchor="t"/>
          <a:lstStyle/>
          <a:p>
            <a:pPr algn="l" indent="0" marL="0">
              <a:buNone/>
            </a:pPr>
            <a:r>
              <a:rPr lang="en-US" sz="1400" b="1" dirty="0">
                <a:solidFill>
                  <a:schemeClr val="accent1"/>
                </a:solidFill>
              </a:rPr>
              <a:t>features/web/solicitudes_web.feature: dice qué hace el usuario</a:t>
            </a:r>
            <a:endParaRPr lang="en-US" sz="1400" dirty="0"/>
          </a:p>
        </p:txBody>
      </p:sp>
      <p:sp>
        <p:nvSpPr>
          <p:cNvPr id="6" name="Código Escenario"/>
          <p:cNvSpPr/>
          <p:nvPr/>
        </p:nvSpPr>
        <p:spPr>
          <a:xfrm>
            <a:off x="548640" y="1517904"/>
            <a:ext cx="5577840" cy="1920240"/>
          </a:xfrm>
          <a:prstGeom prst="roundRect">
            <a:avLst>
              <a:gd name="adj" fmla="val 2381"/>
            </a:avLst>
          </a:prstGeom>
          <a:solidFill>
            <a:schemeClr val="tx2"/>
          </a:solidFill>
          <a:ln/>
        </p:spPr>
        <p:txBody>
          <a:bodyPr wrap="square" lIns="76200" tIns="76200" rIns="76200" bIns="7620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@HU-G4-08 @CA2 @CP-W17</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Escenario: CP-W17 Sin saldo se muestra el error y la</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solicitud sigue pendiente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Dado que "Ana" le solicitó "100.00" a "Carla"</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Y que "Carla" ingresó a Qolqe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Cuando acepta la solicitud "Regalo de Ana"</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Entonces ve el aviso "Saldo insuficiente"</a:t>
            </a:r>
            <a:endParaRPr lang="en-US" sz="1200" dirty="0"/>
          </a:p>
        </p:txBody>
      </p:sp>
      <p:sp>
        <p:nvSpPr>
          <p:cNvPr id="7" name="Text 4"/>
          <p:cNvSpPr txBox="1"/>
          <p:nvPr/>
        </p:nvSpPr>
        <p:spPr>
          <a:xfrm>
            <a:off x="548640" y="3566160"/>
            <a:ext cx="5577840" cy="310896"/>
          </a:xfrm>
          <a:prstGeom prst="rect">
            <a:avLst/>
          </a:prstGeom>
          <a:noFill/>
          <a:ln/>
        </p:spPr>
        <p:txBody>
          <a:bodyPr wrap="square" lIns="0" tIns="0" rIns="0" bIns="0" rtlCol="0" anchor="t"/>
          <a:lstStyle/>
          <a:p>
            <a:pPr algn="l" indent="0" marL="0">
              <a:buNone/>
            </a:pPr>
            <a:r>
              <a:rPr lang="en-US" sz="1400" b="1" dirty="0">
                <a:solidFill>
                  <a:schemeClr val="accent1"/>
                </a:solidFill>
              </a:rPr>
              <a:t>tests/e2e/pages/SolicitudesPage.ts: el único que conoce los localizadores</a:t>
            </a:r>
            <a:endParaRPr lang="en-US" sz="1400" dirty="0"/>
          </a:p>
        </p:txBody>
      </p:sp>
      <p:sp>
        <p:nvSpPr>
          <p:cNvPr id="8" name="Código Page Object"/>
          <p:cNvSpPr/>
          <p:nvPr/>
        </p:nvSpPr>
        <p:spPr>
          <a:xfrm>
            <a:off x="548640" y="3877056"/>
            <a:ext cx="5577840" cy="2340864"/>
          </a:xfrm>
          <a:prstGeom prst="roundRect">
            <a:avLst>
              <a:gd name="adj" fmla="val 1953"/>
            </a:avLst>
          </a:prstGeom>
          <a:solidFill>
            <a:schemeClr val="tx2"/>
          </a:solidFill>
          <a:ln/>
        </p:spPr>
        <p:txBody>
          <a:bodyPr wrap="square" lIns="76200" tIns="76200" rIns="76200" bIns="7620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async aceptar(motivo: string)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await this.fila(motivo)</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.getByTestId('boton-aceptar-solicitud').click();</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await expect(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this.page.getByTestId('confirmar-mensaje')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).toContainText(motivo);</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await this.page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.getByTestId('boton-confirmar-accion').click();</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p:txBody>
      </p:sp>
      <p:sp>
        <p:nvSpPr>
          <p:cNvPr id="9" name="Marco Contadores del reporte de Playwright: 57 pasan, 0 fallan, 0 flaky"/>
          <p:cNvSpPr/>
          <p:nvPr/>
        </p:nvSpPr>
        <p:spPr>
          <a:xfrm>
            <a:off x="6341364" y="1220724"/>
            <a:ext cx="5285232" cy="530838"/>
          </a:xfrm>
          <a:prstGeom prst="rect">
            <a:avLst/>
          </a:prstGeom>
          <a:solidFill>
            <a:srgbClr val="FFFFFF"/>
          </a:solidFill>
          <a:ln w="9525">
            <a:solidFill>
              <a:srgbClr val="B9C6CB"/>
            </a:solidFill>
            <a:prstDash val="solid"/>
          </a:ln>
        </p:spPr>
      </p:sp>
      <p:pic>
        <p:nvPicPr>
          <p:cNvPr id="10" name="Contadores del reporte de Playwright: 57 pasan, 0 fallan, 0 flaky" descr="Contadores del reporte de Playwright: 57 pasan, 0 fallan, 0 flaky">    </p:cNvPr>
          <p:cNvPicPr>
            <a:picLocks noChangeAspect="1"/>
          </p:cNvPicPr>
          <p:nvPr/>
        </p:nvPicPr>
        <p:blipFill>
          <a:blip r:embed="rId1"/>
          <a:stretch>
            <a:fillRect/>
          </a:stretch>
        </p:blipFill>
        <p:spPr>
          <a:xfrm>
            <a:off x="6355080" y="1234440"/>
            <a:ext cx="5257800" cy="503406"/>
          </a:xfrm>
          <a:prstGeom prst="rect">
            <a:avLst/>
          </a:prstGeom>
        </p:spPr>
      </p:pic>
      <p:sp>
        <p:nvSpPr>
          <p:cNvPr id="11" name="Marco Lista de escenarios en el reporte publicado de Playwright"/>
          <p:cNvSpPr/>
          <p:nvPr/>
        </p:nvSpPr>
        <p:spPr>
          <a:xfrm>
            <a:off x="6341364" y="1796796"/>
            <a:ext cx="5285232" cy="1180929"/>
          </a:xfrm>
          <a:prstGeom prst="rect">
            <a:avLst/>
          </a:prstGeom>
          <a:solidFill>
            <a:srgbClr val="FFFFFF"/>
          </a:solidFill>
          <a:ln w="9525">
            <a:solidFill>
              <a:srgbClr val="B9C6CB"/>
            </a:solidFill>
            <a:prstDash val="solid"/>
          </a:ln>
        </p:spPr>
      </p:sp>
      <p:pic>
        <p:nvPicPr>
          <p:cNvPr id="12" name="Lista de escenarios en el reporte publicado de Playwright" descr="Lista de escenarios en el reporte publicado de Playwright">    </p:cNvPr>
          <p:cNvPicPr>
            <a:picLocks noChangeAspect="1"/>
          </p:cNvPicPr>
          <p:nvPr/>
        </p:nvPicPr>
        <p:blipFill>
          <a:blip r:embed="rId2"/>
          <a:stretch>
            <a:fillRect/>
          </a:stretch>
        </p:blipFill>
        <p:spPr>
          <a:xfrm>
            <a:off x="6355080" y="1810512"/>
            <a:ext cx="5257800" cy="1153497"/>
          </a:xfrm>
          <a:prstGeom prst="rect">
            <a:avLst/>
          </a:prstGeom>
        </p:spPr>
      </p:pic>
      <p:sp>
        <p:nvSpPr>
          <p:cNvPr id="13" name="Text 8"/>
          <p:cNvSpPr txBox="1"/>
          <p:nvPr/>
        </p:nvSpPr>
        <p:spPr>
          <a:xfrm>
            <a:off x="6355080" y="3008376"/>
            <a:ext cx="5257800" cy="310896"/>
          </a:xfrm>
          <a:prstGeom prst="rect">
            <a:avLst/>
          </a:prstGeom>
          <a:noFill/>
          <a:ln/>
        </p:spPr>
        <p:txBody>
          <a:bodyPr wrap="square" lIns="0" tIns="0" rIns="0" bIns="0" rtlCol="0" anchor="t"/>
          <a:lstStyle/>
          <a:p>
            <a:pPr algn="l" indent="0" marL="0">
              <a:buNone/>
            </a:pPr>
            <a:r>
              <a:rPr lang="en-US" sz="1300" dirty="0">
                <a:solidFill>
                  <a:schemeClr val="accent5"/>
                </a:solidFill>
              </a:rPr>
              <a:t>Reporte publicado en Pages, run #10</a:t>
            </a:r>
            <a:endParaRPr lang="en-US" sz="1300" dirty="0"/>
          </a:p>
        </p:txBody>
      </p:sp>
      <p:sp>
        <p:nvSpPr>
          <p:cNvPr id="14" name="Tarjeta esperas fijas: búsqueda de waitForTimeout y sleep en tests/"/>
          <p:cNvSpPr/>
          <p:nvPr/>
        </p:nvSpPr>
        <p:spPr>
          <a:xfrm>
            <a:off x="6355080" y="3337560"/>
            <a:ext cx="2542032" cy="1371600"/>
          </a:xfrm>
          <a:prstGeom prst="roundRect">
            <a:avLst>
              <a:gd name="adj" fmla="val 5333"/>
            </a:avLst>
          </a:prstGeom>
          <a:solidFill>
            <a:schemeClr val="bg2"/>
          </a:solidFill>
          <a:ln/>
        </p:spPr>
      </p:sp>
      <p:sp>
        <p:nvSpPr>
          <p:cNvPr id="15" name="Text 10"/>
          <p:cNvSpPr txBox="1"/>
          <p:nvPr/>
        </p:nvSpPr>
        <p:spPr>
          <a:xfrm>
            <a:off x="6473952" y="3410712"/>
            <a:ext cx="2304288" cy="603504"/>
          </a:xfrm>
          <a:prstGeom prst="rect">
            <a:avLst/>
          </a:prstGeom>
          <a:noFill/>
          <a:ln/>
        </p:spPr>
        <p:txBody>
          <a:bodyPr wrap="square" lIns="0" tIns="0" rIns="0" bIns="0" rtlCol="0" anchor="ctr"/>
          <a:lstStyle/>
          <a:p>
            <a:pPr indent="0" marL="0">
              <a:buNone/>
            </a:pPr>
            <a:r>
              <a:rPr lang="en-US" sz="3200" b="1" dirty="0">
                <a:solidFill>
                  <a:schemeClr val="accent3"/>
                </a:solidFill>
                <a:latin typeface="Cambria" pitchFamily="34" charset="0"/>
                <a:ea typeface="Cambria" pitchFamily="34" charset="-122"/>
                <a:cs typeface="Cambria" pitchFamily="34" charset="-120"/>
              </a:rPr>
              <a:t>0</a:t>
            </a:r>
            <a:endParaRPr lang="en-US" sz="3200" dirty="0"/>
          </a:p>
        </p:txBody>
      </p:sp>
      <p:sp>
        <p:nvSpPr>
          <p:cNvPr id="16" name="Text 11"/>
          <p:cNvSpPr txBox="1"/>
          <p:nvPr/>
        </p:nvSpPr>
        <p:spPr>
          <a:xfrm>
            <a:off x="6473952" y="4014216"/>
            <a:ext cx="2304288" cy="640080"/>
          </a:xfrm>
          <a:prstGeom prst="rect">
            <a:avLst/>
          </a:prstGeom>
          <a:noFill/>
          <a:ln/>
        </p:spPr>
        <p:txBody>
          <a:bodyPr wrap="square" lIns="0" tIns="0" rIns="0" bIns="0" rtlCol="0" anchor="t"/>
          <a:lstStyle/>
          <a:p>
            <a:pPr indent="0" marL="0">
              <a:buNone/>
            </a:pPr>
            <a:r>
              <a:rPr lang="en-US" sz="1300" dirty="0">
                <a:solidFill>
                  <a:schemeClr val="tx1"/>
                </a:solidFill>
              </a:rPr>
              <a:t>esperas fijas: búsqueda de waitForTimeout y sleep en tests/</a:t>
            </a:r>
            <a:endParaRPr lang="en-US" sz="1300" dirty="0"/>
          </a:p>
        </p:txBody>
      </p:sp>
      <p:sp>
        <p:nvSpPr>
          <p:cNvPr id="17" name="Tarjeta npx playwright test --repeat-each=3"/>
          <p:cNvSpPr/>
          <p:nvPr/>
        </p:nvSpPr>
        <p:spPr>
          <a:xfrm>
            <a:off x="9070848" y="3337560"/>
            <a:ext cx="2542032" cy="1371600"/>
          </a:xfrm>
          <a:prstGeom prst="roundRect">
            <a:avLst>
              <a:gd name="adj" fmla="val 5333"/>
            </a:avLst>
          </a:prstGeom>
          <a:solidFill>
            <a:schemeClr val="bg2"/>
          </a:solidFill>
          <a:ln/>
        </p:spPr>
      </p:sp>
      <p:sp>
        <p:nvSpPr>
          <p:cNvPr id="18" name="Text 13"/>
          <p:cNvSpPr txBox="1"/>
          <p:nvPr/>
        </p:nvSpPr>
        <p:spPr>
          <a:xfrm>
            <a:off x="9189720" y="3410712"/>
            <a:ext cx="2304288" cy="603504"/>
          </a:xfrm>
          <a:prstGeom prst="rect">
            <a:avLst/>
          </a:prstGeom>
          <a:noFill/>
          <a:ln/>
        </p:spPr>
        <p:txBody>
          <a:bodyPr wrap="square" lIns="0" tIns="0" rIns="0" bIns="0" rtlCol="0" anchor="ctr"/>
          <a:lstStyle/>
          <a:p>
            <a:pPr indent="0" marL="0">
              <a:buNone/>
            </a:pPr>
            <a:r>
              <a:rPr lang="en-US" sz="3200" b="1" dirty="0">
                <a:solidFill>
                  <a:schemeClr val="accent3"/>
                </a:solidFill>
                <a:latin typeface="Cambria" pitchFamily="34" charset="0"/>
                <a:ea typeface="Cambria" pitchFamily="34" charset="-122"/>
                <a:cs typeface="Cambria" pitchFamily="34" charset="-120"/>
              </a:rPr>
              <a:t>57/57</a:t>
            </a:r>
            <a:endParaRPr lang="en-US" sz="3200" dirty="0"/>
          </a:p>
        </p:txBody>
      </p:sp>
      <p:sp>
        <p:nvSpPr>
          <p:cNvPr id="19" name="Text 14"/>
          <p:cNvSpPr txBox="1"/>
          <p:nvPr/>
        </p:nvSpPr>
        <p:spPr>
          <a:xfrm>
            <a:off x="9189720" y="4014216"/>
            <a:ext cx="2304288" cy="640080"/>
          </a:xfrm>
          <a:prstGeom prst="rect">
            <a:avLst/>
          </a:prstGeom>
          <a:noFill/>
          <a:ln/>
        </p:spPr>
        <p:txBody>
          <a:bodyPr wrap="square" lIns="0" tIns="0" rIns="0" bIns="0" rtlCol="0" anchor="t"/>
          <a:lstStyle/>
          <a:p>
            <a:pPr indent="0" marL="0">
              <a:buNone/>
            </a:pPr>
            <a:r>
              <a:rPr lang="en-US" sz="1300" dirty="0">
                <a:solidFill>
                  <a:schemeClr val="tx1"/>
                </a:solidFill>
              </a:rPr>
              <a:t>npx playwright test --repeat-each=3</a:t>
            </a:r>
            <a:endParaRPr lang="en-US" sz="1300" dirty="0"/>
          </a:p>
        </p:txBody>
      </p:sp>
      <p:sp>
        <p:nvSpPr>
          <p:cNvPr id="20" name="Tarjeta Page Objects: Login, Comun, Contactos, Solicitudes, Transferir"/>
          <p:cNvSpPr/>
          <p:nvPr/>
        </p:nvSpPr>
        <p:spPr>
          <a:xfrm>
            <a:off x="6355080" y="4846320"/>
            <a:ext cx="2542032" cy="1371600"/>
          </a:xfrm>
          <a:prstGeom prst="roundRect">
            <a:avLst>
              <a:gd name="adj" fmla="val 5333"/>
            </a:avLst>
          </a:prstGeom>
          <a:solidFill>
            <a:schemeClr val="bg2"/>
          </a:solidFill>
          <a:ln/>
        </p:spPr>
      </p:sp>
      <p:sp>
        <p:nvSpPr>
          <p:cNvPr id="21" name="Text 16"/>
          <p:cNvSpPr txBox="1"/>
          <p:nvPr/>
        </p:nvSpPr>
        <p:spPr>
          <a:xfrm>
            <a:off x="6473952" y="4919472"/>
            <a:ext cx="2304288" cy="603504"/>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5</a:t>
            </a:r>
            <a:endParaRPr lang="en-US" sz="3200" dirty="0"/>
          </a:p>
        </p:txBody>
      </p:sp>
      <p:sp>
        <p:nvSpPr>
          <p:cNvPr id="22" name="Text 17"/>
          <p:cNvSpPr txBox="1"/>
          <p:nvPr/>
        </p:nvSpPr>
        <p:spPr>
          <a:xfrm>
            <a:off x="6473952" y="5522976"/>
            <a:ext cx="2304288" cy="640080"/>
          </a:xfrm>
          <a:prstGeom prst="rect">
            <a:avLst/>
          </a:prstGeom>
          <a:noFill/>
          <a:ln/>
        </p:spPr>
        <p:txBody>
          <a:bodyPr wrap="square" lIns="0" tIns="0" rIns="0" bIns="0" rtlCol="0" anchor="t"/>
          <a:lstStyle/>
          <a:p>
            <a:pPr indent="0" marL="0">
              <a:buNone/>
            </a:pPr>
            <a:r>
              <a:rPr lang="en-US" sz="1300" dirty="0">
                <a:solidFill>
                  <a:schemeClr val="tx1"/>
                </a:solidFill>
              </a:rPr>
              <a:t>Page Objects: Login, Comun, Contactos, Solicitudes, Transferir</a:t>
            </a:r>
            <a:endParaRPr lang="en-US" sz="1300" dirty="0"/>
          </a:p>
        </p:txBody>
      </p:sp>
      <p:sp>
        <p:nvSpPr>
          <p:cNvPr id="23" name="Tarjeta reinicio de datos y reloj por escenario, vía API de soporte"/>
          <p:cNvSpPr/>
          <p:nvPr/>
        </p:nvSpPr>
        <p:spPr>
          <a:xfrm>
            <a:off x="9070848" y="4846320"/>
            <a:ext cx="2542032" cy="1371600"/>
          </a:xfrm>
          <a:prstGeom prst="roundRect">
            <a:avLst>
              <a:gd name="adj" fmla="val 5333"/>
            </a:avLst>
          </a:prstGeom>
          <a:solidFill>
            <a:schemeClr val="bg2"/>
          </a:solidFill>
          <a:ln/>
        </p:spPr>
      </p:sp>
      <p:sp>
        <p:nvSpPr>
          <p:cNvPr id="24" name="Text 19"/>
          <p:cNvSpPr txBox="1"/>
          <p:nvPr/>
        </p:nvSpPr>
        <p:spPr>
          <a:xfrm>
            <a:off x="9189720" y="4919472"/>
            <a:ext cx="2304288" cy="603504"/>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1</a:t>
            </a:r>
            <a:endParaRPr lang="en-US" sz="3200" dirty="0"/>
          </a:p>
        </p:txBody>
      </p:sp>
      <p:sp>
        <p:nvSpPr>
          <p:cNvPr id="25" name="Text 20"/>
          <p:cNvSpPr txBox="1"/>
          <p:nvPr/>
        </p:nvSpPr>
        <p:spPr>
          <a:xfrm>
            <a:off x="9189720" y="5522976"/>
            <a:ext cx="2304288" cy="640080"/>
          </a:xfrm>
          <a:prstGeom prst="rect">
            <a:avLst/>
          </a:prstGeom>
          <a:noFill/>
          <a:ln/>
        </p:spPr>
        <p:txBody>
          <a:bodyPr wrap="square" lIns="0" tIns="0" rIns="0" bIns="0" rtlCol="0" anchor="t"/>
          <a:lstStyle/>
          <a:p>
            <a:pPr indent="0" marL="0">
              <a:buNone/>
            </a:pPr>
            <a:r>
              <a:rPr lang="en-US" sz="1300" dirty="0">
                <a:solidFill>
                  <a:schemeClr val="tx1"/>
                </a:solidFill>
              </a:rPr>
              <a:t>reinicio de datos y reloj por escenario, vía API de soporte</a:t>
            </a:r>
            <a:endParaRPr lang="en-US" sz="13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Por qué Playwright y no Robot o Selenium</a:t>
            </a:r>
            <a:endParaRPr lang="en-US" sz="3000" dirty="0"/>
          </a:p>
        </p:txBody>
      </p:sp>
      <p:sp>
        <p:nvSpPr>
          <p:cNvPr id="4" name="Etiqueta Criterio 2 · 2 pts"/>
          <p:cNvSpPr/>
          <p:nvPr/>
        </p:nvSpPr>
        <p:spPr>
          <a:xfrm>
            <a:off x="9646920" y="475488"/>
            <a:ext cx="1965960" cy="457200"/>
          </a:xfrm>
          <a:prstGeom prst="roundRect">
            <a:avLst>
              <a:gd name="adj" fmla="val 24000"/>
            </a:avLst>
          </a:prstGeom>
          <a:solidFill>
            <a:schemeClr val="accent1"/>
          </a:solidFill>
          <a:ln/>
        </p:spPr>
        <p:txBody>
          <a:bodyPr wrap="square" lIns="0" tIns="0" rIns="0" bIns="0" rtlCol="0" anchor="ctr"/>
          <a:lstStyle/>
          <a:p>
            <a:pPr algn="ctr" indent="0" marL="0">
              <a:buNone/>
            </a:pPr>
            <a:r>
              <a:rPr lang="en-US" sz="1300" b="1" dirty="0">
                <a:solidFill>
                  <a:schemeClr val="bg1"/>
                </a:solidFill>
              </a:rPr>
              <a:t>Criterio 2 · 2 pts</a:t>
            </a:r>
            <a:endParaRPr lang="en-US" sz="1300" dirty="0"/>
          </a:p>
        </p:txBody>
      </p:sp>
      <p:graphicFrame>
        <p:nvGraphicFramePr>
          <p:cNvPr id="9" name="Comparación de herramientas"/>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834640"/>
                <a:gridCol w="3383280"/>
                <a:gridCol w="2423160"/>
                <a:gridCol w="2423160"/>
              </a:tblGrid>
              <a:tr h="676656">
                <a:tc>
                  <a:txBody>
                    <a:bodyPr/>
                    <a:lstStyle/>
                    <a:p>
                      <a:pPr indent="0" marL="0">
                        <a:buNone/>
                      </a:pPr>
                      <a:r>
                        <a:rPr lang="en-US" sz="1500" b="1" dirty="0">
                          <a:solidFill>
                            <a:schemeClr val="bg1"/>
                          </a:solidFill>
                        </a:rPr>
                        <a:t>Lo que pide la entrega</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Playwright + playwright-bdd</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Selenium</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Robot Framework Browser</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chemeClr val="tx2"/>
                    </a:solidFill>
                  </a:tcPr>
                </a:tc>
              </a:tr>
              <a:tr h="676656">
                <a:tc>
                  <a:txBody>
                    <a:bodyPr/>
                    <a:lstStyle/>
                    <a:p>
                      <a:pPr indent="0" marL="0">
                        <a:buNone/>
                      </a:pPr>
                      <a:r>
                        <a:rPr lang="en-US" sz="1500" dirty="0">
                          <a:solidFill>
                            <a:schemeClr val="tx1"/>
                          </a:solidFill>
                        </a:rPr>
                        <a:t>Sin esperas fijas</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b="1" dirty="0">
                          <a:solidFill>
                            <a:schemeClr val="accent1"/>
                          </a:solidFill>
                        </a:rPr>
                        <a:t>Espera automática en acciones y aserciones</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E3F3EA"/>
                    </a:solidFill>
                  </a:tcPr>
                </a:tc>
                <a:tc>
                  <a:txBody>
                    <a:bodyPr/>
                    <a:lstStyle/>
                    <a:p>
                      <a:pPr indent="0" marL="0">
                        <a:buNone/>
                      </a:pPr>
                      <a:r>
                        <a:rPr lang="en-US" sz="1500" dirty="0">
                          <a:solidFill>
                            <a:schemeClr val="tx1"/>
                          </a:solidFill>
                        </a:rPr>
                        <a:t>Esperas explícitas escritas a mano</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chemeClr val="tx1"/>
                          </a:solidFill>
                        </a:rPr>
                        <a:t>Espera automática</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676656">
                <a:tc>
                  <a:txBody>
                    <a:bodyPr/>
                    <a:lstStyle/>
                    <a:p>
                      <a:pPr indent="0" marL="0">
                        <a:buNone/>
                      </a:pPr>
                      <a:r>
                        <a:rPr lang="en-US" sz="1500" dirty="0">
                          <a:solidFill>
                            <a:schemeClr val="tx1"/>
                          </a:solidFill>
                        </a:rPr>
                        <a:t>Pasar 3 veces seguidas</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b="1" dirty="0">
                          <a:solidFill>
                            <a:schemeClr val="accent1"/>
                          </a:solidFill>
                        </a:rPr>
                        <a:t>--repeat-each=3</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E3F3EA"/>
                    </a:solidFill>
                  </a:tcPr>
                </a:tc>
                <a:tc>
                  <a:txBody>
                    <a:bodyPr/>
                    <a:lstStyle/>
                    <a:p>
                      <a:pPr indent="0" marL="0">
                        <a:buNone/>
                      </a:pPr>
                      <a:r>
                        <a:rPr lang="en-US" sz="1500" dirty="0">
                          <a:solidFill>
                            <a:schemeClr val="tx1"/>
                          </a:solidFill>
                        </a:rPr>
                        <a:t>Hay que armar el ciclo</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chemeClr val="tx1"/>
                          </a:solidFill>
                        </a:rPr>
                        <a:t>Hay que armar el ciclo</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676656">
                <a:tc>
                  <a:txBody>
                    <a:bodyPr/>
                    <a:lstStyle/>
                    <a:p>
                      <a:pPr indent="0" marL="0">
                        <a:buNone/>
                      </a:pPr>
                      <a:r>
                        <a:rPr lang="en-US" sz="1500" dirty="0">
                          <a:solidFill>
                            <a:schemeClr val="tx1"/>
                          </a:solidFill>
                        </a:rPr>
                        <a:t>Fallo esperado con defecto</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b="1" dirty="0">
                          <a:solidFill>
                            <a:schemeClr val="accent1"/>
                          </a:solidFill>
                        </a:rPr>
                        <a:t>test.fail, etiqueta @fail</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E3F3EA"/>
                    </a:solidFill>
                  </a:tcPr>
                </a:tc>
                <a:tc>
                  <a:txBody>
                    <a:bodyPr/>
                    <a:lstStyle/>
                    <a:p>
                      <a:pPr indent="0" marL="0">
                        <a:buNone/>
                      </a:pPr>
                      <a:r>
                        <a:rPr lang="en-US" sz="1500" dirty="0">
                          <a:solidFill>
                            <a:schemeClr val="tx1"/>
                          </a:solidFill>
                        </a:rPr>
                        <a:t>Según el framework de pruebas</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chemeClr val="tx1"/>
                          </a:solidFill>
                        </a:rPr>
                        <a:t>--skiponfailure: queda como skip</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676656">
                <a:tc>
                  <a:txBody>
                    <a:bodyPr/>
                    <a:lstStyle/>
                    <a:p>
                      <a:pPr indent="0" marL="0">
                        <a:buNone/>
                      </a:pPr>
                      <a:r>
                        <a:rPr lang="en-US" sz="1500" dirty="0">
                          <a:solidFill>
                            <a:schemeClr val="tx1"/>
                          </a:solidFill>
                        </a:rPr>
                        <a:t>Detectar pruebas frágiles</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b="1" dirty="0">
                          <a:solidFill>
                            <a:schemeClr val="accent1"/>
                          </a:solidFill>
                        </a:rPr>
                        <a:t>failOnFlakyTests</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E3F3EA"/>
                    </a:solidFill>
                  </a:tcPr>
                </a:tc>
                <a:tc>
                  <a:txBody>
                    <a:bodyPr/>
                    <a:lstStyle/>
                    <a:p>
                      <a:pPr indent="0" marL="0">
                        <a:buNone/>
                      </a:pPr>
                      <a:r>
                        <a:rPr lang="en-US" sz="1500" dirty="0">
                          <a:solidFill>
                            <a:schemeClr val="tx1"/>
                          </a:solidFill>
                        </a:rPr>
                        <a:t>Hay que armarlo</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chemeClr val="tx1"/>
                          </a:solidFill>
                        </a:rPr>
                        <a:t>Hay que armarlo</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676656">
                <a:tc>
                  <a:txBody>
                    <a:bodyPr/>
                    <a:lstStyle/>
                    <a:p>
                      <a:pPr indent="0" marL="0">
                        <a:buNone/>
                      </a:pPr>
                      <a:r>
                        <a:rPr lang="en-US" sz="1500" dirty="0">
                          <a:solidFill>
                            <a:schemeClr val="tx1"/>
                          </a:solidFill>
                        </a:rPr>
                        <a:t>Reporte para personas y CI</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b="1" dirty="0">
                          <a:solidFill>
                            <a:schemeClr val="accent1"/>
                          </a:solidFill>
                        </a:rPr>
                        <a:t>HTML con pasos y trazas, JUnit</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E3F3EA"/>
                    </a:solidFill>
                  </a:tcPr>
                </a:tc>
                <a:tc>
                  <a:txBody>
                    <a:bodyPr/>
                    <a:lstStyle/>
                    <a:p>
                      <a:pPr indent="0" marL="0">
                        <a:buNone/>
                      </a:pPr>
                      <a:r>
                        <a:rPr lang="en-US" sz="1500" dirty="0">
                          <a:solidFill>
                            <a:schemeClr val="tx1"/>
                          </a:solidFill>
                        </a:rPr>
                        <a:t>Requiere librerías aparte</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chemeClr val="tx1"/>
                          </a:solidFill>
                        </a:rPr>
                        <a:t>HTML y xUnit</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676656">
                <a:tc>
                  <a:txBody>
                    <a:bodyPr/>
                    <a:lstStyle/>
                    <a:p>
                      <a:pPr indent="0" marL="0">
                        <a:buNone/>
                      </a:pPr>
                      <a:r>
                        <a:rPr lang="en-US" sz="1500" dirty="0">
                          <a:solidFill>
                            <a:schemeClr val="tx1"/>
                          </a:solidFill>
                        </a:rPr>
                        <a:t>Escenarios en Gherkin</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b="1" dirty="0">
                          <a:solidFill>
                            <a:schemeClr val="accent1"/>
                          </a:solidFill>
                        </a:rPr>
                        <a:t>playwright-bdd, visto en la clase 11</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E3F3EA"/>
                    </a:solidFill>
                  </a:tcPr>
                </a:tc>
                <a:tc>
                  <a:txBody>
                    <a:bodyPr/>
                    <a:lstStyle/>
                    <a:p>
                      <a:pPr indent="0" marL="0">
                        <a:buNone/>
                      </a:pPr>
                      <a:r>
                        <a:rPr lang="en-US" sz="1500" dirty="0">
                          <a:solidFill>
                            <a:schemeClr val="tx1"/>
                          </a:solidFill>
                        </a:rPr>
                        <a:t>Con Behave o Cucumber</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chemeClr val="tx1"/>
                          </a:solidFill>
                        </a:rPr>
                        <a:t>Estilo propio Given/When/Then</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El pipeline del run #10, etapa por etapa</a:t>
            </a:r>
            <a:endParaRPr lang="en-US" sz="3000" dirty="0"/>
          </a:p>
        </p:txBody>
      </p:sp>
      <p:sp>
        <p:nvSpPr>
          <p:cNvPr id="4" name="Etiqueta Criterio 3 · 5 pts"/>
          <p:cNvSpPr/>
          <p:nvPr/>
        </p:nvSpPr>
        <p:spPr>
          <a:xfrm>
            <a:off x="9646920" y="475488"/>
            <a:ext cx="1965960" cy="457200"/>
          </a:xfrm>
          <a:prstGeom prst="roundRect">
            <a:avLst>
              <a:gd name="adj" fmla="val 24000"/>
            </a:avLst>
          </a:prstGeom>
          <a:solidFill>
            <a:schemeClr val="accent1"/>
          </a:solidFill>
          <a:ln/>
        </p:spPr>
        <p:txBody>
          <a:bodyPr wrap="square" lIns="0" tIns="0" rIns="0" bIns="0" rtlCol="0" anchor="ctr"/>
          <a:lstStyle/>
          <a:p>
            <a:pPr algn="ctr" indent="0" marL="0">
              <a:buNone/>
            </a:pPr>
            <a:r>
              <a:rPr lang="en-US" sz="1300" b="1" dirty="0">
                <a:solidFill>
                  <a:schemeClr val="bg1"/>
                </a:solidFill>
              </a:rPr>
              <a:t>Criterio 3 · 5 pts</a:t>
            </a:r>
            <a:endParaRPr lang="en-US" sz="1300" dirty="0"/>
          </a:p>
        </p:txBody>
      </p:sp>
      <p:sp>
        <p:nvSpPr>
          <p:cNvPr id="5" name="Text 2"/>
          <p:cNvSpPr txBox="1"/>
          <p:nvPr/>
        </p:nvSpPr>
        <p:spPr>
          <a:xfrm>
            <a:off x="548640" y="1188720"/>
            <a:ext cx="11064240" cy="310896"/>
          </a:xfrm>
          <a:prstGeom prst="rect">
            <a:avLst/>
          </a:prstGeom>
          <a:noFill/>
          <a:ln/>
        </p:spPr>
        <p:txBody>
          <a:bodyPr wrap="square" lIns="0" tIns="0" rIns="0" bIns="0" rtlCol="0" anchor="t"/>
          <a:lstStyle/>
          <a:p>
            <a:pPr algn="l" indent="0" marL="0">
              <a:buNone/>
            </a:pPr>
            <a:r>
              <a:rPr lang="en-US" sz="1300" b="1" dirty="0">
                <a:solidFill>
                  <a:schemeClr val="accent5"/>
                </a:solidFill>
              </a:rPr>
              <a:t>WORKFLOW · .github/workflows/pruebas.yml · RUNNER ubuntu-24.04 · total 3 min 9 s</a:t>
            </a:r>
            <a:endParaRPr lang="en-US" sz="1300" dirty="0"/>
          </a:p>
        </p:txBody>
      </p:sp>
      <p:sp>
        <p:nvSpPr>
          <p:cNvPr id="6" name="Etapa EVENTO"/>
          <p:cNvSpPr/>
          <p:nvPr/>
        </p:nvSpPr>
        <p:spPr>
          <a:xfrm>
            <a:off x="548640" y="1508760"/>
            <a:ext cx="1874520" cy="1371600"/>
          </a:xfrm>
          <a:prstGeom prst="roundRect">
            <a:avLst>
              <a:gd name="adj" fmla="val 5333"/>
            </a:avLst>
          </a:prstGeom>
          <a:solidFill>
            <a:schemeClr val="tx2"/>
          </a:solidFill>
          <a:ln/>
        </p:spPr>
      </p:sp>
      <p:sp>
        <p:nvSpPr>
          <p:cNvPr id="7" name="Text 4"/>
          <p:cNvSpPr txBox="1"/>
          <p:nvPr/>
        </p:nvSpPr>
        <p:spPr>
          <a:xfrm>
            <a:off x="594360" y="1508760"/>
            <a:ext cx="1783080" cy="1371600"/>
          </a:xfrm>
          <a:prstGeom prst="rect">
            <a:avLst/>
          </a:prstGeom>
          <a:noFill/>
          <a:ln/>
        </p:spPr>
        <p:txBody>
          <a:bodyPr wrap="square" lIns="25400" tIns="25400" rIns="25400" bIns="25400" rtlCol="0" anchor="ctr"/>
          <a:lstStyle/>
          <a:p>
            <a:pPr algn="ctr" indent="0" marL="0">
              <a:buNone/>
            </a:pPr>
            <a:r>
              <a:rPr lang="en-US" sz="1600" b="1" dirty="0">
                <a:solidFill>
                  <a:schemeClr val="bg1"/>
                </a:solidFill>
              </a:rPr>
              <a:t>EVENTO</a:t>
            </a:r>
            <a:endParaRPr lang="en-US" sz="1600" dirty="0"/>
          </a:p>
          <a:p>
            <a:pPr algn="ctr" indent="0" marL="0">
              <a:buNone/>
            </a:pPr>
            <a:r>
              <a:rPr lang="en-US" sz="1400" b="1" dirty="0">
                <a:solidFill>
                  <a:srgbClr val="FFE9A8"/>
                </a:solidFill>
              </a:rPr>
              <a:t>push, pull_request</a:t>
            </a:r>
            <a:endParaRPr lang="en-US" sz="1600" dirty="0"/>
          </a:p>
        </p:txBody>
      </p:sp>
      <p:sp>
        <p:nvSpPr>
          <p:cNvPr id="8" name="Flecha"/>
          <p:cNvSpPr/>
          <p:nvPr/>
        </p:nvSpPr>
        <p:spPr>
          <a:xfrm>
            <a:off x="2441448" y="2075688"/>
            <a:ext cx="192024" cy="237744"/>
          </a:xfrm>
          <a:prstGeom prst="rightArrow">
            <a:avLst/>
          </a:prstGeom>
          <a:solidFill>
            <a:schemeClr val="accent5"/>
          </a:solidFill>
          <a:ln/>
        </p:spPr>
      </p:sp>
      <p:sp>
        <p:nvSpPr>
          <p:cNvPr id="9" name="Etapa JOB api"/>
          <p:cNvSpPr/>
          <p:nvPr/>
        </p:nvSpPr>
        <p:spPr>
          <a:xfrm>
            <a:off x="2651760" y="1508760"/>
            <a:ext cx="2423160" cy="1371600"/>
          </a:xfrm>
          <a:prstGeom prst="roundRect">
            <a:avLst>
              <a:gd name="adj" fmla="val 5333"/>
            </a:avLst>
          </a:prstGeom>
          <a:solidFill>
            <a:schemeClr val="accent1"/>
          </a:solidFill>
          <a:ln/>
        </p:spPr>
      </p:sp>
      <p:sp>
        <p:nvSpPr>
          <p:cNvPr id="10" name="Text 7"/>
          <p:cNvSpPr txBox="1"/>
          <p:nvPr/>
        </p:nvSpPr>
        <p:spPr>
          <a:xfrm>
            <a:off x="2697480" y="1508760"/>
            <a:ext cx="2331720" cy="1371600"/>
          </a:xfrm>
          <a:prstGeom prst="rect">
            <a:avLst/>
          </a:prstGeom>
          <a:noFill/>
          <a:ln/>
        </p:spPr>
        <p:txBody>
          <a:bodyPr wrap="square" lIns="25400" tIns="25400" rIns="25400" bIns="25400" rtlCol="0" anchor="ctr"/>
          <a:lstStyle/>
          <a:p>
            <a:pPr algn="ctr" indent="0" marL="0">
              <a:buNone/>
            </a:pPr>
            <a:r>
              <a:rPr lang="en-US" sz="1600" b="1" dirty="0">
                <a:solidFill>
                  <a:schemeClr val="bg1"/>
                </a:solidFill>
              </a:rPr>
              <a:t>JOB api</a:t>
            </a:r>
            <a:endParaRPr lang="en-US" sz="1600" dirty="0"/>
          </a:p>
          <a:p>
            <a:pPr algn="ctr" indent="0" marL="0">
              <a:buNone/>
            </a:pPr>
            <a:r>
              <a:rPr lang="en-US" sz="1400" b="1" dirty="0">
                <a:solidFill>
                  <a:srgbClr val="FFE9A8"/>
                </a:solidFill>
              </a:rPr>
              <a:t>1 min 8 s</a:t>
            </a:r>
            <a:endParaRPr lang="en-US" sz="1600" dirty="0"/>
          </a:p>
          <a:p>
            <a:pPr algn="ctr" indent="0" marL="0">
              <a:buNone/>
            </a:pPr>
            <a:r>
              <a:rPr lang="en-US" sz="1300" dirty="0">
                <a:solidFill>
                  <a:schemeClr val="bg1"/>
                </a:solidFill>
              </a:rPr>
              <a:t>pytest-bdd: 64 + 4 xfail</a:t>
            </a:r>
            <a:endParaRPr lang="en-US" sz="1600" dirty="0"/>
          </a:p>
          <a:p>
            <a:pPr algn="ctr" indent="0" marL="0">
              <a:buNone/>
            </a:pPr>
            <a:r>
              <a:rPr lang="en-US" sz="1300" dirty="0">
                <a:solidFill>
                  <a:schemeClr val="bg1"/>
                </a:solidFill>
              </a:rPr>
              <a:t>Schemathesis: 728 casos</a:t>
            </a:r>
            <a:endParaRPr lang="en-US" sz="1600" dirty="0"/>
          </a:p>
        </p:txBody>
      </p:sp>
      <p:sp>
        <p:nvSpPr>
          <p:cNvPr id="11" name="Flecha"/>
          <p:cNvSpPr/>
          <p:nvPr/>
        </p:nvSpPr>
        <p:spPr>
          <a:xfrm>
            <a:off x="5093208" y="2075688"/>
            <a:ext cx="192024" cy="237744"/>
          </a:xfrm>
          <a:prstGeom prst="rightArrow">
            <a:avLst/>
          </a:prstGeom>
          <a:solidFill>
            <a:schemeClr val="accent5"/>
          </a:solidFill>
          <a:ln/>
        </p:spPr>
      </p:sp>
      <p:sp>
        <p:nvSpPr>
          <p:cNvPr id="12" name="Etapa JOB web"/>
          <p:cNvSpPr/>
          <p:nvPr/>
        </p:nvSpPr>
        <p:spPr>
          <a:xfrm>
            <a:off x="5303520" y="1508760"/>
            <a:ext cx="2240280" cy="1371600"/>
          </a:xfrm>
          <a:prstGeom prst="roundRect">
            <a:avLst>
              <a:gd name="adj" fmla="val 5333"/>
            </a:avLst>
          </a:prstGeom>
          <a:solidFill>
            <a:schemeClr val="accent1"/>
          </a:solidFill>
          <a:ln/>
        </p:spPr>
      </p:sp>
      <p:sp>
        <p:nvSpPr>
          <p:cNvPr id="13" name="Text 10"/>
          <p:cNvSpPr txBox="1"/>
          <p:nvPr/>
        </p:nvSpPr>
        <p:spPr>
          <a:xfrm>
            <a:off x="5349240" y="1508760"/>
            <a:ext cx="2148840" cy="1371600"/>
          </a:xfrm>
          <a:prstGeom prst="rect">
            <a:avLst/>
          </a:prstGeom>
          <a:noFill/>
          <a:ln/>
        </p:spPr>
        <p:txBody>
          <a:bodyPr wrap="square" lIns="25400" tIns="25400" rIns="25400" bIns="25400" rtlCol="0" anchor="ctr"/>
          <a:lstStyle/>
          <a:p>
            <a:pPr algn="ctr" indent="0" marL="0">
              <a:buNone/>
            </a:pPr>
            <a:r>
              <a:rPr lang="en-US" sz="1600" b="1" dirty="0">
                <a:solidFill>
                  <a:schemeClr val="bg1"/>
                </a:solidFill>
              </a:rPr>
              <a:t>JOB web</a:t>
            </a:r>
            <a:endParaRPr lang="en-US" sz="1600" dirty="0"/>
          </a:p>
          <a:p>
            <a:pPr algn="ctr" indent="0" marL="0">
              <a:buNone/>
            </a:pPr>
            <a:r>
              <a:rPr lang="en-US" sz="1400" b="1" dirty="0">
                <a:solidFill>
                  <a:srgbClr val="FFE9A8"/>
                </a:solidFill>
              </a:rPr>
              <a:t>1 min 34 s</a:t>
            </a:r>
            <a:endParaRPr lang="en-US" sz="1600" dirty="0"/>
          </a:p>
          <a:p>
            <a:pPr algn="ctr" indent="0" marL="0">
              <a:buNone/>
            </a:pPr>
            <a:r>
              <a:rPr lang="en-US" sz="1300" dirty="0">
                <a:solidFill>
                  <a:schemeClr val="bg1"/>
                </a:solidFill>
              </a:rPr>
              <a:t>needs: api</a:t>
            </a:r>
            <a:endParaRPr lang="en-US" sz="1600" dirty="0"/>
          </a:p>
          <a:p>
            <a:pPr algn="ctr" indent="0" marL="0">
              <a:buNone/>
            </a:pPr>
            <a:r>
              <a:rPr lang="en-US" sz="1300" dirty="0">
                <a:solidFill>
                  <a:schemeClr val="bg1"/>
                </a:solidFill>
              </a:rPr>
              <a:t>Playwright ×3: 57/57</a:t>
            </a:r>
            <a:endParaRPr lang="en-US" sz="1600" dirty="0"/>
          </a:p>
        </p:txBody>
      </p:sp>
      <p:sp>
        <p:nvSpPr>
          <p:cNvPr id="14" name="Flecha"/>
          <p:cNvSpPr/>
          <p:nvPr/>
        </p:nvSpPr>
        <p:spPr>
          <a:xfrm>
            <a:off x="7562088" y="2075688"/>
            <a:ext cx="192024" cy="237744"/>
          </a:xfrm>
          <a:prstGeom prst="rightArrow">
            <a:avLst/>
          </a:prstGeom>
          <a:solidFill>
            <a:schemeClr val="accent5"/>
          </a:solidFill>
          <a:ln/>
        </p:spPr>
      </p:sp>
      <p:sp>
        <p:nvSpPr>
          <p:cNvPr id="15" name="Etapa JOB reportes"/>
          <p:cNvSpPr/>
          <p:nvPr/>
        </p:nvSpPr>
        <p:spPr>
          <a:xfrm>
            <a:off x="7772400" y="1508760"/>
            <a:ext cx="2240280" cy="1371600"/>
          </a:xfrm>
          <a:prstGeom prst="roundRect">
            <a:avLst>
              <a:gd name="adj" fmla="val 5333"/>
            </a:avLst>
          </a:prstGeom>
          <a:solidFill>
            <a:schemeClr val="accent1"/>
          </a:solidFill>
          <a:ln/>
        </p:spPr>
      </p:sp>
      <p:sp>
        <p:nvSpPr>
          <p:cNvPr id="16" name="Text 13"/>
          <p:cNvSpPr txBox="1"/>
          <p:nvPr/>
        </p:nvSpPr>
        <p:spPr>
          <a:xfrm>
            <a:off x="7818120" y="1508760"/>
            <a:ext cx="2148840" cy="1371600"/>
          </a:xfrm>
          <a:prstGeom prst="rect">
            <a:avLst/>
          </a:prstGeom>
          <a:noFill/>
          <a:ln/>
        </p:spPr>
        <p:txBody>
          <a:bodyPr wrap="square" lIns="25400" tIns="25400" rIns="25400" bIns="25400" rtlCol="0" anchor="ctr"/>
          <a:lstStyle/>
          <a:p>
            <a:pPr algn="ctr" indent="0" marL="0">
              <a:buNone/>
            </a:pPr>
            <a:r>
              <a:rPr lang="en-US" sz="1600" b="1" dirty="0">
                <a:solidFill>
                  <a:schemeClr val="bg1"/>
                </a:solidFill>
              </a:rPr>
              <a:t>JOB reportes</a:t>
            </a:r>
            <a:endParaRPr lang="en-US" sz="1600" dirty="0"/>
          </a:p>
          <a:p>
            <a:pPr algn="ctr" indent="0" marL="0">
              <a:buNone/>
            </a:pPr>
            <a:r>
              <a:rPr lang="en-US" sz="1400" b="1" dirty="0">
                <a:solidFill>
                  <a:srgbClr val="FFE9A8"/>
                </a:solidFill>
              </a:rPr>
              <a:t>18 s</a:t>
            </a:r>
            <a:endParaRPr lang="en-US" sz="1600" dirty="0"/>
          </a:p>
          <a:p>
            <a:pPr algn="ctr" indent="0" marL="0">
              <a:buNone/>
            </a:pPr>
            <a:r>
              <a:rPr lang="en-US" sz="1300" dirty="0">
                <a:solidFill>
                  <a:schemeClr val="bg1"/>
                </a:solidFill>
              </a:rPr>
              <a:t>needs: [api, web]</a:t>
            </a:r>
            <a:endParaRPr lang="en-US" sz="1600" dirty="0"/>
          </a:p>
          <a:p>
            <a:pPr algn="ctr" indent="0" marL="0">
              <a:buNone/>
            </a:pPr>
            <a:r>
              <a:rPr lang="en-US" sz="1300" dirty="0">
                <a:solidFill>
                  <a:schemeClr val="bg1"/>
                </a:solidFill>
              </a:rPr>
              <a:t>solo en main: matriz</a:t>
            </a:r>
            <a:endParaRPr lang="en-US" sz="1600" dirty="0"/>
          </a:p>
        </p:txBody>
      </p:sp>
      <p:sp>
        <p:nvSpPr>
          <p:cNvPr id="17" name="Flecha"/>
          <p:cNvSpPr/>
          <p:nvPr/>
        </p:nvSpPr>
        <p:spPr>
          <a:xfrm>
            <a:off x="10030968" y="2075688"/>
            <a:ext cx="192024" cy="237744"/>
          </a:xfrm>
          <a:prstGeom prst="rightArrow">
            <a:avLst/>
          </a:prstGeom>
          <a:solidFill>
            <a:schemeClr val="accent5"/>
          </a:solidFill>
          <a:ln/>
        </p:spPr>
      </p:sp>
      <p:sp>
        <p:nvSpPr>
          <p:cNvPr id="18" name="Etapa Pages"/>
          <p:cNvSpPr/>
          <p:nvPr/>
        </p:nvSpPr>
        <p:spPr>
          <a:xfrm>
            <a:off x="10241280" y="1508760"/>
            <a:ext cx="1371600" cy="1371600"/>
          </a:xfrm>
          <a:prstGeom prst="roundRect">
            <a:avLst>
              <a:gd name="adj" fmla="val 5333"/>
            </a:avLst>
          </a:prstGeom>
          <a:solidFill>
            <a:schemeClr val="tx2"/>
          </a:solidFill>
          <a:ln/>
        </p:spPr>
      </p:sp>
      <p:sp>
        <p:nvSpPr>
          <p:cNvPr id="19" name="Text 16"/>
          <p:cNvSpPr txBox="1"/>
          <p:nvPr/>
        </p:nvSpPr>
        <p:spPr>
          <a:xfrm>
            <a:off x="10287000" y="1508760"/>
            <a:ext cx="1280160" cy="1371600"/>
          </a:xfrm>
          <a:prstGeom prst="rect">
            <a:avLst/>
          </a:prstGeom>
          <a:noFill/>
          <a:ln/>
        </p:spPr>
        <p:txBody>
          <a:bodyPr wrap="square" lIns="25400" tIns="25400" rIns="25400" bIns="25400" rtlCol="0" anchor="ctr"/>
          <a:lstStyle/>
          <a:p>
            <a:pPr algn="ctr" indent="0" marL="0">
              <a:buNone/>
            </a:pPr>
            <a:r>
              <a:rPr lang="en-US" sz="1600" b="1" dirty="0">
                <a:solidFill>
                  <a:schemeClr val="bg1"/>
                </a:solidFill>
              </a:rPr>
              <a:t>Pages</a:t>
            </a:r>
            <a:endParaRPr lang="en-US" sz="1600" dirty="0"/>
          </a:p>
          <a:p>
            <a:pPr algn="ctr" indent="0" marL="0">
              <a:buNone/>
            </a:pPr>
            <a:r>
              <a:rPr lang="en-US" sz="1400" b="1" dirty="0">
                <a:solidFill>
                  <a:srgbClr val="FFE9A8"/>
                </a:solidFill>
              </a:rPr>
              <a:t>publicado</a:t>
            </a:r>
            <a:endParaRPr lang="en-US" sz="1600" dirty="0"/>
          </a:p>
          <a:p>
            <a:pPr algn="ctr" indent="0" marL="0">
              <a:buNone/>
            </a:pPr>
            <a:r>
              <a:rPr lang="en-US" sz="1300" dirty="0">
                <a:solidFill>
                  <a:schemeClr val="bg1"/>
                </a:solidFill>
              </a:rPr>
              <a:t>api/, web/,</a:t>
            </a:r>
            <a:endParaRPr lang="en-US" sz="1600" dirty="0"/>
          </a:p>
          <a:p>
            <a:pPr algn="ctr" indent="0" marL="0">
              <a:buNone/>
            </a:pPr>
            <a:r>
              <a:rPr lang="en-US" sz="1300" dirty="0">
                <a:solidFill>
                  <a:schemeClr val="bg1"/>
                </a:solidFill>
              </a:rPr>
              <a:t>contrato/</a:t>
            </a:r>
            <a:endParaRPr lang="en-US" sz="1600" dirty="0"/>
          </a:p>
        </p:txBody>
      </p:sp>
      <p:sp>
        <p:nvSpPr>
          <p:cNvPr id="20" name="Text 17"/>
          <p:cNvSpPr txBox="1"/>
          <p:nvPr/>
        </p:nvSpPr>
        <p:spPr>
          <a:xfrm>
            <a:off x="548640" y="3035808"/>
            <a:ext cx="5120640" cy="310896"/>
          </a:xfrm>
          <a:prstGeom prst="rect">
            <a:avLst/>
          </a:prstGeom>
          <a:noFill/>
          <a:ln/>
        </p:spPr>
        <p:txBody>
          <a:bodyPr wrap="square" lIns="0" tIns="0" rIns="0" bIns="0" rtlCol="0" anchor="t"/>
          <a:lstStyle/>
          <a:p>
            <a:pPr algn="l" indent="0" marL="0">
              <a:buNone/>
            </a:pPr>
            <a:r>
              <a:rPr lang="en-US" sz="1400" b="1" dirty="0">
                <a:solidFill>
                  <a:schemeClr val="accent1"/>
                </a:solidFill>
              </a:rPr>
              <a:t>Extracto del YAML real</a:t>
            </a:r>
            <a:endParaRPr lang="en-US" sz="1400" dirty="0"/>
          </a:p>
        </p:txBody>
      </p:sp>
      <p:sp>
        <p:nvSpPr>
          <p:cNvPr id="21" name="Código Workflow"/>
          <p:cNvSpPr/>
          <p:nvPr/>
        </p:nvSpPr>
        <p:spPr>
          <a:xfrm>
            <a:off x="548640" y="3346704"/>
            <a:ext cx="5120640" cy="2871216"/>
          </a:xfrm>
          <a:prstGeom prst="roundRect">
            <a:avLst>
              <a:gd name="adj" fmla="val 1592"/>
            </a:avLst>
          </a:prstGeom>
          <a:solidFill>
            <a:schemeClr val="tx2"/>
          </a:solidFill>
          <a:ln/>
        </p:spPr>
        <p:txBody>
          <a:bodyPr wrap="square" lIns="76200" tIns="76200" rIns="76200" bIns="7620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on:</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push:</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branches: [main]</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pull_request: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branches: [main]</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jobs:</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api:</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runs-on: ubuntu-24.04</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web:</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needs: api</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 npx playwright test --repeat-each=3</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reportes:</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needs: [api, web]</a:t>
            </a:r>
            <a:endParaRPr lang="en-US" sz="1100" dirty="0"/>
          </a:p>
        </p:txBody>
      </p:sp>
      <p:sp>
        <p:nvSpPr>
          <p:cNvPr id="22" name="Principio Lo rápido primero"/>
          <p:cNvSpPr/>
          <p:nvPr/>
        </p:nvSpPr>
        <p:spPr>
          <a:xfrm>
            <a:off x="5897880" y="3108960"/>
            <a:ext cx="5715000" cy="704088"/>
          </a:xfrm>
          <a:prstGeom prst="roundRect">
            <a:avLst>
              <a:gd name="adj" fmla="val 10390"/>
            </a:avLst>
          </a:prstGeom>
          <a:solidFill>
            <a:schemeClr val="bg2"/>
          </a:solidFill>
          <a:ln/>
        </p:spPr>
      </p:sp>
      <p:sp>
        <p:nvSpPr>
          <p:cNvPr id="23" name="Text 20"/>
          <p:cNvSpPr txBox="1"/>
          <p:nvPr/>
        </p:nvSpPr>
        <p:spPr>
          <a:xfrm>
            <a:off x="6035040" y="3154680"/>
            <a:ext cx="5440680" cy="274320"/>
          </a:xfrm>
          <a:prstGeom prst="rect">
            <a:avLst/>
          </a:prstGeom>
          <a:noFill/>
          <a:ln/>
        </p:spPr>
        <p:txBody>
          <a:bodyPr wrap="square" lIns="0" tIns="0" rIns="0" bIns="0" rtlCol="0" anchor="ctr"/>
          <a:lstStyle/>
          <a:p>
            <a:pPr indent="0" marL="0">
              <a:buNone/>
            </a:pPr>
            <a:r>
              <a:rPr lang="en-US" sz="1400" b="1" dirty="0">
                <a:solidFill>
                  <a:schemeClr val="accent1"/>
                </a:solidFill>
              </a:rPr>
              <a:t>Lo rápido primero</a:t>
            </a:r>
            <a:endParaRPr lang="en-US" sz="1400" dirty="0"/>
          </a:p>
        </p:txBody>
      </p:sp>
      <p:sp>
        <p:nvSpPr>
          <p:cNvPr id="24" name="Text 21"/>
          <p:cNvSpPr txBox="1"/>
          <p:nvPr/>
        </p:nvSpPr>
        <p:spPr>
          <a:xfrm>
            <a:off x="6035040" y="3438144"/>
            <a:ext cx="5440680" cy="310896"/>
          </a:xfrm>
          <a:prstGeom prst="rect">
            <a:avLst/>
          </a:prstGeom>
          <a:noFill/>
          <a:ln/>
        </p:spPr>
        <p:txBody>
          <a:bodyPr wrap="square" lIns="0" tIns="0" rIns="0" bIns="0" rtlCol="0" anchor="ctr"/>
          <a:lstStyle/>
          <a:p>
            <a:pPr indent="0" marL="0">
              <a:buNone/>
            </a:pPr>
            <a:r>
              <a:rPr lang="en-US" sz="1300" dirty="0">
                <a:solidFill>
                  <a:schemeClr val="tx1"/>
                </a:solidFill>
              </a:rPr>
              <a:t>Si falla api, web queda skipped y no se gasta en lo caro</a:t>
            </a:r>
            <a:endParaRPr lang="en-US" sz="1300" dirty="0"/>
          </a:p>
        </p:txBody>
      </p:sp>
      <p:sp>
        <p:nvSpPr>
          <p:cNvPr id="25" name="Principio Cada etapa deja evidencia"/>
          <p:cNvSpPr/>
          <p:nvPr/>
        </p:nvSpPr>
        <p:spPr>
          <a:xfrm>
            <a:off x="5897880" y="3904488"/>
            <a:ext cx="5715000" cy="704088"/>
          </a:xfrm>
          <a:prstGeom prst="roundRect">
            <a:avLst>
              <a:gd name="adj" fmla="val 10390"/>
            </a:avLst>
          </a:prstGeom>
          <a:solidFill>
            <a:schemeClr val="bg2"/>
          </a:solidFill>
          <a:ln/>
        </p:spPr>
      </p:sp>
      <p:sp>
        <p:nvSpPr>
          <p:cNvPr id="26" name="Text 23"/>
          <p:cNvSpPr txBox="1"/>
          <p:nvPr/>
        </p:nvSpPr>
        <p:spPr>
          <a:xfrm>
            <a:off x="6035040" y="3950208"/>
            <a:ext cx="5440680" cy="274320"/>
          </a:xfrm>
          <a:prstGeom prst="rect">
            <a:avLst/>
          </a:prstGeom>
          <a:noFill/>
          <a:ln/>
        </p:spPr>
        <p:txBody>
          <a:bodyPr wrap="square" lIns="0" tIns="0" rIns="0" bIns="0" rtlCol="0" anchor="ctr"/>
          <a:lstStyle/>
          <a:p>
            <a:pPr indent="0" marL="0">
              <a:buNone/>
            </a:pPr>
            <a:r>
              <a:rPr lang="en-US" sz="1400" b="1" dirty="0">
                <a:solidFill>
                  <a:schemeClr val="accent1"/>
                </a:solidFill>
              </a:rPr>
              <a:t>Cada etapa deja evidencia</a:t>
            </a:r>
            <a:endParaRPr lang="en-US" sz="1400" dirty="0"/>
          </a:p>
        </p:txBody>
      </p:sp>
      <p:sp>
        <p:nvSpPr>
          <p:cNvPr id="27" name="Text 24"/>
          <p:cNvSpPr txBox="1"/>
          <p:nvPr/>
        </p:nvSpPr>
        <p:spPr>
          <a:xfrm>
            <a:off x="6035040" y="4233672"/>
            <a:ext cx="5440680" cy="310896"/>
          </a:xfrm>
          <a:prstGeom prst="rect">
            <a:avLst/>
          </a:prstGeom>
          <a:noFill/>
          <a:ln/>
        </p:spPr>
        <p:txBody>
          <a:bodyPr wrap="square" lIns="0" tIns="0" rIns="0" bIns="0" rtlCol="0" anchor="ctr"/>
          <a:lstStyle/>
          <a:p>
            <a:pPr indent="0" marL="0">
              <a:buNone/>
            </a:pPr>
            <a:r>
              <a:rPr lang="en-US" sz="1300" dirty="0">
                <a:solidFill>
                  <a:schemeClr val="tx1"/>
                </a:solidFill>
              </a:rPr>
              <a:t>Cada job publica su artefacto y su resumen, incluso si falla</a:t>
            </a:r>
            <a:endParaRPr lang="en-US" sz="1300" dirty="0"/>
          </a:p>
        </p:txBody>
      </p:sp>
      <p:sp>
        <p:nvSpPr>
          <p:cNvPr id="28" name="Principio Máquina limpia"/>
          <p:cNvSpPr/>
          <p:nvPr/>
        </p:nvSpPr>
        <p:spPr>
          <a:xfrm>
            <a:off x="5897880" y="4700016"/>
            <a:ext cx="5715000" cy="704088"/>
          </a:xfrm>
          <a:prstGeom prst="roundRect">
            <a:avLst>
              <a:gd name="adj" fmla="val 10390"/>
            </a:avLst>
          </a:prstGeom>
          <a:solidFill>
            <a:schemeClr val="bg2"/>
          </a:solidFill>
          <a:ln/>
        </p:spPr>
      </p:sp>
      <p:sp>
        <p:nvSpPr>
          <p:cNvPr id="29" name="Text 26"/>
          <p:cNvSpPr txBox="1"/>
          <p:nvPr/>
        </p:nvSpPr>
        <p:spPr>
          <a:xfrm>
            <a:off x="6035040" y="4745736"/>
            <a:ext cx="5440680" cy="274320"/>
          </a:xfrm>
          <a:prstGeom prst="rect">
            <a:avLst/>
          </a:prstGeom>
          <a:noFill/>
          <a:ln/>
        </p:spPr>
        <p:txBody>
          <a:bodyPr wrap="square" lIns="0" tIns="0" rIns="0" bIns="0" rtlCol="0" anchor="ctr"/>
          <a:lstStyle/>
          <a:p>
            <a:pPr indent="0" marL="0">
              <a:buNone/>
            </a:pPr>
            <a:r>
              <a:rPr lang="en-US" sz="1400" b="1" dirty="0">
                <a:solidFill>
                  <a:schemeClr val="accent1"/>
                </a:solidFill>
              </a:rPr>
              <a:t>Máquina limpia</a:t>
            </a:r>
            <a:endParaRPr lang="en-US" sz="1400" dirty="0"/>
          </a:p>
        </p:txBody>
      </p:sp>
      <p:sp>
        <p:nvSpPr>
          <p:cNvPr id="30" name="Text 27"/>
          <p:cNvSpPr txBox="1"/>
          <p:nvPr/>
        </p:nvSpPr>
        <p:spPr>
          <a:xfrm>
            <a:off x="6035040" y="5029200"/>
            <a:ext cx="5440680" cy="310896"/>
          </a:xfrm>
          <a:prstGeom prst="rect">
            <a:avLst/>
          </a:prstGeom>
          <a:noFill/>
          <a:ln/>
        </p:spPr>
        <p:txBody>
          <a:bodyPr wrap="square" lIns="0" tIns="0" rIns="0" bIns="0" rtlCol="0" anchor="ctr"/>
          <a:lstStyle/>
          <a:p>
            <a:pPr indent="0" marL="0">
              <a:buNone/>
            </a:pPr>
            <a:r>
              <a:rPr lang="en-US" sz="1300" dirty="0">
                <a:solidFill>
                  <a:schemeClr val="tx1"/>
                </a:solidFill>
              </a:rPr>
              <a:t>npm ci, versiones fijas en constraints.txt, base de datos aislada</a:t>
            </a:r>
            <a:endParaRPr lang="en-US" sz="1300" dirty="0"/>
          </a:p>
        </p:txBody>
      </p:sp>
      <p:sp>
        <p:nvSpPr>
          <p:cNvPr id="31" name="Principio Lo no funcional queda fuera"/>
          <p:cNvSpPr/>
          <p:nvPr/>
        </p:nvSpPr>
        <p:spPr>
          <a:xfrm>
            <a:off x="5897880" y="5495544"/>
            <a:ext cx="5715000" cy="704088"/>
          </a:xfrm>
          <a:prstGeom prst="roundRect">
            <a:avLst>
              <a:gd name="adj" fmla="val 10390"/>
            </a:avLst>
          </a:prstGeom>
          <a:solidFill>
            <a:schemeClr val="bg2"/>
          </a:solidFill>
          <a:ln/>
        </p:spPr>
      </p:sp>
      <p:sp>
        <p:nvSpPr>
          <p:cNvPr id="32" name="Text 29"/>
          <p:cNvSpPr txBox="1"/>
          <p:nvPr/>
        </p:nvSpPr>
        <p:spPr>
          <a:xfrm>
            <a:off x="6035040" y="5541264"/>
            <a:ext cx="5440680" cy="274320"/>
          </a:xfrm>
          <a:prstGeom prst="rect">
            <a:avLst/>
          </a:prstGeom>
          <a:noFill/>
          <a:ln/>
        </p:spPr>
        <p:txBody>
          <a:bodyPr wrap="square" lIns="0" tIns="0" rIns="0" bIns="0" rtlCol="0" anchor="ctr"/>
          <a:lstStyle/>
          <a:p>
            <a:pPr indent="0" marL="0">
              <a:buNone/>
            </a:pPr>
            <a:r>
              <a:rPr lang="en-US" sz="1400" b="1" dirty="0">
                <a:solidFill>
                  <a:schemeClr val="accent1"/>
                </a:solidFill>
              </a:rPr>
              <a:t>Lo no funcional queda fuera</a:t>
            </a:r>
            <a:endParaRPr lang="en-US" sz="1400" dirty="0"/>
          </a:p>
        </p:txBody>
      </p:sp>
      <p:sp>
        <p:nvSpPr>
          <p:cNvPr id="33" name="Text 30"/>
          <p:cNvSpPr txBox="1"/>
          <p:nvPr/>
        </p:nvSpPr>
        <p:spPr>
          <a:xfrm>
            <a:off x="6035040" y="5824728"/>
            <a:ext cx="5440680" cy="310896"/>
          </a:xfrm>
          <a:prstGeom prst="rect">
            <a:avLst/>
          </a:prstGeom>
          <a:noFill/>
          <a:ln/>
        </p:spPr>
        <p:txBody>
          <a:bodyPr wrap="square" lIns="0" tIns="0" rIns="0" bIns="0" rtlCol="0" anchor="ctr"/>
          <a:lstStyle/>
          <a:p>
            <a:pPr indent="0" marL="0">
              <a:buNone/>
            </a:pPr>
            <a:r>
              <a:rPr lang="en-US" sz="1300" dirty="0">
                <a:solidFill>
                  <a:schemeClr val="tx1"/>
                </a:solidFill>
              </a:rPr>
              <a:t>El rendimiento va en la Parte 3</a:t>
            </a:r>
            <a:endParaRPr lang="en-US" sz="13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Un run real: #10 en verde</a:t>
            </a:r>
            <a:endParaRPr lang="en-US" sz="3000" dirty="0"/>
          </a:p>
        </p:txBody>
      </p:sp>
      <p:sp>
        <p:nvSpPr>
          <p:cNvPr id="4" name="Etiqueta Criterio 3 · 5 pts"/>
          <p:cNvSpPr/>
          <p:nvPr/>
        </p:nvSpPr>
        <p:spPr>
          <a:xfrm>
            <a:off x="9646920" y="475488"/>
            <a:ext cx="1965960" cy="457200"/>
          </a:xfrm>
          <a:prstGeom prst="roundRect">
            <a:avLst>
              <a:gd name="adj" fmla="val 24000"/>
            </a:avLst>
          </a:prstGeom>
          <a:solidFill>
            <a:schemeClr val="accent1"/>
          </a:solidFill>
          <a:ln/>
        </p:spPr>
        <p:txBody>
          <a:bodyPr wrap="square" lIns="0" tIns="0" rIns="0" bIns="0" rtlCol="0" anchor="ctr"/>
          <a:lstStyle/>
          <a:p>
            <a:pPr algn="ctr" indent="0" marL="0">
              <a:buNone/>
            </a:pPr>
            <a:r>
              <a:rPr lang="en-US" sz="1300" b="1" dirty="0">
                <a:solidFill>
                  <a:schemeClr val="bg1"/>
                </a:solidFill>
              </a:rPr>
              <a:t>Criterio 3 · 5 pts</a:t>
            </a:r>
            <a:endParaRPr lang="en-US" sz="1300" dirty="0"/>
          </a:p>
        </p:txBody>
      </p:sp>
      <p:sp>
        <p:nvSpPr>
          <p:cNvPr id="5" name="Marco Run 10 del pipeline en GitHub Actions: api, web y reportes en verde"/>
          <p:cNvSpPr/>
          <p:nvPr/>
        </p:nvSpPr>
        <p:spPr>
          <a:xfrm>
            <a:off x="534924" y="1220724"/>
            <a:ext cx="7205472" cy="2661516"/>
          </a:xfrm>
          <a:prstGeom prst="rect">
            <a:avLst/>
          </a:prstGeom>
          <a:solidFill>
            <a:srgbClr val="FFFFFF"/>
          </a:solidFill>
          <a:ln w="9525">
            <a:solidFill>
              <a:srgbClr val="B9C6CB"/>
            </a:solidFill>
            <a:prstDash val="solid"/>
          </a:ln>
        </p:spPr>
      </p:sp>
      <p:pic>
        <p:nvPicPr>
          <p:cNvPr id="6" name="Run 10 del pipeline en GitHub Actions: api, web y reportes en verde" descr="Run 10 del pipeline en GitHub Actions: api, web y reportes en verde">    </p:cNvPr>
          <p:cNvPicPr>
            <a:picLocks noChangeAspect="1"/>
          </p:cNvPicPr>
          <p:nvPr/>
        </p:nvPicPr>
        <p:blipFill>
          <a:blip r:embed="rId1"/>
          <a:stretch>
            <a:fillRect/>
          </a:stretch>
        </p:blipFill>
        <p:spPr>
          <a:xfrm>
            <a:off x="548640" y="1234440"/>
            <a:ext cx="7178040" cy="2634084"/>
          </a:xfrm>
          <a:prstGeom prst="rect">
            <a:avLst/>
          </a:prstGeom>
        </p:spPr>
      </p:pic>
      <p:sp>
        <p:nvSpPr>
          <p:cNvPr id="7" name="Text 3"/>
          <p:cNvSpPr txBox="1"/>
          <p:nvPr/>
        </p:nvSpPr>
        <p:spPr>
          <a:xfrm>
            <a:off x="7955280" y="1207008"/>
            <a:ext cx="3657600" cy="310896"/>
          </a:xfrm>
          <a:prstGeom prst="rect">
            <a:avLst/>
          </a:prstGeom>
          <a:noFill/>
          <a:ln/>
        </p:spPr>
        <p:txBody>
          <a:bodyPr wrap="square" lIns="0" tIns="0" rIns="0" bIns="0" rtlCol="0" anchor="t"/>
          <a:lstStyle/>
          <a:p>
            <a:pPr algn="l" indent="0" marL="0">
              <a:buNone/>
            </a:pPr>
            <a:r>
              <a:rPr lang="en-US" sz="1400" b="1" dirty="0">
                <a:solidFill>
                  <a:schemeClr val="accent1"/>
                </a:solidFill>
              </a:rPr>
              <a:t>Resumen del job ($GITHUB_STEP_SUMMARY)</a:t>
            </a:r>
            <a:endParaRPr lang="en-US" sz="1400" dirty="0"/>
          </a:p>
        </p:txBody>
      </p:sp>
      <p:graphicFrame>
        <p:nvGraphicFramePr>
          <p:cNvPr id="11" name="Resumen del job"/>
          <p:cNvGraphicFramePr>
            <a:graphicFrameLocks noGrp="1"/>
          </p:cNvGraphicFramePr>
          <p:nvPr>
            <p:extLst>
              <p:ext uri="{D42A27DB-BD31-4B8C-83A1-F6EECF244321}">
                <p14:modId xmlns:p14="http://schemas.microsoft.com/office/powerpoint/2010/main" val="1579011935"/>
              </p:ext>
            </p:extLst>
          </p:nvPr>
        </p:nvGraphicFramePr>
        <p:xfrm>
          <a:off x="7955280" y="1536192"/>
          <a:ext cx="3657600" cy="914400"/>
        </p:xfrm>
        <a:graphic>
          <a:graphicData uri="http://schemas.openxmlformats.org/drawingml/2006/table">
            <a:tbl>
              <a:tblPr/>
              <a:tblGrid>
                <a:gridCol w="1170432"/>
                <a:gridCol w="621792"/>
                <a:gridCol w="658368"/>
                <a:gridCol w="566928"/>
                <a:gridCol w="640080"/>
              </a:tblGrid>
              <a:tr h="402336">
                <a:tc>
                  <a:txBody>
                    <a:bodyPr/>
                    <a:lstStyle/>
                    <a:p>
                      <a:pPr indent="0" marL="0">
                        <a:buNone/>
                      </a:pPr>
                      <a:r>
                        <a:rPr lang="en-US" sz="1400" b="1" dirty="0">
                          <a:solidFill>
                            <a:schemeClr val="bg1"/>
                          </a:solidFill>
                        </a:rPr>
                        <a:t>Suite</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Total</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Pasan</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xfail</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Fallan</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chemeClr val="tx2"/>
                    </a:solidFill>
                  </a:tcPr>
                </a:tc>
              </a:tr>
              <a:tr h="402336">
                <a:tc>
                  <a:txBody>
                    <a:bodyPr/>
                    <a:lstStyle/>
                    <a:p>
                      <a:pPr indent="0" marL="0">
                        <a:buNone/>
                      </a:pPr>
                      <a:r>
                        <a:rPr lang="en-US" sz="1400" dirty="0">
                          <a:solidFill>
                            <a:schemeClr val="tx1"/>
                          </a:solidFill>
                        </a:rPr>
                        <a:t>API</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400" dirty="0">
                          <a:solidFill>
                            <a:schemeClr val="tx1"/>
                          </a:solidFill>
                        </a:rPr>
                        <a:t>68</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400" dirty="0">
                          <a:solidFill>
                            <a:schemeClr val="tx1"/>
                          </a:solidFill>
                        </a:rPr>
                        <a:t>64</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400" dirty="0">
                          <a:solidFill>
                            <a:schemeClr val="tx1"/>
                          </a:solidFill>
                        </a:rPr>
                        <a:t>4</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400" dirty="0">
                          <a:solidFill>
                            <a:schemeClr val="tx1"/>
                          </a:solidFill>
                        </a:rPr>
                        <a:t>0</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402336">
                <a:tc>
                  <a:txBody>
                    <a:bodyPr/>
                    <a:lstStyle/>
                    <a:p>
                      <a:pPr indent="0" marL="0">
                        <a:buNone/>
                      </a:pPr>
                      <a:r>
                        <a:rPr lang="en-US" sz="1400" dirty="0">
                          <a:solidFill>
                            <a:schemeClr val="tx1"/>
                          </a:solidFill>
                        </a:rPr>
                        <a:t>Contrato</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400" dirty="0">
                          <a:solidFill>
                            <a:schemeClr val="tx1"/>
                          </a:solidFill>
                        </a:rPr>
                        <a:t>10</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400" dirty="0">
                          <a:solidFill>
                            <a:schemeClr val="tx1"/>
                          </a:solidFill>
                        </a:rPr>
                        <a:t>10</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400" dirty="0">
                          <a:solidFill>
                            <a:schemeClr val="tx1"/>
                          </a:solidFill>
                        </a:rPr>
                        <a:t>0</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400" dirty="0">
                          <a:solidFill>
                            <a:schemeClr val="tx1"/>
                          </a:solidFill>
                        </a:rPr>
                        <a:t>0</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402336">
                <a:tc>
                  <a:txBody>
                    <a:bodyPr/>
                    <a:lstStyle/>
                    <a:p>
                      <a:pPr indent="0" marL="0">
                        <a:buNone/>
                      </a:pPr>
                      <a:r>
                        <a:rPr lang="en-US" sz="1400" dirty="0">
                          <a:solidFill>
                            <a:schemeClr val="tx1"/>
                          </a:solidFill>
                        </a:rPr>
                        <a:t>Web ×3</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400" dirty="0">
                          <a:solidFill>
                            <a:schemeClr val="tx1"/>
                          </a:solidFill>
                        </a:rPr>
                        <a:t>57</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400" dirty="0">
                          <a:solidFill>
                            <a:schemeClr val="tx1"/>
                          </a:solidFill>
                        </a:rPr>
                        <a:t>57</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400" dirty="0">
                          <a:solidFill>
                            <a:schemeClr val="tx1"/>
                          </a:solidFill>
                        </a:rPr>
                        <a:t>0</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400" dirty="0">
                          <a:solidFill>
                            <a:schemeClr val="tx1"/>
                          </a:solidFill>
                        </a:rPr>
                        <a:t>0</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bl>
          </a:graphicData>
        </a:graphic>
      </p:graphicFrame>
      <p:sp>
        <p:nvSpPr>
          <p:cNvPr id="9" name="Text 4"/>
          <p:cNvSpPr txBox="1"/>
          <p:nvPr/>
        </p:nvSpPr>
        <p:spPr>
          <a:xfrm>
            <a:off x="7955280" y="3200400"/>
            <a:ext cx="3657600" cy="731520"/>
          </a:xfrm>
          <a:prstGeom prst="rect">
            <a:avLst/>
          </a:prstGeom>
          <a:noFill/>
          <a:ln/>
        </p:spPr>
        <p:txBody>
          <a:bodyPr wrap="square" lIns="0" tIns="0" rIns="0" bIns="0" rtlCol="0" anchor="t"/>
          <a:lstStyle/>
          <a:p>
            <a:pPr algn="l" indent="0" marL="0">
              <a:buNone/>
            </a:pPr>
            <a:r>
              <a:rPr lang="en-US" sz="1300" dirty="0">
                <a:solidFill>
                  <a:schemeClr val="tx1"/>
                </a:solidFill>
              </a:rPr>
              <a:t>Commit c7d3d14 · push a main · 30/10/2026, 15:29 de Lima · 3 artefactos. Contrato: 10 casos JUnit, que resumen los 728 generados.</a:t>
            </a:r>
            <a:endParaRPr lang="en-US" sz="1300" dirty="0"/>
          </a:p>
        </p:txBody>
      </p:sp>
      <p:sp>
        <p:nvSpPr>
          <p:cNvPr id="10" name="Text 5"/>
          <p:cNvSpPr txBox="1"/>
          <p:nvPr/>
        </p:nvSpPr>
        <p:spPr>
          <a:xfrm>
            <a:off x="548640" y="4041648"/>
            <a:ext cx="11064240" cy="329184"/>
          </a:xfrm>
          <a:prstGeom prst="rect">
            <a:avLst/>
          </a:prstGeom>
          <a:noFill/>
          <a:ln/>
        </p:spPr>
        <p:txBody>
          <a:bodyPr wrap="square" lIns="0" tIns="0" rIns="0" bIns="0" rtlCol="0" anchor="ctr"/>
          <a:lstStyle/>
          <a:p>
            <a:pPr indent="0" marL="0">
              <a:buNone/>
            </a:pPr>
            <a:r>
              <a:rPr lang="en-US" sz="1600" b="1" dirty="0">
                <a:solidFill>
                  <a:schemeClr val="tx2"/>
                </a:solidFill>
              </a:rPr>
              <a:t>Historia real del pipeline: los 10 runs</a:t>
            </a:r>
            <a:endParaRPr lang="en-US" sz="1600" dirty="0"/>
          </a:p>
        </p:txBody>
      </p:sp>
      <p:sp>
        <p:nvSpPr>
          <p:cNvPr id="11" name="Run #1"/>
          <p:cNvSpPr/>
          <p:nvPr/>
        </p:nvSpPr>
        <p:spPr>
          <a:xfrm>
            <a:off x="731520" y="4434840"/>
            <a:ext cx="621792" cy="621792"/>
          </a:xfrm>
          <a:prstGeom prst="ellipse">
            <a:avLst/>
          </a:prstGeom>
          <a:solidFill>
            <a:srgbClr val="C0392B"/>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2" name="Run #2"/>
          <p:cNvSpPr/>
          <p:nvPr/>
        </p:nvSpPr>
        <p:spPr>
          <a:xfrm>
            <a:off x="1837944" y="4434840"/>
            <a:ext cx="621792" cy="621792"/>
          </a:xfrm>
          <a:prstGeom prst="ellipse">
            <a:avLst/>
          </a:prstGeom>
          <a:solidFill>
            <a:srgbClr val="C0392B"/>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Run #3"/>
          <p:cNvSpPr/>
          <p:nvPr/>
        </p:nvSpPr>
        <p:spPr>
          <a:xfrm>
            <a:off x="2944368" y="4434840"/>
            <a:ext cx="621792" cy="621792"/>
          </a:xfrm>
          <a:prstGeom prst="ellipse">
            <a:avLst/>
          </a:prstGeom>
          <a:solidFill>
            <a:srgbClr val="1E8E5A"/>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Run #4"/>
          <p:cNvSpPr/>
          <p:nvPr/>
        </p:nvSpPr>
        <p:spPr>
          <a:xfrm>
            <a:off x="4050792" y="4434840"/>
            <a:ext cx="621792" cy="621792"/>
          </a:xfrm>
          <a:prstGeom prst="ellipse">
            <a:avLst/>
          </a:prstGeom>
          <a:solidFill>
            <a:srgbClr val="1E8E5A"/>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5" name="Run #5"/>
          <p:cNvSpPr/>
          <p:nvPr/>
        </p:nvSpPr>
        <p:spPr>
          <a:xfrm>
            <a:off x="5157216" y="4434840"/>
            <a:ext cx="621792" cy="621792"/>
          </a:xfrm>
          <a:prstGeom prst="ellipse">
            <a:avLst/>
          </a:prstGeom>
          <a:solidFill>
            <a:srgbClr val="1E8E5A"/>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6" name="Run #6"/>
          <p:cNvSpPr/>
          <p:nvPr/>
        </p:nvSpPr>
        <p:spPr>
          <a:xfrm>
            <a:off x="6263640" y="4434840"/>
            <a:ext cx="621792" cy="621792"/>
          </a:xfrm>
          <a:prstGeom prst="ellipse">
            <a:avLst/>
          </a:prstGeom>
          <a:solidFill>
            <a:srgbClr val="1E8E5A"/>
          </a:solid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17" name="Run #7"/>
          <p:cNvSpPr/>
          <p:nvPr/>
        </p:nvSpPr>
        <p:spPr>
          <a:xfrm>
            <a:off x="7370064" y="4434840"/>
            <a:ext cx="621792" cy="621792"/>
          </a:xfrm>
          <a:prstGeom prst="ellipse">
            <a:avLst/>
          </a:prstGeom>
          <a:solidFill>
            <a:srgbClr val="1E8E5A"/>
          </a:solid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18" name="Run #8"/>
          <p:cNvSpPr/>
          <p:nvPr/>
        </p:nvSpPr>
        <p:spPr>
          <a:xfrm>
            <a:off x="8476488" y="4434840"/>
            <a:ext cx="621792" cy="621792"/>
          </a:xfrm>
          <a:prstGeom prst="ellipse">
            <a:avLst/>
          </a:prstGeom>
          <a:solidFill>
            <a:srgbClr val="C0392B"/>
          </a:solidFill>
          <a:ln/>
        </p:spPr>
        <p:txBody>
          <a:bodyPr wrap="square" lIns="0" tIns="0" rIns="0" bIns="0" rtlCol="0" anchor="ctr"/>
          <a:lstStyle/>
          <a:p>
            <a:pPr algn="ctr" indent="0" marL="0">
              <a:buNone/>
            </a:pPr>
            <a:r>
              <a:rPr lang="en-US" sz="1400" b="1" dirty="0">
                <a:solidFill>
                  <a:schemeClr val="bg1"/>
                </a:solidFill>
              </a:rPr>
              <a:t>#8</a:t>
            </a:r>
            <a:endParaRPr lang="en-US" sz="1400" dirty="0"/>
          </a:p>
        </p:txBody>
      </p:sp>
      <p:sp>
        <p:nvSpPr>
          <p:cNvPr id="19" name="Run #9"/>
          <p:cNvSpPr/>
          <p:nvPr/>
        </p:nvSpPr>
        <p:spPr>
          <a:xfrm>
            <a:off x="9582912" y="4434840"/>
            <a:ext cx="621792" cy="621792"/>
          </a:xfrm>
          <a:prstGeom prst="ellipse">
            <a:avLst/>
          </a:prstGeom>
          <a:solidFill>
            <a:srgbClr val="1E8E5A"/>
          </a:solidFill>
          <a:ln/>
        </p:spPr>
        <p:txBody>
          <a:bodyPr wrap="square" lIns="0" tIns="0" rIns="0" bIns="0" rtlCol="0" anchor="ctr"/>
          <a:lstStyle/>
          <a:p>
            <a:pPr algn="ctr" indent="0" marL="0">
              <a:buNone/>
            </a:pPr>
            <a:r>
              <a:rPr lang="en-US" sz="1400" b="1" dirty="0">
                <a:solidFill>
                  <a:schemeClr val="bg1"/>
                </a:solidFill>
              </a:rPr>
              <a:t>#9</a:t>
            </a:r>
            <a:endParaRPr lang="en-US" sz="1400" dirty="0"/>
          </a:p>
        </p:txBody>
      </p:sp>
      <p:sp>
        <p:nvSpPr>
          <p:cNvPr id="20" name="Run #10"/>
          <p:cNvSpPr/>
          <p:nvPr/>
        </p:nvSpPr>
        <p:spPr>
          <a:xfrm>
            <a:off x="10689336" y="4434840"/>
            <a:ext cx="621792" cy="621792"/>
          </a:xfrm>
          <a:prstGeom prst="ellipse">
            <a:avLst/>
          </a:prstGeom>
          <a:solidFill>
            <a:srgbClr val="1E8E5A"/>
          </a:solidFill>
          <a:ln/>
        </p:spPr>
        <p:txBody>
          <a:bodyPr wrap="square" lIns="0" tIns="0" rIns="0" bIns="0" rtlCol="0" anchor="ctr"/>
          <a:lstStyle/>
          <a:p>
            <a:pPr algn="ctr" indent="0" marL="0">
              <a:buNone/>
            </a:pPr>
            <a:r>
              <a:rPr lang="en-US" sz="1400" b="1" dirty="0">
                <a:solidFill>
                  <a:schemeClr val="bg1"/>
                </a:solidFill>
              </a:rPr>
              <a:t>#10</a:t>
            </a:r>
            <a:endParaRPr lang="en-US" sz="1400" dirty="0"/>
          </a:p>
        </p:txBody>
      </p:sp>
      <p:sp>
        <p:nvSpPr>
          <p:cNvPr id="21" name="Tarjeta #1 · 6 fallos intermitentes"/>
          <p:cNvSpPr/>
          <p:nvPr/>
        </p:nvSpPr>
        <p:spPr>
          <a:xfrm>
            <a:off x="548640" y="5184648"/>
            <a:ext cx="3566160" cy="1033272"/>
          </a:xfrm>
          <a:prstGeom prst="roundRect">
            <a:avLst>
              <a:gd name="adj" fmla="val 7080"/>
            </a:avLst>
          </a:prstGeom>
          <a:solidFill>
            <a:srgbClr val="F9E1DE"/>
          </a:solidFill>
          <a:ln/>
        </p:spPr>
      </p:sp>
      <p:sp>
        <p:nvSpPr>
          <p:cNvPr id="22" name="Text 17"/>
          <p:cNvSpPr txBox="1"/>
          <p:nvPr/>
        </p:nvSpPr>
        <p:spPr>
          <a:xfrm>
            <a:off x="713232" y="5276088"/>
            <a:ext cx="3236976" cy="365760"/>
          </a:xfrm>
          <a:prstGeom prst="rect">
            <a:avLst/>
          </a:prstGeom>
          <a:noFill/>
          <a:ln/>
        </p:spPr>
        <p:txBody>
          <a:bodyPr wrap="square" lIns="0" tIns="0" rIns="0" bIns="0" rtlCol="0" anchor="ctr"/>
          <a:lstStyle/>
          <a:p>
            <a:pPr indent="0" marL="0">
              <a:buNone/>
            </a:pPr>
            <a:r>
              <a:rPr lang="en-US" sz="1600" b="1" dirty="0">
                <a:solidFill>
                  <a:srgbClr val="C0392B"/>
                </a:solidFill>
              </a:rPr>
              <a:t>#1 · 6 fallos intermitentes</a:t>
            </a:r>
            <a:endParaRPr lang="en-US" sz="1600" dirty="0"/>
          </a:p>
        </p:txBody>
      </p:sp>
      <p:sp>
        <p:nvSpPr>
          <p:cNvPr id="23" name="Text 18"/>
          <p:cNvSpPr txBox="1"/>
          <p:nvPr/>
        </p:nvSpPr>
        <p:spPr>
          <a:xfrm>
            <a:off x="713232" y="5660136"/>
            <a:ext cx="3236976" cy="484632"/>
          </a:xfrm>
          <a:prstGeom prst="rect">
            <a:avLst/>
          </a:prstGeom>
          <a:noFill/>
          <a:ln/>
        </p:spPr>
        <p:txBody>
          <a:bodyPr wrap="square" lIns="0" tIns="0" rIns="0" bIns="0" rtlCol="0" anchor="t"/>
          <a:lstStyle/>
          <a:p>
            <a:pPr indent="0" marL="0">
              <a:spcAft>
                <a:spcPts val="300"/>
              </a:spcAft>
              <a:buNone/>
            </a:pPr>
            <a:r>
              <a:rPr lang="en-US" sz="1400" dirty="0">
                <a:solidFill>
                  <a:schemeClr val="tx1"/>
                </a:solidFill>
              </a:rPr>
              <a:t>Reveló DEF-07; web quedó skipped</a:t>
            </a:r>
            <a:endParaRPr lang="en-US" sz="1400" dirty="0"/>
          </a:p>
        </p:txBody>
      </p:sp>
      <p:sp>
        <p:nvSpPr>
          <p:cNvPr id="24" name="Tarjeta #2 · falla el contrato"/>
          <p:cNvSpPr/>
          <p:nvPr/>
        </p:nvSpPr>
        <p:spPr>
          <a:xfrm>
            <a:off x="4297680" y="5184648"/>
            <a:ext cx="3566160" cy="1033272"/>
          </a:xfrm>
          <a:prstGeom prst="roundRect">
            <a:avLst>
              <a:gd name="adj" fmla="val 7080"/>
            </a:avLst>
          </a:prstGeom>
          <a:solidFill>
            <a:srgbClr val="F9E1DE"/>
          </a:solidFill>
          <a:ln/>
        </p:spPr>
      </p:sp>
      <p:sp>
        <p:nvSpPr>
          <p:cNvPr id="25" name="Text 20"/>
          <p:cNvSpPr txBox="1"/>
          <p:nvPr/>
        </p:nvSpPr>
        <p:spPr>
          <a:xfrm>
            <a:off x="4462272" y="5276088"/>
            <a:ext cx="3236976" cy="365760"/>
          </a:xfrm>
          <a:prstGeom prst="rect">
            <a:avLst/>
          </a:prstGeom>
          <a:noFill/>
          <a:ln/>
        </p:spPr>
        <p:txBody>
          <a:bodyPr wrap="square" lIns="0" tIns="0" rIns="0" bIns="0" rtlCol="0" anchor="ctr"/>
          <a:lstStyle/>
          <a:p>
            <a:pPr indent="0" marL="0">
              <a:buNone/>
            </a:pPr>
            <a:r>
              <a:rPr lang="en-US" sz="1600" b="1" dirty="0">
                <a:solidFill>
                  <a:srgbClr val="C0392B"/>
                </a:solidFill>
              </a:rPr>
              <a:t>#2 · falla el contrato</a:t>
            </a:r>
            <a:endParaRPr lang="en-US" sz="1600" dirty="0"/>
          </a:p>
        </p:txBody>
      </p:sp>
      <p:sp>
        <p:nvSpPr>
          <p:cNvPr id="26" name="Text 21"/>
          <p:cNvSpPr txBox="1"/>
          <p:nvPr/>
        </p:nvSpPr>
        <p:spPr>
          <a:xfrm>
            <a:off x="4462272" y="5660136"/>
            <a:ext cx="3236976" cy="484632"/>
          </a:xfrm>
          <a:prstGeom prst="rect">
            <a:avLst/>
          </a:prstGeom>
          <a:noFill/>
          <a:ln/>
        </p:spPr>
        <p:txBody>
          <a:bodyPr wrap="square" lIns="0" tIns="0" rIns="0" bIns="0" rtlCol="0" anchor="t"/>
          <a:lstStyle/>
          <a:p>
            <a:pPr indent="0" marL="0">
              <a:spcAft>
                <a:spcPts val="300"/>
              </a:spcAft>
              <a:buNone/>
            </a:pPr>
            <a:r>
              <a:rPr lang="en-US" sz="1400" dirty="0">
                <a:solidFill>
                  <a:schemeClr val="tx1"/>
                </a:solidFill>
              </a:rPr>
              <a:t>Schemathesis reveló DEF-08 (favorito: 0)</a:t>
            </a:r>
            <a:endParaRPr lang="en-US" sz="1400" dirty="0"/>
          </a:p>
        </p:txBody>
      </p:sp>
      <p:sp>
        <p:nvSpPr>
          <p:cNvPr id="27" name="Tarjeta #8 · rojo a propósito"/>
          <p:cNvSpPr/>
          <p:nvPr/>
        </p:nvSpPr>
        <p:spPr>
          <a:xfrm>
            <a:off x="8046720" y="5184648"/>
            <a:ext cx="3566160" cy="1033272"/>
          </a:xfrm>
          <a:prstGeom prst="roundRect">
            <a:avLst>
              <a:gd name="adj" fmla="val 7080"/>
            </a:avLst>
          </a:prstGeom>
          <a:solidFill>
            <a:srgbClr val="F9E1DE"/>
          </a:solidFill>
          <a:ln/>
        </p:spPr>
      </p:sp>
      <p:sp>
        <p:nvSpPr>
          <p:cNvPr id="28" name="Text 23"/>
          <p:cNvSpPr txBox="1"/>
          <p:nvPr/>
        </p:nvSpPr>
        <p:spPr>
          <a:xfrm>
            <a:off x="8211312" y="5276088"/>
            <a:ext cx="3236976" cy="365760"/>
          </a:xfrm>
          <a:prstGeom prst="rect">
            <a:avLst/>
          </a:prstGeom>
          <a:noFill/>
          <a:ln/>
        </p:spPr>
        <p:txBody>
          <a:bodyPr wrap="square" lIns="0" tIns="0" rIns="0" bIns="0" rtlCol="0" anchor="ctr"/>
          <a:lstStyle/>
          <a:p>
            <a:pPr indent="0" marL="0">
              <a:buNone/>
            </a:pPr>
            <a:r>
              <a:rPr lang="en-US" sz="1600" b="1" dirty="0">
                <a:solidFill>
                  <a:srgbClr val="C0392B"/>
                </a:solidFill>
              </a:rPr>
              <a:t>#8 · rojo a propósito</a:t>
            </a:r>
            <a:endParaRPr lang="en-US" sz="1600" dirty="0"/>
          </a:p>
        </p:txBody>
      </p:sp>
      <p:sp>
        <p:nvSpPr>
          <p:cNvPr id="29" name="Text 24"/>
          <p:cNvSpPr txBox="1"/>
          <p:nvPr/>
        </p:nvSpPr>
        <p:spPr>
          <a:xfrm>
            <a:off x="8211312" y="5660136"/>
            <a:ext cx="3236976" cy="484632"/>
          </a:xfrm>
          <a:prstGeom prst="rect">
            <a:avLst/>
          </a:prstGeom>
          <a:noFill/>
          <a:ln/>
        </p:spPr>
        <p:txBody>
          <a:bodyPr wrap="square" lIns="0" tIns="0" rIns="0" bIns="0" rtlCol="0" anchor="t"/>
          <a:lstStyle/>
          <a:p>
            <a:pPr indent="0" marL="0">
              <a:spcAft>
                <a:spcPts val="300"/>
              </a:spcAft>
              <a:buNone/>
            </a:pPr>
            <a:r>
              <a:rPr lang="en-US" sz="1400" dirty="0">
                <a:solidFill>
                  <a:schemeClr val="tx1"/>
                </a:solidFill>
              </a:rPr>
              <a:t>PR #3: demo del quality gate</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Cada run deja evidencia publicada</a:t>
            </a:r>
            <a:endParaRPr lang="en-US" sz="3000" dirty="0"/>
          </a:p>
        </p:txBody>
      </p:sp>
      <p:sp>
        <p:nvSpPr>
          <p:cNvPr id="4" name="Etiqueta Criterio 3 · 5 pts"/>
          <p:cNvSpPr/>
          <p:nvPr/>
        </p:nvSpPr>
        <p:spPr>
          <a:xfrm>
            <a:off x="9646920" y="475488"/>
            <a:ext cx="1965960" cy="457200"/>
          </a:xfrm>
          <a:prstGeom prst="roundRect">
            <a:avLst>
              <a:gd name="adj" fmla="val 24000"/>
            </a:avLst>
          </a:prstGeom>
          <a:solidFill>
            <a:schemeClr val="accent1"/>
          </a:solidFill>
          <a:ln/>
        </p:spPr>
        <p:txBody>
          <a:bodyPr wrap="square" lIns="0" tIns="0" rIns="0" bIns="0" rtlCol="0" anchor="ctr"/>
          <a:lstStyle/>
          <a:p>
            <a:pPr algn="ctr" indent="0" marL="0">
              <a:buNone/>
            </a:pPr>
            <a:r>
              <a:rPr lang="en-US" sz="1300" b="1" dirty="0">
                <a:solidFill>
                  <a:schemeClr val="bg1"/>
                </a:solidFill>
              </a:rPr>
              <a:t>Criterio 3 · 5 pts</a:t>
            </a:r>
            <a:endParaRPr lang="en-US" sz="1300" dirty="0"/>
          </a:p>
        </p:txBody>
      </p:sp>
      <p:sp>
        <p:nvSpPr>
          <p:cNvPr id="5" name="Marco Portada en GitHub Pages: enlaces y matriz"/>
          <p:cNvSpPr/>
          <p:nvPr/>
        </p:nvSpPr>
        <p:spPr>
          <a:xfrm>
            <a:off x="534924" y="1193292"/>
            <a:ext cx="5216652" cy="2103120"/>
          </a:xfrm>
          <a:prstGeom prst="rect">
            <a:avLst/>
          </a:prstGeom>
          <a:solidFill>
            <a:srgbClr val="FFFFFF"/>
          </a:solidFill>
          <a:ln w="9525">
            <a:solidFill>
              <a:srgbClr val="B9C6CB"/>
            </a:solidFill>
            <a:prstDash val="solid"/>
          </a:ln>
        </p:spPr>
      </p:sp>
      <p:pic>
        <p:nvPicPr>
          <p:cNvPr id="6" name="Portada en GitHub Pages: enlaces y matriz" descr="Portada en GitHub Pages: enlaces y matriz">    </p:cNvPr>
          <p:cNvPicPr>
            <a:picLocks noChangeAspect="1"/>
          </p:cNvPicPr>
          <p:nvPr/>
        </p:nvPicPr>
        <p:blipFill>
          <a:blip r:embed="rId1"/>
          <a:stretch>
            <a:fillRect/>
          </a:stretch>
        </p:blipFill>
        <p:spPr>
          <a:xfrm>
            <a:off x="548640" y="1207008"/>
            <a:ext cx="5189220" cy="2075688"/>
          </a:xfrm>
          <a:prstGeom prst="rect">
            <a:avLst/>
          </a:prstGeom>
        </p:spPr>
      </p:pic>
      <p:sp>
        <p:nvSpPr>
          <p:cNvPr id="7" name="Text 3"/>
          <p:cNvSpPr txBox="1"/>
          <p:nvPr/>
        </p:nvSpPr>
        <p:spPr>
          <a:xfrm>
            <a:off x="548640" y="3319272"/>
            <a:ext cx="5440680" cy="310896"/>
          </a:xfrm>
          <a:prstGeom prst="rect">
            <a:avLst/>
          </a:prstGeom>
          <a:noFill/>
          <a:ln/>
        </p:spPr>
        <p:txBody>
          <a:bodyPr wrap="square" lIns="0" tIns="0" rIns="0" bIns="0" rtlCol="0" anchor="t"/>
          <a:lstStyle/>
          <a:p>
            <a:pPr algn="l" indent="0" marL="0">
              <a:buNone/>
            </a:pPr>
            <a:r>
              <a:rPr lang="en-US" sz="1400" b="1" dirty="0">
                <a:solidFill>
                  <a:schemeClr val="tx2"/>
                </a:solidFill>
              </a:rPr>
              <a:t>Portada en GitHub Pages: enlaces y matriz</a:t>
            </a:r>
            <a:endParaRPr lang="en-US" sz="1400" dirty="0"/>
          </a:p>
        </p:txBody>
      </p:sp>
      <p:sp>
        <p:nvSpPr>
          <p:cNvPr id="8" name="Marco HTML para personas: Playwright, CP-W10 paso a paso"/>
          <p:cNvSpPr/>
          <p:nvPr/>
        </p:nvSpPr>
        <p:spPr>
          <a:xfrm>
            <a:off x="6158484" y="1193292"/>
            <a:ext cx="5177240" cy="2103120"/>
          </a:xfrm>
          <a:prstGeom prst="rect">
            <a:avLst/>
          </a:prstGeom>
          <a:solidFill>
            <a:srgbClr val="FFFFFF"/>
          </a:solidFill>
          <a:ln w="9525">
            <a:solidFill>
              <a:srgbClr val="B9C6CB"/>
            </a:solidFill>
            <a:prstDash val="solid"/>
          </a:ln>
        </p:spPr>
      </p:sp>
      <p:pic>
        <p:nvPicPr>
          <p:cNvPr id="9" name="HTML para personas: Playwright, CP-W10 paso a paso" descr="HTML para personas: Playwright, CP-W10 paso a paso">    </p:cNvPr>
          <p:cNvPicPr>
            <a:picLocks noChangeAspect="1"/>
          </p:cNvPicPr>
          <p:nvPr/>
        </p:nvPicPr>
        <p:blipFill>
          <a:blip r:embed="rId2"/>
          <a:stretch>
            <a:fillRect/>
          </a:stretch>
        </p:blipFill>
        <p:spPr>
          <a:xfrm>
            <a:off x="6172200" y="1207008"/>
            <a:ext cx="5149808" cy="2075688"/>
          </a:xfrm>
          <a:prstGeom prst="rect">
            <a:avLst/>
          </a:prstGeom>
        </p:spPr>
      </p:pic>
      <p:sp>
        <p:nvSpPr>
          <p:cNvPr id="10" name="Text 5"/>
          <p:cNvSpPr txBox="1"/>
          <p:nvPr/>
        </p:nvSpPr>
        <p:spPr>
          <a:xfrm>
            <a:off x="6172200" y="3319272"/>
            <a:ext cx="5440680" cy="310896"/>
          </a:xfrm>
          <a:prstGeom prst="rect">
            <a:avLst/>
          </a:prstGeom>
          <a:noFill/>
          <a:ln/>
        </p:spPr>
        <p:txBody>
          <a:bodyPr wrap="square" lIns="0" tIns="0" rIns="0" bIns="0" rtlCol="0" anchor="t"/>
          <a:lstStyle/>
          <a:p>
            <a:pPr algn="l" indent="0" marL="0">
              <a:buNone/>
            </a:pPr>
            <a:r>
              <a:rPr lang="en-US" sz="1400" b="1" dirty="0">
                <a:solidFill>
                  <a:schemeClr val="tx2"/>
                </a:solidFill>
              </a:rPr>
              <a:t>HTML para personas: Playwright, CP-W10 paso a paso</a:t>
            </a:r>
            <a:endParaRPr lang="en-US" sz="1400" dirty="0"/>
          </a:p>
        </p:txBody>
      </p:sp>
      <p:sp>
        <p:nvSpPr>
          <p:cNvPr id="11" name="Marco HTML para personas: pytest-html, 64 pasan y 4 xfail"/>
          <p:cNvSpPr/>
          <p:nvPr/>
        </p:nvSpPr>
        <p:spPr>
          <a:xfrm>
            <a:off x="534924" y="3735324"/>
            <a:ext cx="5229156" cy="2103120"/>
          </a:xfrm>
          <a:prstGeom prst="rect">
            <a:avLst/>
          </a:prstGeom>
          <a:solidFill>
            <a:srgbClr val="FFFFFF"/>
          </a:solidFill>
          <a:ln w="9525">
            <a:solidFill>
              <a:srgbClr val="B9C6CB"/>
            </a:solidFill>
            <a:prstDash val="solid"/>
          </a:ln>
        </p:spPr>
      </p:sp>
      <p:pic>
        <p:nvPicPr>
          <p:cNvPr id="12" name="HTML para personas: pytest-html, 64 pasan y 4 xfail" descr="HTML para personas: pytest-html, 64 pasan y 4 xfail">    </p:cNvPr>
          <p:cNvPicPr>
            <a:picLocks noChangeAspect="1"/>
          </p:cNvPicPr>
          <p:nvPr/>
        </p:nvPicPr>
        <p:blipFill>
          <a:blip r:embed="rId3"/>
          <a:stretch>
            <a:fillRect/>
          </a:stretch>
        </p:blipFill>
        <p:spPr>
          <a:xfrm>
            <a:off x="548640" y="3749040"/>
            <a:ext cx="5201724" cy="2075688"/>
          </a:xfrm>
          <a:prstGeom prst="rect">
            <a:avLst/>
          </a:prstGeom>
        </p:spPr>
      </p:pic>
      <p:sp>
        <p:nvSpPr>
          <p:cNvPr id="13" name="Text 7"/>
          <p:cNvSpPr txBox="1"/>
          <p:nvPr/>
        </p:nvSpPr>
        <p:spPr>
          <a:xfrm>
            <a:off x="548640" y="5861304"/>
            <a:ext cx="5440680" cy="310896"/>
          </a:xfrm>
          <a:prstGeom prst="rect">
            <a:avLst/>
          </a:prstGeom>
          <a:noFill/>
          <a:ln/>
        </p:spPr>
        <p:txBody>
          <a:bodyPr wrap="square" lIns="0" tIns="0" rIns="0" bIns="0" rtlCol="0" anchor="t"/>
          <a:lstStyle/>
          <a:p>
            <a:pPr algn="l" indent="0" marL="0">
              <a:buNone/>
            </a:pPr>
            <a:r>
              <a:rPr lang="en-US" sz="1400" b="1" dirty="0">
                <a:solidFill>
                  <a:schemeClr val="tx2"/>
                </a:solidFill>
              </a:rPr>
              <a:t>HTML para personas: pytest-html, 64 pasan y 4 xfail</a:t>
            </a:r>
            <a:endParaRPr lang="en-US" sz="1400" dirty="0"/>
          </a:p>
        </p:txBody>
      </p:sp>
      <p:sp>
        <p:nvSpPr>
          <p:cNvPr id="14" name="Text 8"/>
          <p:cNvSpPr txBox="1"/>
          <p:nvPr/>
        </p:nvSpPr>
        <p:spPr>
          <a:xfrm>
            <a:off x="6172200" y="5861304"/>
            <a:ext cx="5440680" cy="310896"/>
          </a:xfrm>
          <a:prstGeom prst="rect">
            <a:avLst/>
          </a:prstGeom>
          <a:noFill/>
          <a:ln/>
        </p:spPr>
        <p:txBody>
          <a:bodyPr wrap="square" lIns="0" tIns="0" rIns="0" bIns="0" rtlCol="0" anchor="t"/>
          <a:lstStyle/>
          <a:p>
            <a:pPr algn="l" indent="0" marL="0">
              <a:buNone/>
            </a:pPr>
            <a:r>
              <a:rPr lang="en-US" sz="1400" b="1" dirty="0">
                <a:solidFill>
                  <a:schemeClr val="tx2"/>
                </a:solidFill>
              </a:rPr>
              <a:t>JUnit XML para herramientas: alimenta resumen y matriz</a:t>
            </a:r>
            <a:endParaRPr lang="en-US" sz="1400" dirty="0"/>
          </a:p>
        </p:txBody>
      </p:sp>
      <p:sp>
        <p:nvSpPr>
          <p:cNvPr id="15" name="Código JUnit XML"/>
          <p:cNvSpPr/>
          <p:nvPr/>
        </p:nvSpPr>
        <p:spPr>
          <a:xfrm>
            <a:off x="6172200" y="3749040"/>
            <a:ext cx="5440680" cy="2075688"/>
          </a:xfrm>
          <a:prstGeom prst="roundRect">
            <a:avLst>
              <a:gd name="adj" fmla="val 2203"/>
            </a:avLst>
          </a:prstGeom>
          <a:solidFill>
            <a:schemeClr val="tx2"/>
          </a:solidFill>
          <a:ln/>
        </p:spPr>
        <p:txBody>
          <a:bodyPr wrap="square" lIns="76200" tIns="76200" rIns="76200" bIns="7620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&lt;testsuite name="pytest" errors="0" failures="0"</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skipped="4" tests="68" time="35.963"&gt;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&lt;testcase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classname="tests.api.test_solicitudes_api"</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name="test_cpa32_una_solicitud_vencida_no_</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se_puede_aceptar"&gt;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&lt;skipped type="pytest.xfail"</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message="DEF-03 reportado en docs/defectos.md"/&gt;</a:t>
            </a:r>
            <a:endParaRPr lang="en-US" sz="11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Schemathesis también va en el pipeline</a:t>
            </a:r>
            <a:endParaRPr lang="en-US" sz="3000" dirty="0"/>
          </a:p>
        </p:txBody>
      </p:sp>
      <p:sp>
        <p:nvSpPr>
          <p:cNvPr id="4" name="Etiqueta Criterio 3 · 5 pts"/>
          <p:cNvSpPr/>
          <p:nvPr/>
        </p:nvSpPr>
        <p:spPr>
          <a:xfrm>
            <a:off x="9646920" y="475488"/>
            <a:ext cx="1965960" cy="457200"/>
          </a:xfrm>
          <a:prstGeom prst="roundRect">
            <a:avLst>
              <a:gd name="adj" fmla="val 24000"/>
            </a:avLst>
          </a:prstGeom>
          <a:solidFill>
            <a:schemeClr val="accent1"/>
          </a:solidFill>
          <a:ln/>
        </p:spPr>
        <p:txBody>
          <a:bodyPr wrap="square" lIns="0" tIns="0" rIns="0" bIns="0" rtlCol="0" anchor="ctr"/>
          <a:lstStyle/>
          <a:p>
            <a:pPr algn="ctr" indent="0" marL="0">
              <a:buNone/>
            </a:pPr>
            <a:r>
              <a:rPr lang="en-US" sz="1300" b="1" dirty="0">
                <a:solidFill>
                  <a:schemeClr val="bg1"/>
                </a:solidFill>
              </a:rPr>
              <a:t>Criterio 3 · 5 pts</a:t>
            </a:r>
            <a:endParaRPr lang="en-US" sz="1300" dirty="0"/>
          </a:p>
        </p:txBody>
      </p:sp>
      <p:sp>
        <p:nvSpPr>
          <p:cNvPr id="5" name="Marco Reporte publicado de Schemathesis: 728 casos, 9 operaciones, 0 fallos"/>
          <p:cNvSpPr/>
          <p:nvPr/>
        </p:nvSpPr>
        <p:spPr>
          <a:xfrm>
            <a:off x="534924" y="1220724"/>
            <a:ext cx="5879592" cy="2053180"/>
          </a:xfrm>
          <a:prstGeom prst="rect">
            <a:avLst/>
          </a:prstGeom>
          <a:solidFill>
            <a:srgbClr val="FFFFFF"/>
          </a:solidFill>
          <a:ln w="9525">
            <a:solidFill>
              <a:srgbClr val="B9C6CB"/>
            </a:solidFill>
            <a:prstDash val="solid"/>
          </a:ln>
        </p:spPr>
      </p:sp>
      <p:pic>
        <p:nvPicPr>
          <p:cNvPr id="6" name="Reporte publicado de Schemathesis: 728 casos, 9 operaciones, 0 fallos" descr="Reporte publicado de Schemathesis: 728 casos, 9 operaciones, 0 fallos">    </p:cNvPr>
          <p:cNvPicPr>
            <a:picLocks noChangeAspect="1"/>
          </p:cNvPicPr>
          <p:nvPr/>
        </p:nvPicPr>
        <p:blipFill>
          <a:blip r:embed="rId1"/>
          <a:stretch>
            <a:fillRect/>
          </a:stretch>
        </p:blipFill>
        <p:spPr>
          <a:xfrm>
            <a:off x="548640" y="1234440"/>
            <a:ext cx="5852160" cy="2025748"/>
          </a:xfrm>
          <a:prstGeom prst="rect">
            <a:avLst/>
          </a:prstGeom>
        </p:spPr>
      </p:pic>
      <p:sp>
        <p:nvSpPr>
          <p:cNvPr id="7" name="Tarjeta casos generados, 728 pasan"/>
          <p:cNvSpPr/>
          <p:nvPr/>
        </p:nvSpPr>
        <p:spPr>
          <a:xfrm>
            <a:off x="548640" y="3429000"/>
            <a:ext cx="1856232" cy="1188720"/>
          </a:xfrm>
          <a:prstGeom prst="roundRect">
            <a:avLst>
              <a:gd name="adj" fmla="val 6154"/>
            </a:avLst>
          </a:prstGeom>
          <a:solidFill>
            <a:schemeClr val="bg2"/>
          </a:solidFill>
          <a:ln/>
        </p:spPr>
      </p:sp>
      <p:sp>
        <p:nvSpPr>
          <p:cNvPr id="8" name="Text 4"/>
          <p:cNvSpPr txBox="1"/>
          <p:nvPr/>
        </p:nvSpPr>
        <p:spPr>
          <a:xfrm>
            <a:off x="667512" y="3502152"/>
            <a:ext cx="1618488" cy="603504"/>
          </a:xfrm>
          <a:prstGeom prst="rect">
            <a:avLst/>
          </a:prstGeom>
          <a:noFill/>
          <a:ln/>
        </p:spPr>
        <p:txBody>
          <a:bodyPr wrap="square" lIns="0" tIns="0" rIns="0" bIns="0" rtlCol="0" anchor="ctr"/>
          <a:lstStyle/>
          <a:p>
            <a:pPr indent="0" marL="0">
              <a:buNone/>
            </a:pPr>
            <a:r>
              <a:rPr lang="en-US" sz="3200" b="1" dirty="0">
                <a:solidFill>
                  <a:schemeClr val="accent3"/>
                </a:solidFill>
                <a:latin typeface="Cambria" pitchFamily="34" charset="0"/>
                <a:ea typeface="Cambria" pitchFamily="34" charset="-122"/>
                <a:cs typeface="Cambria" pitchFamily="34" charset="-120"/>
              </a:rPr>
              <a:t>728</a:t>
            </a:r>
            <a:endParaRPr lang="en-US" sz="3200" dirty="0"/>
          </a:p>
        </p:txBody>
      </p:sp>
      <p:sp>
        <p:nvSpPr>
          <p:cNvPr id="9" name="Text 5"/>
          <p:cNvSpPr txBox="1"/>
          <p:nvPr/>
        </p:nvSpPr>
        <p:spPr>
          <a:xfrm>
            <a:off x="667512" y="4105656"/>
            <a:ext cx="1618488" cy="457200"/>
          </a:xfrm>
          <a:prstGeom prst="rect">
            <a:avLst/>
          </a:prstGeom>
          <a:noFill/>
          <a:ln/>
        </p:spPr>
        <p:txBody>
          <a:bodyPr wrap="square" lIns="0" tIns="0" rIns="0" bIns="0" rtlCol="0" anchor="t"/>
          <a:lstStyle/>
          <a:p>
            <a:pPr indent="0" marL="0">
              <a:buNone/>
            </a:pPr>
            <a:r>
              <a:rPr lang="en-US" sz="1300" dirty="0">
                <a:solidFill>
                  <a:schemeClr val="tx1"/>
                </a:solidFill>
              </a:rPr>
              <a:t>casos generados, 728 pasan</a:t>
            </a:r>
            <a:endParaRPr lang="en-US" sz="1300" dirty="0"/>
          </a:p>
        </p:txBody>
      </p:sp>
      <p:sp>
        <p:nvSpPr>
          <p:cNvPr id="10" name="Tarjeta operaciones de G4 probadas"/>
          <p:cNvSpPr/>
          <p:nvPr/>
        </p:nvSpPr>
        <p:spPr>
          <a:xfrm>
            <a:off x="2542032" y="3429000"/>
            <a:ext cx="1856232" cy="1188720"/>
          </a:xfrm>
          <a:prstGeom prst="roundRect">
            <a:avLst>
              <a:gd name="adj" fmla="val 6154"/>
            </a:avLst>
          </a:prstGeom>
          <a:solidFill>
            <a:schemeClr val="bg2"/>
          </a:solidFill>
          <a:ln/>
        </p:spPr>
      </p:sp>
      <p:sp>
        <p:nvSpPr>
          <p:cNvPr id="11" name="Text 7"/>
          <p:cNvSpPr txBox="1"/>
          <p:nvPr/>
        </p:nvSpPr>
        <p:spPr>
          <a:xfrm>
            <a:off x="2660904" y="3502152"/>
            <a:ext cx="1618488" cy="603504"/>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9</a:t>
            </a:r>
            <a:endParaRPr lang="en-US" sz="3200" dirty="0"/>
          </a:p>
        </p:txBody>
      </p:sp>
      <p:sp>
        <p:nvSpPr>
          <p:cNvPr id="12" name="Text 8"/>
          <p:cNvSpPr txBox="1"/>
          <p:nvPr/>
        </p:nvSpPr>
        <p:spPr>
          <a:xfrm>
            <a:off x="2660904" y="4105656"/>
            <a:ext cx="1618488" cy="457200"/>
          </a:xfrm>
          <a:prstGeom prst="rect">
            <a:avLst/>
          </a:prstGeom>
          <a:noFill/>
          <a:ln/>
        </p:spPr>
        <p:txBody>
          <a:bodyPr wrap="square" lIns="0" tIns="0" rIns="0" bIns="0" rtlCol="0" anchor="t"/>
          <a:lstStyle/>
          <a:p>
            <a:pPr indent="0" marL="0">
              <a:buNone/>
            </a:pPr>
            <a:r>
              <a:rPr lang="en-US" sz="1300" dirty="0">
                <a:solidFill>
                  <a:schemeClr val="tx1"/>
                </a:solidFill>
              </a:rPr>
              <a:t>operaciones de G4 probadas</a:t>
            </a:r>
            <a:endParaRPr lang="en-US" sz="1300" dirty="0"/>
          </a:p>
        </p:txBody>
      </p:sp>
      <p:sp>
        <p:nvSpPr>
          <p:cNvPr id="13" name="Tarjeta respuestas 500 ni fallos"/>
          <p:cNvSpPr/>
          <p:nvPr/>
        </p:nvSpPr>
        <p:spPr>
          <a:xfrm>
            <a:off x="4544568" y="3429000"/>
            <a:ext cx="1856232" cy="1188720"/>
          </a:xfrm>
          <a:prstGeom prst="roundRect">
            <a:avLst>
              <a:gd name="adj" fmla="val 6154"/>
            </a:avLst>
          </a:prstGeom>
          <a:solidFill>
            <a:schemeClr val="bg2"/>
          </a:solidFill>
          <a:ln/>
        </p:spPr>
      </p:sp>
      <p:sp>
        <p:nvSpPr>
          <p:cNvPr id="14" name="Text 10"/>
          <p:cNvSpPr txBox="1"/>
          <p:nvPr/>
        </p:nvSpPr>
        <p:spPr>
          <a:xfrm>
            <a:off x="4663440" y="3502152"/>
            <a:ext cx="1618488" cy="603504"/>
          </a:xfrm>
          <a:prstGeom prst="rect">
            <a:avLst/>
          </a:prstGeom>
          <a:noFill/>
          <a:ln/>
        </p:spPr>
        <p:txBody>
          <a:bodyPr wrap="square" lIns="0" tIns="0" rIns="0" bIns="0" rtlCol="0" anchor="ctr"/>
          <a:lstStyle/>
          <a:p>
            <a:pPr indent="0" marL="0">
              <a:buNone/>
            </a:pPr>
            <a:r>
              <a:rPr lang="en-US" sz="3200" b="1" dirty="0">
                <a:solidFill>
                  <a:schemeClr val="accent3"/>
                </a:solidFill>
                <a:latin typeface="Cambria" pitchFamily="34" charset="0"/>
                <a:ea typeface="Cambria" pitchFamily="34" charset="-122"/>
                <a:cs typeface="Cambria" pitchFamily="34" charset="-120"/>
              </a:rPr>
              <a:t>0</a:t>
            </a:r>
            <a:endParaRPr lang="en-US" sz="3200" dirty="0"/>
          </a:p>
        </p:txBody>
      </p:sp>
      <p:sp>
        <p:nvSpPr>
          <p:cNvPr id="15" name="Text 11"/>
          <p:cNvSpPr txBox="1"/>
          <p:nvPr/>
        </p:nvSpPr>
        <p:spPr>
          <a:xfrm>
            <a:off x="4663440" y="4105656"/>
            <a:ext cx="1618488" cy="457200"/>
          </a:xfrm>
          <a:prstGeom prst="rect">
            <a:avLst/>
          </a:prstGeom>
          <a:noFill/>
          <a:ln/>
        </p:spPr>
        <p:txBody>
          <a:bodyPr wrap="square" lIns="0" tIns="0" rIns="0" bIns="0" rtlCol="0" anchor="t"/>
          <a:lstStyle/>
          <a:p>
            <a:pPr indent="0" marL="0">
              <a:buNone/>
            </a:pPr>
            <a:r>
              <a:rPr lang="en-US" sz="1300" dirty="0">
                <a:solidFill>
                  <a:schemeClr val="tx1"/>
                </a:solidFill>
              </a:rPr>
              <a:t>respuestas 500 ni fallos</a:t>
            </a:r>
            <a:endParaRPr lang="en-US" sz="1300" dirty="0"/>
          </a:p>
        </p:txBody>
      </p:sp>
      <p:sp>
        <p:nvSpPr>
          <p:cNvPr id="16" name="Tarjeta Limitación que queda a la vista"/>
          <p:cNvSpPr/>
          <p:nvPr/>
        </p:nvSpPr>
        <p:spPr>
          <a:xfrm>
            <a:off x="548640" y="4754880"/>
            <a:ext cx="5852160" cy="1463040"/>
          </a:xfrm>
          <a:prstGeom prst="roundRect">
            <a:avLst>
              <a:gd name="adj" fmla="val 5000"/>
            </a:avLst>
          </a:prstGeom>
          <a:solidFill>
            <a:srgbClr val="FBF0D1"/>
          </a:solidFill>
          <a:ln/>
        </p:spPr>
      </p:sp>
      <p:sp>
        <p:nvSpPr>
          <p:cNvPr id="17" name="Text 13"/>
          <p:cNvSpPr txBox="1"/>
          <p:nvPr/>
        </p:nvSpPr>
        <p:spPr>
          <a:xfrm>
            <a:off x="713232" y="4846320"/>
            <a:ext cx="5522976" cy="365760"/>
          </a:xfrm>
          <a:prstGeom prst="rect">
            <a:avLst/>
          </a:prstGeom>
          <a:noFill/>
          <a:ln/>
        </p:spPr>
        <p:txBody>
          <a:bodyPr wrap="square" lIns="0" tIns="0" rIns="0" bIns="0" rtlCol="0" anchor="ctr"/>
          <a:lstStyle/>
          <a:p>
            <a:pPr indent="0" marL="0">
              <a:buNone/>
            </a:pPr>
            <a:r>
              <a:rPr lang="en-US" sz="1600" b="1" dirty="0">
                <a:solidFill>
                  <a:schemeClr val="tx2"/>
                </a:solidFill>
              </a:rPr>
              <a:t>Limitación que queda a la vista</a:t>
            </a:r>
            <a:endParaRPr lang="en-US" sz="1600" dirty="0"/>
          </a:p>
        </p:txBody>
      </p:sp>
      <p:sp>
        <p:nvSpPr>
          <p:cNvPr id="18" name="Text 14"/>
          <p:cNvSpPr txBox="1"/>
          <p:nvPr/>
        </p:nvSpPr>
        <p:spPr>
          <a:xfrm>
            <a:off x="713232" y="5230368"/>
            <a:ext cx="5522976" cy="914400"/>
          </a:xfrm>
          <a:prstGeom prst="rect">
            <a:avLst/>
          </a:prstGeom>
          <a:noFill/>
          <a:ln/>
        </p:spPr>
        <p:txBody>
          <a:bodyPr wrap="square" lIns="0" tIns="0" rIns="0" bIns="0" rtlCol="0" anchor="t"/>
          <a:lstStyle/>
          <a:p>
            <a:pPr indent="0" marL="0">
              <a:spcAft>
                <a:spcPts val="300"/>
              </a:spcAft>
              <a:buNone/>
            </a:pPr>
            <a:r>
              <a:rPr lang="en-US" sz="1400" dirty="0">
                <a:solidFill>
                  <a:schemeClr val="tx1"/>
                </a:solidFill>
              </a:rPr>
              <a:t>El reporte avisa que 4 operaciones rechazan casi todo lo generado: el contrato no declara sus reglas (DEF-05). Por eso las reglas de negocio se prueban con pytest-bdd.</a:t>
            </a:r>
            <a:endParaRPr lang="en-US" sz="1400" dirty="0"/>
          </a:p>
        </p:txBody>
      </p:sp>
      <p:graphicFrame>
        <p:nvGraphicFramePr>
          <p:cNvPr id="13" name="Verificaciones desactivadas"/>
          <p:cNvGraphicFramePr>
            <a:graphicFrameLocks noGrp="1"/>
          </p:cNvGraphicFramePr>
          <p:nvPr>
            <p:extLst>
              <p:ext uri="{D42A27DB-BD31-4B8C-83A1-F6EECF244321}">
                <p14:modId xmlns:p14="http://schemas.microsoft.com/office/powerpoint/2010/main" val="1579011935"/>
              </p:ext>
            </p:extLst>
          </p:nvPr>
        </p:nvGraphicFramePr>
        <p:xfrm>
          <a:off x="6629400" y="1234440"/>
          <a:ext cx="4983480" cy="914400"/>
        </p:xfrm>
        <a:graphic>
          <a:graphicData uri="http://schemas.openxmlformats.org/drawingml/2006/table">
            <a:tbl>
              <a:tblPr/>
              <a:tblGrid>
                <a:gridCol w="2423160"/>
                <a:gridCol w="2560320"/>
              </a:tblGrid>
              <a:tr h="411480">
                <a:tc>
                  <a:txBody>
                    <a:bodyPr/>
                    <a:lstStyle/>
                    <a:p>
                      <a:pPr indent="0" marL="0">
                        <a:buNone/>
                      </a:pPr>
                      <a:r>
                        <a:rPr lang="en-US" sz="1400" b="1" dirty="0">
                          <a:solidFill>
                            <a:schemeClr val="bg1"/>
                          </a:solidFill>
                        </a:rPr>
                        <a:t>Verificación desactivada</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Motivo en schemathesis.toml</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chemeClr val="tx2"/>
                    </a:solidFill>
                  </a:tcPr>
                </a:tc>
              </a:tr>
              <a:tr h="868680">
                <a:tc>
                  <a:txBody>
                    <a:bodyPr/>
                    <a:lstStyle/>
                    <a:p>
                      <a:pPr indent="0" marL="0">
                        <a:buNone/>
                      </a:pPr>
                      <a:r>
                        <a:rPr lang="en-US" sz="1400" dirty="0">
                          <a:solidFill>
                            <a:schemeClr val="tx1"/>
                          </a:solidFill>
                        </a:rPr>
                        <a:t>positive_data_acceptance</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400" dirty="0">
                          <a:solidFill>
                            <a:schemeClr val="tx1"/>
                          </a:solidFill>
                        </a:rPr>
                        <a:t>DEF-05: reglas que el contrato no declara</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868680">
                <a:tc>
                  <a:txBody>
                    <a:bodyPr/>
                    <a:lstStyle/>
                    <a:p>
                      <a:pPr indent="0" marL="0">
                        <a:buNone/>
                      </a:pPr>
                      <a:r>
                        <a:rPr lang="en-US" sz="1400" dirty="0">
                          <a:solidFill>
                            <a:schemeClr val="tx1"/>
                          </a:solidFill>
                        </a:rPr>
                        <a:t>allow_header_conformance</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400" dirty="0">
                          <a:solidFill>
                            <a:schemeClr val="tx1"/>
                          </a:solidFill>
                        </a:rPr>
                        <a:t>DEF-06: cabecera Allow incompleta</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1051560">
                <a:tc>
                  <a:txBody>
                    <a:bodyPr/>
                    <a:lstStyle/>
                    <a:p>
                      <a:pPr indent="0" marL="0">
                        <a:buNone/>
                      </a:pPr>
                      <a:r>
                        <a:rPr lang="en-US" sz="1400" dirty="0">
                          <a:solidFill>
                            <a:schemeClr val="tx1"/>
                          </a:solidFill>
                        </a:rPr>
                        <a:t>negative_data_rejection en PUT /api/contactos/{id}</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400" dirty="0">
                          <a:solidFill>
                            <a:schemeClr val="tx1"/>
                          </a:solidFill>
                        </a:rPr>
                        <a:t>DEF-08: favorito acepta 0 y 1. Lo halló el run #2</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868680">
                <a:tc>
                  <a:txBody>
                    <a:bodyPr/>
                    <a:lstStyle/>
                    <a:p>
                      <a:pPr indent="0" marL="0">
                        <a:buNone/>
                      </a:pPr>
                      <a:r>
                        <a:rPr lang="en-US" sz="1400" dirty="0">
                          <a:solidFill>
                            <a:schemeClr val="tx1"/>
                          </a:solidFill>
                        </a:rPr>
                        <a:t>ensure_resource_availability</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400" dirty="0">
                          <a:solidFill>
                            <a:schemeClr val="tx1"/>
                          </a:solidFill>
                        </a:rPr>
                        <a:t>Falso positivo: HU-G4-08 CA4 exige ese 404</a:t>
                      </a:r>
                      <a:endParaRPr lang="en-US" sz="14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bl>
          </a:graphicData>
        </a:graphic>
      </p:graphicFrame>
      <p:sp>
        <p:nvSpPr>
          <p:cNvPr id="20" name="Text 15"/>
          <p:cNvSpPr txBox="1"/>
          <p:nvPr/>
        </p:nvSpPr>
        <p:spPr>
          <a:xfrm>
            <a:off x="6629400" y="5532120"/>
            <a:ext cx="4983480" cy="548640"/>
          </a:xfrm>
          <a:prstGeom prst="rect">
            <a:avLst/>
          </a:prstGeom>
          <a:noFill/>
          <a:ln/>
        </p:spPr>
        <p:txBody>
          <a:bodyPr wrap="square" lIns="0" tIns="0" rIns="0" bIns="0" rtlCol="0" anchor="t"/>
          <a:lstStyle/>
          <a:p>
            <a:pPr algn="l" indent="0" marL="0">
              <a:buNone/>
            </a:pPr>
            <a:r>
              <a:rPr lang="en-US" sz="1400" dirty="0">
                <a:solidFill>
                  <a:schemeClr val="tx1"/>
                </a:solidFill>
              </a:rPr>
              <a:t>Las demás siguen activas, incluidas las de error 500 y esquema de respuesta.</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Quality gate: el PR #3 no entra a main</a:t>
            </a:r>
            <a:endParaRPr lang="en-US" sz="3000" dirty="0"/>
          </a:p>
        </p:txBody>
      </p:sp>
      <p:sp>
        <p:nvSpPr>
          <p:cNvPr id="4" name="Etiqueta Criterio 3 · 5 pts"/>
          <p:cNvSpPr/>
          <p:nvPr/>
        </p:nvSpPr>
        <p:spPr>
          <a:xfrm>
            <a:off x="9646920" y="475488"/>
            <a:ext cx="1965960" cy="457200"/>
          </a:xfrm>
          <a:prstGeom prst="roundRect">
            <a:avLst>
              <a:gd name="adj" fmla="val 24000"/>
            </a:avLst>
          </a:prstGeom>
          <a:solidFill>
            <a:schemeClr val="accent1"/>
          </a:solidFill>
          <a:ln/>
        </p:spPr>
        <p:txBody>
          <a:bodyPr wrap="square" lIns="0" tIns="0" rIns="0" bIns="0" rtlCol="0" anchor="ctr"/>
          <a:lstStyle/>
          <a:p>
            <a:pPr algn="ctr" indent="0" marL="0">
              <a:buNone/>
            </a:pPr>
            <a:r>
              <a:rPr lang="en-US" sz="1300" b="1" dirty="0">
                <a:solidFill>
                  <a:schemeClr val="bg1"/>
                </a:solidFill>
              </a:rPr>
              <a:t>Criterio 3 · 5 pts</a:t>
            </a:r>
            <a:endParaRPr lang="en-US" sz="1300" dirty="0"/>
          </a:p>
        </p:txBody>
      </p:sp>
      <p:sp>
        <p:nvSpPr>
          <p:cNvPr id="5" name="Marco Run 8 del PR 3: api en rojo, web y reportes omitidos"/>
          <p:cNvSpPr/>
          <p:nvPr/>
        </p:nvSpPr>
        <p:spPr>
          <a:xfrm>
            <a:off x="534924" y="1220724"/>
            <a:ext cx="6331675" cy="2340864"/>
          </a:xfrm>
          <a:prstGeom prst="rect">
            <a:avLst/>
          </a:prstGeom>
          <a:solidFill>
            <a:srgbClr val="FFFFFF"/>
          </a:solidFill>
          <a:ln w="9525">
            <a:solidFill>
              <a:srgbClr val="B9C6CB"/>
            </a:solidFill>
            <a:prstDash val="solid"/>
          </a:ln>
        </p:spPr>
      </p:sp>
      <p:pic>
        <p:nvPicPr>
          <p:cNvPr id="6" name="Run 8 del PR 3: api en rojo, web y reportes omitidos" descr="Run 8 del PR 3: api en rojo, web y reportes omitidos">    </p:cNvPr>
          <p:cNvPicPr>
            <a:picLocks noChangeAspect="1"/>
          </p:cNvPicPr>
          <p:nvPr/>
        </p:nvPicPr>
        <p:blipFill>
          <a:blip r:embed="rId1"/>
          <a:stretch>
            <a:fillRect/>
          </a:stretch>
        </p:blipFill>
        <p:spPr>
          <a:xfrm>
            <a:off x="548640" y="1234440"/>
            <a:ext cx="6304243" cy="2313432"/>
          </a:xfrm>
          <a:prstGeom prst="rect">
            <a:avLst/>
          </a:prstGeom>
        </p:spPr>
      </p:pic>
      <p:sp>
        <p:nvSpPr>
          <p:cNvPr id="7" name="Código Log y protección de rama"/>
          <p:cNvSpPr/>
          <p:nvPr/>
        </p:nvSpPr>
        <p:spPr>
          <a:xfrm>
            <a:off x="7040880" y="1234440"/>
            <a:ext cx="4572000" cy="2313432"/>
          </a:xfrm>
          <a:prstGeom prst="roundRect">
            <a:avLst>
              <a:gd name="adj" fmla="val 1976"/>
            </a:avLst>
          </a:prstGeom>
          <a:solidFill>
            <a:schemeClr val="tx2"/>
          </a:solidFill>
          <a:ln/>
        </p:spPr>
        <p:txBody>
          <a:bodyPr wrap="square" lIns="76200" tIns="76200" rIns="76200" bIns="7620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 Log real del job api</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E AssertionError:</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assert '775.00' == '770.00'</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1 failed, 63 passed, 4 xfailed</a:t>
            </a:r>
            <a:endParaRPr lang="en-US" sz="1200" dirty="0"/>
          </a:p>
          <a:p>
            <a:pPr indent="0" marL="0">
              <a:buNone/>
            </a:pP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GitHub API, PR #3 y rama main</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mergeStateStatus: BLOCKED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required checks: [api, web]</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enforce_admins: true</a:t>
            </a:r>
            <a:endParaRPr lang="en-US" sz="1200" dirty="0"/>
          </a:p>
        </p:txBody>
      </p:sp>
      <p:graphicFrame>
        <p:nvGraphicFramePr>
          <p:cNvPr id="14" name="Condiciones del quality gate"/>
          <p:cNvGraphicFramePr>
            <a:graphicFrameLocks noGrp="1"/>
          </p:cNvGraphicFramePr>
          <p:nvPr>
            <p:extLst>
              <p:ext uri="{D42A27DB-BD31-4B8C-83A1-F6EECF244321}">
                <p14:modId xmlns:p14="http://schemas.microsoft.com/office/powerpoint/2010/main" val="1579011935"/>
              </p:ext>
            </p:extLst>
          </p:nvPr>
        </p:nvGraphicFramePr>
        <p:xfrm>
          <a:off x="548640" y="3749040"/>
          <a:ext cx="11064240" cy="914400"/>
        </p:xfrm>
        <a:graphic>
          <a:graphicData uri="http://schemas.openxmlformats.org/drawingml/2006/table">
            <a:tbl>
              <a:tblPr/>
              <a:tblGrid>
                <a:gridCol w="3474720"/>
                <a:gridCol w="3474720"/>
                <a:gridCol w="4114800"/>
              </a:tblGrid>
              <a:tr h="484632">
                <a:tc>
                  <a:txBody>
                    <a:bodyPr/>
                    <a:lstStyle/>
                    <a:p>
                      <a:pPr indent="0" marL="0">
                        <a:buNone/>
                      </a:pPr>
                      <a:r>
                        <a:rPr lang="en-US" sz="1500" b="1" dirty="0">
                          <a:solidFill>
                            <a:schemeClr val="bg1"/>
                          </a:solidFill>
                        </a:rPr>
                        <a:t>Condición de la clase</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Cómo se automatiza</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Qué pasó de verdad</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chemeClr val="tx2"/>
                    </a:solidFill>
                  </a:tcPr>
                </a:tc>
              </a:tr>
              <a:tr h="484632">
                <a:tc>
                  <a:txBody>
                    <a:bodyPr/>
                    <a:lstStyle/>
                    <a:p>
                      <a:pPr indent="0" marL="0">
                        <a:buNone/>
                      </a:pPr>
                      <a:r>
                        <a:rPr lang="en-US" sz="1500" dirty="0">
                          <a:solidFill>
                            <a:schemeClr val="tx1"/>
                          </a:solidFill>
                        </a:rPr>
                        <a:t>Todas las pruebas pasan</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chemeClr val="tx1"/>
                          </a:solidFill>
                        </a:rPr>
                        <a:t>El step termina con error</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b="1" dirty="0">
                          <a:solidFill>
                            <a:srgbClr val="C0392B"/>
                          </a:solidFill>
                        </a:rPr>
                        <a:t>PR #3: api con 1 fallo, exit 1</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484632">
                <a:tc>
                  <a:txBody>
                    <a:bodyPr/>
                    <a:lstStyle/>
                    <a:p>
                      <a:pPr indent="0" marL="0">
                        <a:buNone/>
                      </a:pPr>
                      <a:r>
                        <a:rPr lang="en-US" sz="1500" dirty="0">
                          <a:solidFill>
                            <a:schemeClr val="tx1"/>
                          </a:solidFill>
                        </a:rPr>
                        <a:t>Fallos conocidos reportados</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chemeClr val="tx1"/>
                          </a:solidFill>
                        </a:rPr>
                        <a:t>xfail estricto con @DEF-xx</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b="1" dirty="0">
                          <a:solidFill>
                            <a:schemeClr val="accent3"/>
                          </a:solidFill>
                        </a:rPr>
                        <a:t>Run #10: 4 xfail → DEF-01 a DEF-04</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484632">
                <a:tc>
                  <a:txBody>
                    <a:bodyPr/>
                    <a:lstStyle/>
                    <a:p>
                      <a:pPr indent="0" marL="0">
                        <a:buNone/>
                      </a:pPr>
                      <a:r>
                        <a:rPr lang="en-US" sz="1500" dirty="0">
                          <a:solidFill>
                            <a:schemeClr val="tx1"/>
                          </a:solidFill>
                        </a:rPr>
                        <a:t>Sin pruebas frágiles</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chemeClr val="tx1"/>
                          </a:solidFill>
                        </a:rPr>
                        <a:t>failOnFlakyTests</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b="1" dirty="0">
                          <a:solidFill>
                            <a:schemeClr val="accent3"/>
                          </a:solidFill>
                        </a:rPr>
                        <a:t>Run #10: 0 flaky en 57</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484632">
                <a:tc>
                  <a:txBody>
                    <a:bodyPr/>
                    <a:lstStyle/>
                    <a:p>
                      <a:pPr indent="0" marL="0">
                        <a:buNone/>
                      </a:pPr>
                      <a:r>
                        <a:rPr lang="en-US" sz="1500" dirty="0">
                          <a:solidFill>
                            <a:schemeClr val="tx1"/>
                          </a:solidFill>
                        </a:rPr>
                        <a:t>El PR no se fusiona si falla</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chemeClr val="tx1"/>
                          </a:solidFill>
                        </a:rPr>
                        <a:t>Protección de rama con api y web</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b="1" dirty="0">
                          <a:solidFill>
                            <a:srgbClr val="C0392B"/>
                          </a:solidFill>
                        </a:rPr>
                        <a:t>PR #3: BLOCKED, sigue abierto</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El ejercicio 2 de la clase, con runs reales</a:t>
            </a:r>
            <a:endParaRPr lang="en-US" sz="3000" dirty="0"/>
          </a:p>
        </p:txBody>
      </p:sp>
      <p:sp>
        <p:nvSpPr>
          <p:cNvPr id="4" name="Etiqueta Criterio 3 · 5 pts"/>
          <p:cNvSpPr/>
          <p:nvPr/>
        </p:nvSpPr>
        <p:spPr>
          <a:xfrm>
            <a:off x="9646920" y="475488"/>
            <a:ext cx="1965960" cy="457200"/>
          </a:xfrm>
          <a:prstGeom prst="roundRect">
            <a:avLst>
              <a:gd name="adj" fmla="val 24000"/>
            </a:avLst>
          </a:prstGeom>
          <a:solidFill>
            <a:schemeClr val="accent1"/>
          </a:solidFill>
          <a:ln/>
        </p:spPr>
        <p:txBody>
          <a:bodyPr wrap="square" lIns="0" tIns="0" rIns="0" bIns="0" rtlCol="0" anchor="ctr"/>
          <a:lstStyle/>
          <a:p>
            <a:pPr algn="ctr" indent="0" marL="0">
              <a:buNone/>
            </a:pPr>
            <a:r>
              <a:rPr lang="en-US" sz="1300" b="1" dirty="0">
                <a:solidFill>
                  <a:schemeClr val="bg1"/>
                </a:solidFill>
              </a:rPr>
              <a:t>Criterio 3 · 5 pts</a:t>
            </a:r>
            <a:endParaRPr lang="en-US" sz="1300" dirty="0"/>
          </a:p>
        </p:txBody>
      </p:sp>
      <p:graphicFrame>
        <p:nvGraphicFramePr>
          <p:cNvPr id="15" name="Ejercicio 2 con runs reales"/>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457200"/>
                <a:gridCol w="2651760"/>
                <a:gridCol w="3840480"/>
                <a:gridCol w="1097280"/>
                <a:gridCol w="3017520"/>
              </a:tblGrid>
              <a:tr h="457200">
                <a:tc>
                  <a:txBody>
                    <a:bodyPr/>
                    <a:lstStyle/>
                    <a:p>
                      <a:pPr indent="0" marL="0">
                        <a:buNone/>
                      </a:pPr>
                      <a:r>
                        <a:rPr lang="en-US" sz="1500" b="1" dirty="0">
                          <a:solidFill>
                            <a:schemeClr val="bg1"/>
                          </a:solidFill>
                        </a:rPr>
                        <a:t>#</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Caso de la clase</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Mi pipeline, en un run real</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¿Pasa?</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Por qué</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chemeClr val="tx2"/>
                    </a:solidFill>
                  </a:tcPr>
                </a:tc>
              </a:tr>
              <a:tr h="841248">
                <a:tc>
                  <a:txBody>
                    <a:bodyPr/>
                    <a:lstStyle/>
                    <a:p>
                      <a:pPr indent="0" marL="0">
                        <a:buNone/>
                      </a:pPr>
                      <a:r>
                        <a:rPr lang="en-US" sz="1500" dirty="0">
                          <a:solidFill>
                            <a:schemeClr val="tx1"/>
                          </a:solidFill>
                        </a:rPr>
                        <a:t>A</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chemeClr val="tx1"/>
                          </a:solidFill>
                        </a:rPr>
                        <a:t>xfailed reportados, el resto passed</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chemeClr val="tx1"/>
                          </a:solidFill>
                        </a:rPr>
                        <a:t>Run #10. API: 64 passed, 4 xfailed (DEF-01 a 04). Web: 57 passed</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ctr" indent="0" marL="0">
                        <a:buNone/>
                      </a:pPr>
                      <a:r>
                        <a:rPr lang="en-US" sz="1500" b="1" dirty="0">
                          <a:solidFill>
                            <a:srgbClr val="1E8E5A"/>
                          </a:solidFill>
                        </a:rPr>
                        <a:t>Sí</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E3F3EA"/>
                    </a:solidFill>
                  </a:tcPr>
                </a:tc>
                <a:tc>
                  <a:txBody>
                    <a:bodyPr/>
                    <a:lstStyle/>
                    <a:p>
                      <a:pPr indent="0" marL="0">
                        <a:buNone/>
                      </a:pPr>
                      <a:r>
                        <a:rPr lang="en-US" sz="1500" dirty="0">
                          <a:solidFill>
                            <a:schemeClr val="tx1"/>
                          </a:solidFill>
                        </a:rPr>
                        <a:t>Fallos esperados con defecto reportado</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841248">
                <a:tc>
                  <a:txBody>
                    <a:bodyPr/>
                    <a:lstStyle/>
                    <a:p>
                      <a:pPr indent="0" marL="0">
                        <a:buNone/>
                      </a:pPr>
                      <a:r>
                        <a:rPr lang="en-US" sz="1500" dirty="0">
                          <a:solidFill>
                            <a:schemeClr val="tx1"/>
                          </a:solidFill>
                        </a:rPr>
                        <a:t>B</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chemeClr val="tx1"/>
                          </a:solidFill>
                        </a:rPr>
                        <a:t>1 failed: «en mi máquina pasa»</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chemeClr val="tx1"/>
                          </a:solidFill>
                        </a:rPr>
                        <a:t>Run #1. API: 6 failed, 58 passed, 4 xfailed. En local, todo verde</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ctr" indent="0" marL="0">
                        <a:buNone/>
                      </a:pPr>
                      <a:r>
                        <a:rPr lang="en-US" sz="1500" b="1" dirty="0">
                          <a:solidFill>
                            <a:srgbClr val="C0392B"/>
                          </a:solidFill>
                        </a:rPr>
                        <a:t>No</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9E1DE"/>
                    </a:solidFill>
                  </a:tcPr>
                </a:tc>
                <a:tc>
                  <a:txBody>
                    <a:bodyPr/>
                    <a:lstStyle/>
                    <a:p>
                      <a:pPr indent="0" marL="0">
                        <a:buNone/>
                      </a:pPr>
                      <a:r>
                        <a:rPr lang="en-US" sz="1500" dirty="0">
                          <a:solidFill>
                            <a:schemeClr val="tx1"/>
                          </a:solidFill>
                        </a:rPr>
                        <a:t>El pipeline es la referencia. Era un defecto real: DEF-07</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841248">
                <a:tc>
                  <a:txBody>
                    <a:bodyPr/>
                    <a:lstStyle/>
                    <a:p>
                      <a:pPr indent="0" marL="0">
                        <a:buNone/>
                      </a:pPr>
                      <a:r>
                        <a:rPr lang="en-US" sz="1500" dirty="0">
                          <a:solidFill>
                            <a:schemeClr val="tx1"/>
                          </a:solidFill>
                        </a:rPr>
                        <a:t>C</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chemeClr val="tx1"/>
                          </a:solidFill>
                        </a:rPr>
                        <a:t>1 flaky: falló y pasó en el reintento</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chemeClr val="tx1"/>
                          </a:solidFill>
                        </a:rPr>
                        <a:t>No ocurrió: 0 flaky en 57. failOnFlakyTests está activo en CI</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ctr" indent="0" marL="0">
                        <a:buNone/>
                      </a:pPr>
                      <a:r>
                        <a:rPr lang="en-US" sz="1500" b="1" dirty="0">
                          <a:solidFill>
                            <a:schemeClr val="tx2"/>
                          </a:solidFill>
                        </a:rPr>
                        <a:t>Lo bloquea</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BF0D1"/>
                    </a:solidFill>
                  </a:tcPr>
                </a:tc>
                <a:tc>
                  <a:txBody>
                    <a:bodyPr/>
                    <a:lstStyle/>
                    <a:p>
                      <a:pPr indent="0" marL="0">
                        <a:buNone/>
                      </a:pPr>
                      <a:r>
                        <a:rPr lang="en-US" sz="1500" dirty="0">
                          <a:solidFill>
                            <a:schemeClr val="tx1"/>
                          </a:solidFill>
                        </a:rPr>
                        <a:t>Un flaky pondría el pipeline en rojo para investigarlo</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841248">
                <a:tc>
                  <a:txBody>
                    <a:bodyPr/>
                    <a:lstStyle/>
                    <a:p>
                      <a:pPr indent="0" marL="0">
                        <a:buNone/>
                      </a:pPr>
                      <a:r>
                        <a:rPr lang="en-US" sz="1500" dirty="0">
                          <a:solidFill>
                            <a:schemeClr val="tx1"/>
                          </a:solidFill>
                        </a:rPr>
                        <a:t>D</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chemeClr val="tx1"/>
                          </a:solidFill>
                        </a:rPr>
                        <a:t>API: 1 failed. Web: skipped</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chemeClr val="tx1"/>
                          </a:solidFill>
                        </a:rPr>
                        <a:t>Run #8, PR #3. API: 1 failed, 63 passed, 4 xfailed. Web: skipped</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algn="ctr" indent="0" marL="0">
                        <a:buNone/>
                      </a:pPr>
                      <a:r>
                        <a:rPr lang="en-US" sz="1500" b="1" dirty="0">
                          <a:solidFill>
                            <a:srgbClr val="C0392B"/>
                          </a:solidFill>
                        </a:rPr>
                        <a:t>No</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rgbClr val="F9E1DE"/>
                    </a:solidFill>
                  </a:tcPr>
                </a:tc>
                <a:tc>
                  <a:txBody>
                    <a:bodyPr/>
                    <a:lstStyle/>
                    <a:p>
                      <a:pPr indent="0" marL="0">
                        <a:buNone/>
                      </a:pPr>
                      <a:r>
                        <a:rPr lang="en-US" sz="1500" dirty="0">
                          <a:solidFill>
                            <a:schemeClr val="tx1"/>
                          </a:solidFill>
                        </a:rPr>
                        <a:t>Skipped no es verde: la web no se probó</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bl>
          </a:graphicData>
        </a:graphic>
      </p:graphicFrame>
      <p:sp>
        <p:nvSpPr>
          <p:cNvPr id="6" name="Tarjeta Quality gate del proyecto"/>
          <p:cNvSpPr/>
          <p:nvPr/>
        </p:nvSpPr>
        <p:spPr>
          <a:xfrm>
            <a:off x="548640" y="5321808"/>
            <a:ext cx="11064240" cy="896112"/>
          </a:xfrm>
          <a:prstGeom prst="roundRect">
            <a:avLst>
              <a:gd name="adj" fmla="val 8163"/>
            </a:avLst>
          </a:prstGeom>
          <a:solidFill>
            <a:schemeClr val="bg2"/>
          </a:solidFill>
          <a:ln/>
        </p:spPr>
      </p:sp>
      <p:sp>
        <p:nvSpPr>
          <p:cNvPr id="7" name="Text 3"/>
          <p:cNvSpPr txBox="1"/>
          <p:nvPr/>
        </p:nvSpPr>
        <p:spPr>
          <a:xfrm>
            <a:off x="713232" y="5413248"/>
            <a:ext cx="10735056" cy="365760"/>
          </a:xfrm>
          <a:prstGeom prst="rect">
            <a:avLst/>
          </a:prstGeom>
          <a:noFill/>
          <a:ln/>
        </p:spPr>
        <p:txBody>
          <a:bodyPr wrap="square" lIns="0" tIns="0" rIns="0" bIns="0" rtlCol="0" anchor="ctr"/>
          <a:lstStyle/>
          <a:p>
            <a:pPr indent="0" marL="0">
              <a:buNone/>
            </a:pPr>
            <a:r>
              <a:rPr lang="en-US" sz="1600" b="1" dirty="0">
                <a:solidFill>
                  <a:schemeClr val="accent1"/>
                </a:solidFill>
              </a:rPr>
              <a:t>Quality gate del proyecto</a:t>
            </a:r>
            <a:endParaRPr lang="en-US" sz="1600" dirty="0"/>
          </a:p>
        </p:txBody>
      </p:sp>
      <p:sp>
        <p:nvSpPr>
          <p:cNvPr id="8" name="Text 4"/>
          <p:cNvSpPr txBox="1"/>
          <p:nvPr/>
        </p:nvSpPr>
        <p:spPr>
          <a:xfrm>
            <a:off x="713232" y="5797296"/>
            <a:ext cx="10735056" cy="347472"/>
          </a:xfrm>
          <a:prstGeom prst="rect">
            <a:avLst/>
          </a:prstGeom>
          <a:noFill/>
          <a:ln/>
        </p:spPr>
        <p:txBody>
          <a:bodyPr wrap="square" lIns="0" tIns="0" rIns="0" bIns="0" rtlCol="0" anchor="t"/>
          <a:lstStyle/>
          <a:p>
            <a:pPr indent="0" marL="0">
              <a:spcAft>
                <a:spcPts val="300"/>
              </a:spcAft>
              <a:buNone/>
            </a:pPr>
            <a:r>
              <a:rPr lang="en-US" sz="1500" dirty="0">
                <a:solidFill>
                  <a:schemeClr val="tx1"/>
                </a:solidFill>
              </a:rPr>
              <a:t>Todas las pruebas pasan, salvo los defectos reportados en docs/defectos.md; sin flaky por investigar; reportes publicados.</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Trazabilidad: de la historia al run</a:t>
            </a:r>
            <a:endParaRPr lang="en-US" sz="3000" dirty="0"/>
          </a:p>
        </p:txBody>
      </p:sp>
      <p:sp>
        <p:nvSpPr>
          <p:cNvPr id="4" name="Etiqueta Criterio 4 · 4 pts"/>
          <p:cNvSpPr/>
          <p:nvPr/>
        </p:nvSpPr>
        <p:spPr>
          <a:xfrm>
            <a:off x="9646920" y="475488"/>
            <a:ext cx="1965960" cy="457200"/>
          </a:xfrm>
          <a:prstGeom prst="roundRect">
            <a:avLst>
              <a:gd name="adj" fmla="val 24000"/>
            </a:avLst>
          </a:prstGeom>
          <a:solidFill>
            <a:schemeClr val="accent1"/>
          </a:solidFill>
          <a:ln/>
        </p:spPr>
        <p:txBody>
          <a:bodyPr wrap="square" lIns="0" tIns="0" rIns="0" bIns="0" rtlCol="0" anchor="ctr"/>
          <a:lstStyle/>
          <a:p>
            <a:pPr algn="ctr" indent="0" marL="0">
              <a:buNone/>
            </a:pPr>
            <a:r>
              <a:rPr lang="en-US" sz="1300" b="1" dirty="0">
                <a:solidFill>
                  <a:schemeClr val="bg1"/>
                </a:solidFill>
              </a:rPr>
              <a:t>Criterio 4 · 4 pts</a:t>
            </a:r>
            <a:endParaRPr lang="en-US" sz="1300" dirty="0"/>
          </a:p>
        </p:txBody>
      </p:sp>
      <p:sp>
        <p:nvSpPr>
          <p:cNvPr id="5" name="Eslabón 1"/>
          <p:cNvSpPr/>
          <p:nvPr/>
        </p:nvSpPr>
        <p:spPr>
          <a:xfrm>
            <a:off x="548640" y="1234440"/>
            <a:ext cx="2542032" cy="777240"/>
          </a:xfrm>
          <a:prstGeom prst="roundRect">
            <a:avLst>
              <a:gd name="adj" fmla="val 9412"/>
            </a:avLst>
          </a:prstGeom>
          <a:solidFill>
            <a:schemeClr val="bg2"/>
          </a:solidFill>
          <a:ln/>
        </p:spPr>
      </p:sp>
      <p:sp>
        <p:nvSpPr>
          <p:cNvPr id="6" name="Text 3"/>
          <p:cNvSpPr txBox="1"/>
          <p:nvPr/>
        </p:nvSpPr>
        <p:spPr>
          <a:xfrm>
            <a:off x="548640" y="1234440"/>
            <a:ext cx="2542032" cy="777240"/>
          </a:xfrm>
          <a:prstGeom prst="rect">
            <a:avLst/>
          </a:prstGeom>
          <a:noFill/>
          <a:ln/>
        </p:spPr>
        <p:txBody>
          <a:bodyPr wrap="square" lIns="25400" tIns="25400" rIns="25400" bIns="25400" rtlCol="0" anchor="ctr"/>
          <a:lstStyle/>
          <a:p>
            <a:pPr algn="ctr" indent="0" marL="0">
              <a:buNone/>
            </a:pPr>
            <a:r>
              <a:rPr lang="en-US" sz="1500" b="1" dirty="0">
                <a:solidFill>
                  <a:schemeClr val="tx2"/>
                </a:solidFill>
              </a:rPr>
              <a:t>HU-G4-08 CA4</a:t>
            </a:r>
            <a:endParaRPr lang="en-US" sz="1500" dirty="0"/>
          </a:p>
          <a:p>
            <a:pPr algn="ctr" indent="0" marL="0">
              <a:buNone/>
            </a:pPr>
            <a:r>
              <a:rPr lang="en-US" sz="1300" dirty="0">
                <a:solidFill>
                  <a:schemeClr val="tx1"/>
                </a:solidFill>
              </a:rPr>
              <a:t>requisito</a:t>
            </a:r>
            <a:endParaRPr lang="en-US" sz="1500" dirty="0"/>
          </a:p>
        </p:txBody>
      </p:sp>
      <p:sp>
        <p:nvSpPr>
          <p:cNvPr id="7" name="Flecha"/>
          <p:cNvSpPr/>
          <p:nvPr/>
        </p:nvSpPr>
        <p:spPr>
          <a:xfrm>
            <a:off x="3118104" y="1508760"/>
            <a:ext cx="219456" cy="237744"/>
          </a:xfrm>
          <a:prstGeom prst="rightArrow">
            <a:avLst/>
          </a:prstGeom>
          <a:solidFill>
            <a:schemeClr val="accent5"/>
          </a:solidFill>
          <a:ln/>
        </p:spPr>
      </p:sp>
      <p:sp>
        <p:nvSpPr>
          <p:cNvPr id="8" name="Eslabón 2"/>
          <p:cNvSpPr/>
          <p:nvPr/>
        </p:nvSpPr>
        <p:spPr>
          <a:xfrm>
            <a:off x="3364992" y="1234440"/>
            <a:ext cx="2542032" cy="777240"/>
          </a:xfrm>
          <a:prstGeom prst="roundRect">
            <a:avLst>
              <a:gd name="adj" fmla="val 9412"/>
            </a:avLst>
          </a:prstGeom>
          <a:solidFill>
            <a:schemeClr val="bg2"/>
          </a:solidFill>
          <a:ln/>
        </p:spPr>
      </p:sp>
      <p:sp>
        <p:nvSpPr>
          <p:cNvPr id="9" name="Text 6"/>
          <p:cNvSpPr txBox="1"/>
          <p:nvPr/>
        </p:nvSpPr>
        <p:spPr>
          <a:xfrm>
            <a:off x="3364992" y="1234440"/>
            <a:ext cx="2542032" cy="777240"/>
          </a:xfrm>
          <a:prstGeom prst="rect">
            <a:avLst/>
          </a:prstGeom>
          <a:noFill/>
          <a:ln/>
        </p:spPr>
        <p:txBody>
          <a:bodyPr wrap="square" lIns="25400" tIns="25400" rIns="25400" bIns="25400" rtlCol="0" anchor="ctr"/>
          <a:lstStyle/>
          <a:p>
            <a:pPr algn="ctr" indent="0" marL="0">
              <a:buNone/>
            </a:pPr>
            <a:r>
              <a:rPr lang="en-US" sz="1500" b="1" dirty="0">
                <a:solidFill>
                  <a:schemeClr val="tx2"/>
                </a:solidFill>
              </a:rPr>
              <a:t>@CP-A32 @DEF-03</a:t>
            </a:r>
            <a:endParaRPr lang="en-US" sz="1500" dirty="0"/>
          </a:p>
          <a:p>
            <a:pPr algn="ctr" indent="0" marL="0">
              <a:buNone/>
            </a:pPr>
            <a:r>
              <a:rPr lang="en-US" sz="1300" dirty="0">
                <a:solidFill>
                  <a:schemeClr val="tx1"/>
                </a:solidFill>
              </a:rPr>
              <a:t>etiquetas en el .feature</a:t>
            </a:r>
            <a:endParaRPr lang="en-US" sz="1500" dirty="0"/>
          </a:p>
        </p:txBody>
      </p:sp>
      <p:sp>
        <p:nvSpPr>
          <p:cNvPr id="10" name="Flecha"/>
          <p:cNvSpPr/>
          <p:nvPr/>
        </p:nvSpPr>
        <p:spPr>
          <a:xfrm>
            <a:off x="5934456" y="1508760"/>
            <a:ext cx="219456" cy="237744"/>
          </a:xfrm>
          <a:prstGeom prst="rightArrow">
            <a:avLst/>
          </a:prstGeom>
          <a:solidFill>
            <a:schemeClr val="accent5"/>
          </a:solidFill>
          <a:ln/>
        </p:spPr>
      </p:sp>
      <p:sp>
        <p:nvSpPr>
          <p:cNvPr id="11" name="Eslabón 3"/>
          <p:cNvSpPr/>
          <p:nvPr/>
        </p:nvSpPr>
        <p:spPr>
          <a:xfrm>
            <a:off x="6181344" y="1234440"/>
            <a:ext cx="2542032" cy="777240"/>
          </a:xfrm>
          <a:prstGeom prst="roundRect">
            <a:avLst>
              <a:gd name="adj" fmla="val 9412"/>
            </a:avLst>
          </a:prstGeom>
          <a:solidFill>
            <a:schemeClr val="bg2"/>
          </a:solidFill>
          <a:ln/>
        </p:spPr>
      </p:sp>
      <p:sp>
        <p:nvSpPr>
          <p:cNvPr id="12" name="Text 9"/>
          <p:cNvSpPr txBox="1"/>
          <p:nvPr/>
        </p:nvSpPr>
        <p:spPr>
          <a:xfrm>
            <a:off x="6181344" y="1234440"/>
            <a:ext cx="2542032" cy="777240"/>
          </a:xfrm>
          <a:prstGeom prst="rect">
            <a:avLst/>
          </a:prstGeom>
          <a:noFill/>
          <a:ln/>
        </p:spPr>
        <p:txBody>
          <a:bodyPr wrap="square" lIns="25400" tIns="25400" rIns="25400" bIns="25400" rtlCol="0" anchor="ctr"/>
          <a:lstStyle/>
          <a:p>
            <a:pPr algn="ctr" indent="0" marL="0">
              <a:buNone/>
            </a:pPr>
            <a:r>
              <a:rPr lang="en-US" sz="1500" b="1" dirty="0">
                <a:solidFill>
                  <a:schemeClr val="tx2"/>
                </a:solidFill>
              </a:rPr>
              <a:t>xfailed</a:t>
            </a:r>
            <a:endParaRPr lang="en-US" sz="1500" dirty="0"/>
          </a:p>
          <a:p>
            <a:pPr algn="ctr" indent="0" marL="0">
              <a:buNone/>
            </a:pPr>
            <a:r>
              <a:rPr lang="en-US" sz="1300" dirty="0">
                <a:solidFill>
                  <a:schemeClr val="tx1"/>
                </a:solidFill>
              </a:rPr>
              <a:t>JUnit XML del run #10</a:t>
            </a:r>
            <a:endParaRPr lang="en-US" sz="1500" dirty="0"/>
          </a:p>
        </p:txBody>
      </p:sp>
      <p:sp>
        <p:nvSpPr>
          <p:cNvPr id="13" name="Flecha"/>
          <p:cNvSpPr/>
          <p:nvPr/>
        </p:nvSpPr>
        <p:spPr>
          <a:xfrm>
            <a:off x="8750808" y="1508760"/>
            <a:ext cx="219456" cy="237744"/>
          </a:xfrm>
          <a:prstGeom prst="rightArrow">
            <a:avLst/>
          </a:prstGeom>
          <a:solidFill>
            <a:schemeClr val="accent5"/>
          </a:solidFill>
          <a:ln/>
        </p:spPr>
      </p:sp>
      <p:sp>
        <p:nvSpPr>
          <p:cNvPr id="14" name="Eslabón 4"/>
          <p:cNvSpPr/>
          <p:nvPr/>
        </p:nvSpPr>
        <p:spPr>
          <a:xfrm>
            <a:off x="8997696" y="1234440"/>
            <a:ext cx="2542032" cy="777240"/>
          </a:xfrm>
          <a:prstGeom prst="roundRect">
            <a:avLst>
              <a:gd name="adj" fmla="val 9412"/>
            </a:avLst>
          </a:prstGeom>
          <a:solidFill>
            <a:srgbClr val="FBF0D1"/>
          </a:solidFill>
          <a:ln/>
        </p:spPr>
      </p:sp>
      <p:sp>
        <p:nvSpPr>
          <p:cNvPr id="15" name="Text 12"/>
          <p:cNvSpPr txBox="1"/>
          <p:nvPr/>
        </p:nvSpPr>
        <p:spPr>
          <a:xfrm>
            <a:off x="8997696" y="1234440"/>
            <a:ext cx="2542032" cy="777240"/>
          </a:xfrm>
          <a:prstGeom prst="rect">
            <a:avLst/>
          </a:prstGeom>
          <a:noFill/>
          <a:ln/>
        </p:spPr>
        <p:txBody>
          <a:bodyPr wrap="square" lIns="25400" tIns="25400" rIns="25400" bIns="25400" rtlCol="0" anchor="ctr"/>
          <a:lstStyle/>
          <a:p>
            <a:pPr algn="ctr" indent="0" marL="0">
              <a:buNone/>
            </a:pPr>
            <a:r>
              <a:rPr lang="en-US" sz="1500" b="1" dirty="0">
                <a:solidFill>
                  <a:schemeClr val="tx2"/>
                </a:solidFill>
              </a:rPr>
              <a:t>xfailed → DEF-03</a:t>
            </a:r>
            <a:endParaRPr lang="en-US" sz="1500" dirty="0"/>
          </a:p>
          <a:p>
            <a:pPr algn="ctr" indent="0" marL="0">
              <a:buNone/>
            </a:pPr>
            <a:r>
              <a:rPr lang="en-US" sz="1300" dirty="0">
                <a:solidFill>
                  <a:schemeClr val="tx1"/>
                </a:solidFill>
              </a:rPr>
              <a:t>fila en la matriz</a:t>
            </a:r>
            <a:endParaRPr lang="en-US" sz="1500" dirty="0"/>
          </a:p>
        </p:txBody>
      </p:sp>
      <p:sp>
        <p:nvSpPr>
          <p:cNvPr id="16" name="Marco Matriz de trazabilidad publicada, con la fila CP-A32 resaltada"/>
          <p:cNvSpPr/>
          <p:nvPr/>
        </p:nvSpPr>
        <p:spPr>
          <a:xfrm>
            <a:off x="534924" y="2180844"/>
            <a:ext cx="6776222" cy="4069080"/>
          </a:xfrm>
          <a:prstGeom prst="rect">
            <a:avLst/>
          </a:prstGeom>
          <a:solidFill>
            <a:srgbClr val="FFFFFF"/>
          </a:solidFill>
          <a:ln w="9525">
            <a:solidFill>
              <a:srgbClr val="B9C6CB"/>
            </a:solidFill>
            <a:prstDash val="solid"/>
          </a:ln>
        </p:spPr>
      </p:sp>
      <p:pic>
        <p:nvPicPr>
          <p:cNvPr id="17" name="Matriz de trazabilidad publicada, con la fila CP-A32 resaltada" descr="Matriz de trazabilidad publicada, con la fila CP-A32 resaltada">    </p:cNvPr>
          <p:cNvPicPr>
            <a:picLocks noChangeAspect="1"/>
          </p:cNvPicPr>
          <p:nvPr/>
        </p:nvPicPr>
        <p:blipFill>
          <a:blip r:embed="rId1"/>
          <a:stretch>
            <a:fillRect/>
          </a:stretch>
        </p:blipFill>
        <p:spPr>
          <a:xfrm>
            <a:off x="548640" y="2194560"/>
            <a:ext cx="6748790" cy="4041648"/>
          </a:xfrm>
          <a:prstGeom prst="rect">
            <a:avLst/>
          </a:prstGeom>
        </p:spPr>
      </p:pic>
      <p:graphicFrame>
        <p:nvGraphicFramePr>
          <p:cNvPr id="18" name="Resultados de la matriz" descr=""/>
          <p:cNvGraphicFramePr/>
          <p:nvPr/>
        </p:nvGraphicFramePr>
        <p:xfrm>
          <a:off x="7543800" y="2130552"/>
          <a:ext cx="4069080" cy="2514600"/>
        </p:xfrm>
        <a:graphic xmlns:a="http://schemas.openxmlformats.org/drawingml/2006/main">
          <a:graphicData uri="http://schemas.openxmlformats.org/drawingml/2006/chart">
            <c:chart xmlns:c="http://schemas.openxmlformats.org/drawingml/2006/chart" r:id="rId2"/>
          </a:graphicData>
        </a:graphic>
      </p:graphicFrame>
      <p:sp>
        <p:nvSpPr>
          <p:cNvPr id="19" name="Tarjeta Generada, no escrita a mano"/>
          <p:cNvSpPr/>
          <p:nvPr/>
        </p:nvSpPr>
        <p:spPr>
          <a:xfrm>
            <a:off x="7543800" y="4754880"/>
            <a:ext cx="4069080" cy="1463040"/>
          </a:xfrm>
          <a:prstGeom prst="roundRect">
            <a:avLst>
              <a:gd name="adj" fmla="val 5000"/>
            </a:avLst>
          </a:prstGeom>
          <a:solidFill>
            <a:schemeClr val="bg2"/>
          </a:solidFill>
          <a:ln/>
        </p:spPr>
      </p:sp>
      <p:sp>
        <p:nvSpPr>
          <p:cNvPr id="20" name="Text 15"/>
          <p:cNvSpPr txBox="1"/>
          <p:nvPr/>
        </p:nvSpPr>
        <p:spPr>
          <a:xfrm>
            <a:off x="7708392" y="4846320"/>
            <a:ext cx="3739896" cy="365760"/>
          </a:xfrm>
          <a:prstGeom prst="rect">
            <a:avLst/>
          </a:prstGeom>
          <a:noFill/>
          <a:ln/>
        </p:spPr>
        <p:txBody>
          <a:bodyPr wrap="square" lIns="0" tIns="0" rIns="0" bIns="0" rtlCol="0" anchor="ctr"/>
          <a:lstStyle/>
          <a:p>
            <a:pPr indent="0" marL="0">
              <a:buNone/>
            </a:pPr>
            <a:r>
              <a:rPr lang="en-US" sz="1600" b="1" dirty="0">
                <a:solidFill>
                  <a:schemeClr val="accent1"/>
                </a:solidFill>
              </a:rPr>
              <a:t>Generada, no escrita a mano</a:t>
            </a:r>
            <a:endParaRPr lang="en-US" sz="1600" dirty="0"/>
          </a:p>
        </p:txBody>
      </p:sp>
      <p:sp>
        <p:nvSpPr>
          <p:cNvPr id="21" name="Text 16"/>
          <p:cNvSpPr txBox="1"/>
          <p:nvPr/>
        </p:nvSpPr>
        <p:spPr>
          <a:xfrm>
            <a:off x="7708392" y="5230368"/>
            <a:ext cx="3739896" cy="91440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10 de 10 historias con casos</a:t>
            </a:r>
            <a:endParaRPr lang="en-US" sz="1400" dirty="0"/>
          </a:p>
          <a:p>
            <a:pPr marL="177800" indent="-177800">
              <a:spcAft>
                <a:spcPts val="300"/>
              </a:spcAft>
              <a:buSzPct val="100000"/>
              <a:buChar char="•"/>
            </a:pPr>
            <a:r>
              <a:rPr lang="en-US" sz="1400" dirty="0">
                <a:solidFill>
                  <a:schemeClr val="tx1"/>
                </a:solidFill>
              </a:rPr>
              <a:t>.github/scripts/trazabilidad.py</a:t>
            </a:r>
            <a:endParaRPr lang="en-US" sz="1400" dirty="0"/>
          </a:p>
          <a:p>
            <a:pPr marL="177800" indent="-177800">
              <a:spcAft>
                <a:spcPts val="300"/>
              </a:spcAft>
              <a:buSzPct val="100000"/>
              <a:buChar char="•"/>
            </a:pPr>
            <a:r>
              <a:rPr lang="en-US" sz="1400" dirty="0">
                <a:solidFill>
                  <a:schemeClr val="tx1"/>
                </a:solidFill>
              </a:rPr>
              <a:t>En Pages y en docs/trazabilidad.md</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El pipeline encontró lo que mi máquina no veía</a:t>
            </a:r>
            <a:endParaRPr lang="en-US" sz="3000" dirty="0"/>
          </a:p>
        </p:txBody>
      </p:sp>
      <p:sp>
        <p:nvSpPr>
          <p:cNvPr id="4" name="Etiqueta DEF-07 · Alta"/>
          <p:cNvSpPr/>
          <p:nvPr/>
        </p:nvSpPr>
        <p:spPr>
          <a:xfrm>
            <a:off x="9646920" y="475488"/>
            <a:ext cx="1965960" cy="457200"/>
          </a:xfrm>
          <a:prstGeom prst="roundRect">
            <a:avLst>
              <a:gd name="adj" fmla="val 24000"/>
            </a:avLst>
          </a:prstGeom>
          <a:solidFill>
            <a:schemeClr val="bg2"/>
          </a:solidFill>
          <a:ln/>
        </p:spPr>
        <p:txBody>
          <a:bodyPr wrap="square" lIns="0" tIns="0" rIns="0" bIns="0" rtlCol="0" anchor="ctr"/>
          <a:lstStyle/>
          <a:p>
            <a:pPr algn="ctr" indent="0" marL="0">
              <a:buNone/>
            </a:pPr>
            <a:r>
              <a:rPr lang="en-US" sz="1300" b="1" dirty="0">
                <a:solidFill>
                  <a:schemeClr val="tx2"/>
                </a:solidFill>
              </a:rPr>
              <a:t>DEF-07 · Alta</a:t>
            </a:r>
            <a:endParaRPr lang="en-US" sz="1300" dirty="0"/>
          </a:p>
        </p:txBody>
      </p:sp>
      <p:sp>
        <p:nvSpPr>
          <p:cNvPr id="5" name="Etapa Local"/>
          <p:cNvSpPr/>
          <p:nvPr/>
        </p:nvSpPr>
        <p:spPr>
          <a:xfrm>
            <a:off x="548640" y="1234440"/>
            <a:ext cx="2066544" cy="1051560"/>
          </a:xfrm>
          <a:prstGeom prst="roundRect">
            <a:avLst>
              <a:gd name="adj" fmla="val 6957"/>
            </a:avLst>
          </a:prstGeom>
          <a:solidFill>
            <a:srgbClr val="E3F3EA"/>
          </a:solidFill>
          <a:ln/>
        </p:spPr>
      </p:sp>
      <p:sp>
        <p:nvSpPr>
          <p:cNvPr id="6" name="Text 3"/>
          <p:cNvSpPr txBox="1"/>
          <p:nvPr/>
        </p:nvSpPr>
        <p:spPr>
          <a:xfrm>
            <a:off x="594360" y="1234440"/>
            <a:ext cx="1975104" cy="1051560"/>
          </a:xfrm>
          <a:prstGeom prst="rect">
            <a:avLst/>
          </a:prstGeom>
          <a:noFill/>
          <a:ln/>
        </p:spPr>
        <p:txBody>
          <a:bodyPr wrap="square" lIns="25400" tIns="25400" rIns="25400" bIns="25400" rtlCol="0" anchor="ctr"/>
          <a:lstStyle/>
          <a:p>
            <a:pPr algn="ctr" indent="0" marL="0">
              <a:buNone/>
            </a:pPr>
            <a:r>
              <a:rPr lang="en-US" sz="1500" b="1" dirty="0">
                <a:solidFill>
                  <a:schemeClr val="tx2"/>
                </a:solidFill>
              </a:rPr>
              <a:t>Local</a:t>
            </a:r>
            <a:endParaRPr lang="en-US" sz="1500" dirty="0"/>
          </a:p>
          <a:p>
            <a:pPr algn="ctr" indent="0" marL="0">
              <a:buNone/>
            </a:pPr>
            <a:r>
              <a:rPr lang="en-US" sz="1300" dirty="0">
                <a:solidFill>
                  <a:schemeClr val="tx1"/>
                </a:solidFill>
              </a:rPr>
              <a:t>Todo en verde</a:t>
            </a:r>
            <a:endParaRPr lang="en-US" sz="1500" dirty="0"/>
          </a:p>
        </p:txBody>
      </p:sp>
      <p:sp>
        <p:nvSpPr>
          <p:cNvPr id="7" name="Flecha"/>
          <p:cNvSpPr/>
          <p:nvPr/>
        </p:nvSpPr>
        <p:spPr>
          <a:xfrm>
            <a:off x="2615184" y="1645920"/>
            <a:ext cx="182880" cy="219456"/>
          </a:xfrm>
          <a:prstGeom prst="rightArrow">
            <a:avLst/>
          </a:prstGeom>
          <a:solidFill>
            <a:schemeClr val="accent5"/>
          </a:solidFill>
          <a:ln/>
        </p:spPr>
      </p:sp>
      <p:sp>
        <p:nvSpPr>
          <p:cNvPr id="8" name="Etapa Run #1"/>
          <p:cNvSpPr/>
          <p:nvPr/>
        </p:nvSpPr>
        <p:spPr>
          <a:xfrm>
            <a:off x="2798064" y="1234440"/>
            <a:ext cx="2066544" cy="1051560"/>
          </a:xfrm>
          <a:prstGeom prst="roundRect">
            <a:avLst>
              <a:gd name="adj" fmla="val 6957"/>
            </a:avLst>
          </a:prstGeom>
          <a:solidFill>
            <a:srgbClr val="F9E1DE"/>
          </a:solidFill>
          <a:ln/>
        </p:spPr>
      </p:sp>
      <p:sp>
        <p:nvSpPr>
          <p:cNvPr id="9" name="Text 6"/>
          <p:cNvSpPr txBox="1"/>
          <p:nvPr/>
        </p:nvSpPr>
        <p:spPr>
          <a:xfrm>
            <a:off x="2843784" y="1234440"/>
            <a:ext cx="1975104" cy="1051560"/>
          </a:xfrm>
          <a:prstGeom prst="rect">
            <a:avLst/>
          </a:prstGeom>
          <a:noFill/>
          <a:ln/>
        </p:spPr>
        <p:txBody>
          <a:bodyPr wrap="square" lIns="25400" tIns="25400" rIns="25400" bIns="25400" rtlCol="0" anchor="ctr"/>
          <a:lstStyle/>
          <a:p>
            <a:pPr algn="ctr" indent="0" marL="0">
              <a:buNone/>
            </a:pPr>
            <a:r>
              <a:rPr lang="en-US" sz="1500" b="1" dirty="0">
                <a:solidFill>
                  <a:schemeClr val="tx2"/>
                </a:solidFill>
              </a:rPr>
              <a:t>Run #1</a:t>
            </a:r>
            <a:endParaRPr lang="en-US" sz="1500" dirty="0"/>
          </a:p>
          <a:p>
            <a:pPr algn="ctr" indent="0" marL="0">
              <a:buNone/>
            </a:pPr>
            <a:r>
              <a:rPr lang="en-US" sz="1300" dirty="0">
                <a:solidFill>
                  <a:schemeClr val="tx1"/>
                </a:solidFill>
              </a:rPr>
              <a:t>6 fallos intermitentes</a:t>
            </a:r>
            <a:endParaRPr lang="en-US" sz="1500" dirty="0"/>
          </a:p>
        </p:txBody>
      </p:sp>
      <p:sp>
        <p:nvSpPr>
          <p:cNvPr id="10" name="Flecha"/>
          <p:cNvSpPr/>
          <p:nvPr/>
        </p:nvSpPr>
        <p:spPr>
          <a:xfrm>
            <a:off x="4864608" y="1645920"/>
            <a:ext cx="182880" cy="219456"/>
          </a:xfrm>
          <a:prstGeom prst="rightArrow">
            <a:avLst/>
          </a:prstGeom>
          <a:solidFill>
            <a:schemeClr val="accent5"/>
          </a:solidFill>
          <a:ln/>
        </p:spPr>
      </p:sp>
      <p:sp>
        <p:nvSpPr>
          <p:cNvPr id="11" name="Etapa Reproducido"/>
          <p:cNvSpPr/>
          <p:nvPr/>
        </p:nvSpPr>
        <p:spPr>
          <a:xfrm>
            <a:off x="5047488" y="1234440"/>
            <a:ext cx="2066544" cy="1051560"/>
          </a:xfrm>
          <a:prstGeom prst="roundRect">
            <a:avLst>
              <a:gd name="adj" fmla="val 6957"/>
            </a:avLst>
          </a:prstGeom>
          <a:solidFill>
            <a:srgbClr val="FBF0D1"/>
          </a:solidFill>
          <a:ln/>
        </p:spPr>
      </p:sp>
      <p:sp>
        <p:nvSpPr>
          <p:cNvPr id="12" name="Text 9"/>
          <p:cNvSpPr txBox="1"/>
          <p:nvPr/>
        </p:nvSpPr>
        <p:spPr>
          <a:xfrm>
            <a:off x="5093208" y="1234440"/>
            <a:ext cx="1975104" cy="1051560"/>
          </a:xfrm>
          <a:prstGeom prst="rect">
            <a:avLst/>
          </a:prstGeom>
          <a:noFill/>
          <a:ln/>
        </p:spPr>
        <p:txBody>
          <a:bodyPr wrap="square" lIns="25400" tIns="25400" rIns="25400" bIns="25400" rtlCol="0" anchor="ctr"/>
          <a:lstStyle/>
          <a:p>
            <a:pPr algn="ctr" indent="0" marL="0">
              <a:buNone/>
            </a:pPr>
            <a:r>
              <a:rPr lang="en-US" sz="1500" b="1" dirty="0">
                <a:solidFill>
                  <a:schemeClr val="tx2"/>
                </a:solidFill>
              </a:rPr>
              <a:t>Reproducido</a:t>
            </a:r>
            <a:endParaRPr lang="en-US" sz="1500" dirty="0"/>
          </a:p>
          <a:p>
            <a:pPr algn="ctr" indent="0" marL="0">
              <a:buNone/>
            </a:pPr>
            <a:r>
              <a:rPr lang="en-US" sz="1300" dirty="0">
                <a:solidFill>
                  <a:schemeClr val="tx1"/>
                </a:solidFill>
              </a:rPr>
              <a:t>2 de 300 ciclos</a:t>
            </a:r>
            <a:endParaRPr lang="en-US" sz="1500" dirty="0"/>
          </a:p>
        </p:txBody>
      </p:sp>
      <p:sp>
        <p:nvSpPr>
          <p:cNvPr id="13" name="Flecha"/>
          <p:cNvSpPr/>
          <p:nvPr/>
        </p:nvSpPr>
        <p:spPr>
          <a:xfrm>
            <a:off x="7114032" y="1645920"/>
            <a:ext cx="182880" cy="219456"/>
          </a:xfrm>
          <a:prstGeom prst="rightArrow">
            <a:avLst/>
          </a:prstGeom>
          <a:solidFill>
            <a:schemeClr val="accent5"/>
          </a:solidFill>
          <a:ln/>
        </p:spPr>
      </p:sp>
      <p:sp>
        <p:nvSpPr>
          <p:cNvPr id="14" name="Etapa Causa"/>
          <p:cNvSpPr/>
          <p:nvPr/>
        </p:nvSpPr>
        <p:spPr>
          <a:xfrm>
            <a:off x="7296912" y="1234440"/>
            <a:ext cx="2066544" cy="1051560"/>
          </a:xfrm>
          <a:prstGeom prst="roundRect">
            <a:avLst>
              <a:gd name="adj" fmla="val 6957"/>
            </a:avLst>
          </a:prstGeom>
          <a:solidFill>
            <a:srgbClr val="FBF0D1"/>
          </a:solidFill>
          <a:ln/>
        </p:spPr>
      </p:sp>
      <p:sp>
        <p:nvSpPr>
          <p:cNvPr id="15" name="Text 12"/>
          <p:cNvSpPr txBox="1"/>
          <p:nvPr/>
        </p:nvSpPr>
        <p:spPr>
          <a:xfrm>
            <a:off x="7342632" y="1234440"/>
            <a:ext cx="1975104" cy="1051560"/>
          </a:xfrm>
          <a:prstGeom prst="rect">
            <a:avLst/>
          </a:prstGeom>
          <a:noFill/>
          <a:ln/>
        </p:spPr>
        <p:txBody>
          <a:bodyPr wrap="square" lIns="25400" tIns="25400" rIns="25400" bIns="25400" rtlCol="0" anchor="ctr"/>
          <a:lstStyle/>
          <a:p>
            <a:pPr algn="ctr" indent="0" marL="0">
              <a:buNone/>
            </a:pPr>
            <a:r>
              <a:rPr lang="en-US" sz="1500" b="1" dirty="0">
                <a:solidFill>
                  <a:schemeClr val="tx2"/>
                </a:solidFill>
              </a:rPr>
              <a:t>Causa</a:t>
            </a:r>
            <a:endParaRPr lang="en-US" sz="1500" dirty="0"/>
          </a:p>
          <a:p>
            <a:pPr algn="ctr" indent="0" marL="0">
              <a:buNone/>
            </a:pPr>
            <a:r>
              <a:rPr lang="en-US" sz="1300" dirty="0">
                <a:solidFill>
                  <a:schemeClr val="tx1"/>
                </a:solidFill>
              </a:rPr>
              <a:t>FastAPI ≥ 0.118: commit tras responder</a:t>
            </a:r>
            <a:endParaRPr lang="en-US" sz="1500" dirty="0"/>
          </a:p>
        </p:txBody>
      </p:sp>
      <p:sp>
        <p:nvSpPr>
          <p:cNvPr id="16" name="Flecha"/>
          <p:cNvSpPr/>
          <p:nvPr/>
        </p:nvSpPr>
        <p:spPr>
          <a:xfrm>
            <a:off x="9363456" y="1645920"/>
            <a:ext cx="182880" cy="219456"/>
          </a:xfrm>
          <a:prstGeom prst="rightArrow">
            <a:avLst/>
          </a:prstGeom>
          <a:solidFill>
            <a:schemeClr val="accent5"/>
          </a:solidFill>
          <a:ln/>
        </p:spPr>
      </p:sp>
      <p:sp>
        <p:nvSpPr>
          <p:cNvPr id="17" name="Etapa Mitigado"/>
          <p:cNvSpPr/>
          <p:nvPr/>
        </p:nvSpPr>
        <p:spPr>
          <a:xfrm>
            <a:off x="9546336" y="1234440"/>
            <a:ext cx="2066544" cy="1051560"/>
          </a:xfrm>
          <a:prstGeom prst="roundRect">
            <a:avLst>
              <a:gd name="adj" fmla="val 6957"/>
            </a:avLst>
          </a:prstGeom>
          <a:solidFill>
            <a:srgbClr val="E3F3EA"/>
          </a:solidFill>
          <a:ln/>
        </p:spPr>
      </p:sp>
      <p:sp>
        <p:nvSpPr>
          <p:cNvPr id="18" name="Text 15"/>
          <p:cNvSpPr txBox="1"/>
          <p:nvPr/>
        </p:nvSpPr>
        <p:spPr>
          <a:xfrm>
            <a:off x="9592056" y="1234440"/>
            <a:ext cx="1975104" cy="1051560"/>
          </a:xfrm>
          <a:prstGeom prst="rect">
            <a:avLst/>
          </a:prstGeom>
          <a:noFill/>
          <a:ln/>
        </p:spPr>
        <p:txBody>
          <a:bodyPr wrap="square" lIns="25400" tIns="25400" rIns="25400" bIns="25400" rtlCol="0" anchor="ctr"/>
          <a:lstStyle/>
          <a:p>
            <a:pPr algn="ctr" indent="0" marL="0">
              <a:buNone/>
            </a:pPr>
            <a:r>
              <a:rPr lang="en-US" sz="1500" b="1" dirty="0">
                <a:solidFill>
                  <a:schemeClr val="tx2"/>
                </a:solidFill>
              </a:rPr>
              <a:t>Mitigado</a:t>
            </a:r>
            <a:endParaRPr lang="en-US" sz="1500" dirty="0"/>
          </a:p>
          <a:p>
            <a:pPr algn="ctr" indent="0" marL="0">
              <a:buNone/>
            </a:pPr>
            <a:r>
              <a:rPr lang="en-US" sz="1300" dirty="0">
                <a:solidFill>
                  <a:schemeClr val="tx1"/>
                </a:solidFill>
              </a:rPr>
              <a:t>FastAPI 0.117.1: 0 de 1,500</a:t>
            </a:r>
            <a:endParaRPr lang="en-US" sz="1500" dirty="0"/>
          </a:p>
        </p:txBody>
      </p:sp>
      <p:sp>
        <p:nvSpPr>
          <p:cNvPr id="19" name="Text 16"/>
          <p:cNvSpPr txBox="1"/>
          <p:nvPr/>
        </p:nvSpPr>
        <p:spPr>
          <a:xfrm>
            <a:off x="548640" y="2450592"/>
            <a:ext cx="5943600" cy="310896"/>
          </a:xfrm>
          <a:prstGeom prst="rect">
            <a:avLst/>
          </a:prstGeom>
          <a:noFill/>
          <a:ln/>
        </p:spPr>
        <p:txBody>
          <a:bodyPr wrap="square" lIns="0" tIns="0" rIns="0" bIns="0" rtlCol="0" anchor="t"/>
          <a:lstStyle/>
          <a:p>
            <a:pPr algn="l" indent="0" marL="0">
              <a:buNone/>
            </a:pPr>
            <a:r>
              <a:rPr lang="en-US" sz="1400" b="1" dirty="0">
                <a:solidFill>
                  <a:schemeClr val="accent1"/>
                </a:solidFill>
              </a:rPr>
              <a:t>Log real del run #1 (rutas recortadas)</a:t>
            </a:r>
            <a:endParaRPr lang="en-US" sz="1400" dirty="0"/>
          </a:p>
        </p:txBody>
      </p:sp>
      <p:sp>
        <p:nvSpPr>
          <p:cNvPr id="20" name="Código Log del run 1"/>
          <p:cNvSpPr/>
          <p:nvPr/>
        </p:nvSpPr>
        <p:spPr>
          <a:xfrm>
            <a:off x="548640" y="2761488"/>
            <a:ext cx="5943600" cy="2377440"/>
          </a:xfrm>
          <a:prstGeom prst="roundRect">
            <a:avLst>
              <a:gd name="adj" fmla="val 1923"/>
            </a:avLst>
          </a:prstGeom>
          <a:solidFill>
            <a:schemeClr val="tx2"/>
          </a:solidFill>
          <a:ln/>
        </p:spPr>
        <p:txBody>
          <a:bodyPr wrap="square" lIns="76200" tIns="76200" rIns="76200" bIns="7620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FAILED test_cpa17_transferir_eligiendo_un_contacto</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KeyError: 'saldo'</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FAILED test_cpa21_valores_límite_del_monto[-1-422]</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FAILED test_cpa28_aceptar_transfiere_el_dinero...</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FAILED test_cpa29_sin_saldo_la_solicitud_sigue...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KeyError: 'contactos'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FAILED test_cpa33_una_solicitud_ya_aceptada...</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FAILED test_cpa38_solo_el_solicitante_puede...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6 failed, 58 passed, 4 xfailed in 32.61s =</a:t>
            </a:r>
            <a:endParaRPr lang="en-US" sz="1200" dirty="0"/>
          </a:p>
        </p:txBody>
      </p:sp>
      <p:sp>
        <p:nvSpPr>
          <p:cNvPr id="21" name="Text 18"/>
          <p:cNvSpPr txBox="1"/>
          <p:nvPr/>
        </p:nvSpPr>
        <p:spPr>
          <a:xfrm>
            <a:off x="6675120" y="2450592"/>
            <a:ext cx="4937760" cy="310896"/>
          </a:xfrm>
          <a:prstGeom prst="rect">
            <a:avLst/>
          </a:prstGeom>
          <a:noFill/>
          <a:ln/>
        </p:spPr>
        <p:txBody>
          <a:bodyPr wrap="square" lIns="0" tIns="0" rIns="0" bIns="0" rtlCol="0" anchor="t"/>
          <a:lstStyle/>
          <a:p>
            <a:pPr algn="l" indent="0" marL="0">
              <a:buNone/>
            </a:pPr>
            <a:r>
              <a:rPr lang="en-US" sz="1300" b="1" dirty="0">
                <a:solidFill>
                  <a:schemeClr val="accent1"/>
                </a:solidFill>
              </a:rPr>
              <a:t>qolqe/bd.py, sin modificar: desde 0.118, commit() corre tras responder</a:t>
            </a:r>
            <a:endParaRPr lang="en-US" sz="1300" dirty="0"/>
          </a:p>
        </p:txBody>
      </p:sp>
      <p:sp>
        <p:nvSpPr>
          <p:cNvPr id="22" name="Código Código de la base de datos"/>
          <p:cNvSpPr/>
          <p:nvPr/>
        </p:nvSpPr>
        <p:spPr>
          <a:xfrm>
            <a:off x="6675120" y="2761488"/>
            <a:ext cx="4937760" cy="2377440"/>
          </a:xfrm>
          <a:prstGeom prst="roundRect">
            <a:avLst>
              <a:gd name="adj" fmla="val 1923"/>
            </a:avLst>
          </a:prstGeom>
          <a:solidFill>
            <a:schemeClr val="tx2"/>
          </a:solidFill>
          <a:ln/>
        </p:spPr>
        <p:txBody>
          <a:bodyPr wrap="square" lIns="76200" tIns="76200" rIns="76200" bIns="7620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def obtener_bd() -&gt; Iterator[sqlite3.Connection]:</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"""Dependencia de FastAPI: una conexión</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por solicitud, con commit al final."""</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conexion = conectar()</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try:</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yield conexion</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conexion.commit()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except Exception:</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conexion.rollback()</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raise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finally:</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conexion.close()</a:t>
            </a:r>
            <a:endParaRPr lang="en-US" sz="1100" dirty="0"/>
          </a:p>
        </p:txBody>
      </p:sp>
      <p:sp>
        <p:nvSpPr>
          <p:cNvPr id="23" name="Tarjeta Lo que aprendí"/>
          <p:cNvSpPr/>
          <p:nvPr/>
        </p:nvSpPr>
        <p:spPr>
          <a:xfrm>
            <a:off x="548640" y="5285232"/>
            <a:ext cx="11064240" cy="932688"/>
          </a:xfrm>
          <a:prstGeom prst="roundRect">
            <a:avLst>
              <a:gd name="adj" fmla="val 7843"/>
            </a:avLst>
          </a:prstGeom>
          <a:solidFill>
            <a:schemeClr val="bg2"/>
          </a:solidFill>
          <a:ln/>
        </p:spPr>
      </p:sp>
      <p:sp>
        <p:nvSpPr>
          <p:cNvPr id="24" name="Text 21"/>
          <p:cNvSpPr txBox="1"/>
          <p:nvPr/>
        </p:nvSpPr>
        <p:spPr>
          <a:xfrm>
            <a:off x="713232" y="5376672"/>
            <a:ext cx="10735056" cy="365760"/>
          </a:xfrm>
          <a:prstGeom prst="rect">
            <a:avLst/>
          </a:prstGeom>
          <a:noFill/>
          <a:ln/>
        </p:spPr>
        <p:txBody>
          <a:bodyPr wrap="square" lIns="0" tIns="0" rIns="0" bIns="0" rtlCol="0" anchor="ctr"/>
          <a:lstStyle/>
          <a:p>
            <a:pPr indent="0" marL="0">
              <a:buNone/>
            </a:pPr>
            <a:r>
              <a:rPr lang="en-US" sz="1600" b="1" dirty="0">
                <a:solidFill>
                  <a:schemeClr val="accent1"/>
                </a:solidFill>
              </a:rPr>
              <a:t>Lo que aprendí</a:t>
            </a:r>
            <a:endParaRPr lang="en-US" sz="1600" dirty="0"/>
          </a:p>
        </p:txBody>
      </p:sp>
      <p:sp>
        <p:nvSpPr>
          <p:cNvPr id="25" name="Text 22"/>
          <p:cNvSpPr txBox="1"/>
          <p:nvPr/>
        </p:nvSpPr>
        <p:spPr>
          <a:xfrm>
            <a:off x="713232" y="5760720"/>
            <a:ext cx="10735056" cy="384048"/>
          </a:xfrm>
          <a:prstGeom prst="rect">
            <a:avLst/>
          </a:prstGeom>
          <a:noFill/>
          <a:ln/>
        </p:spPr>
        <p:txBody>
          <a:bodyPr wrap="square" lIns="0" tIns="0" rIns="0" bIns="0" rtlCol="0" anchor="t"/>
          <a:lstStyle/>
          <a:p>
            <a:pPr indent="0" marL="0">
              <a:spcAft>
                <a:spcPts val="300"/>
              </a:spcAft>
              <a:buNone/>
            </a:pPr>
            <a:r>
              <a:rPr lang="en-US" sz="1500" b="1" i="1" dirty="0">
                <a:solidFill>
                  <a:schemeClr val="tx1"/>
                </a:solidFill>
              </a:rPr>
              <a:t>«El pipeline es la referencia, no la máquina de nadie»</a:t>
            </a:r>
            <a:pPr indent="0" marL="0">
              <a:spcAft>
                <a:spcPts val="300"/>
              </a:spcAft>
              <a:buNone/>
            </a:pPr>
            <a:r>
              <a:rPr lang="en-US" sz="1500" dirty="0">
                <a:solidFill>
                  <a:schemeClr val="tx1"/>
                </a:solidFill>
              </a:rPr>
              <a:t> (Semana 12, ejercicio 2). constraints.txt fija la versión.</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Dos defectos críticos mueven dinero</a:t>
            </a:r>
            <a:endParaRPr lang="en-US" sz="3000" dirty="0"/>
          </a:p>
        </p:txBody>
      </p:sp>
      <p:sp>
        <p:nvSpPr>
          <p:cNvPr id="4" name="Etiqueta 8 defectos abiertos"/>
          <p:cNvSpPr/>
          <p:nvPr/>
        </p:nvSpPr>
        <p:spPr>
          <a:xfrm>
            <a:off x="9646920" y="475488"/>
            <a:ext cx="1965960" cy="457200"/>
          </a:xfrm>
          <a:prstGeom prst="roundRect">
            <a:avLst>
              <a:gd name="adj" fmla="val 24000"/>
            </a:avLst>
          </a:prstGeom>
          <a:solidFill>
            <a:schemeClr val="bg2"/>
          </a:solidFill>
          <a:ln/>
        </p:spPr>
        <p:txBody>
          <a:bodyPr wrap="square" lIns="0" tIns="0" rIns="0" bIns="0" rtlCol="0" anchor="ctr"/>
          <a:lstStyle/>
          <a:p>
            <a:pPr algn="ctr" indent="0" marL="0">
              <a:buNone/>
            </a:pPr>
            <a:r>
              <a:rPr lang="en-US" sz="1300" b="1" dirty="0">
                <a:solidFill>
                  <a:schemeClr val="tx2"/>
                </a:solidFill>
              </a:rPr>
              <a:t>8 defectos abiertos</a:t>
            </a:r>
            <a:endParaRPr lang="en-US" sz="1300" dirty="0"/>
          </a:p>
        </p:txBody>
      </p:sp>
      <p:sp>
        <p:nvSpPr>
          <p:cNvPr id="5" name="Defecto DEF-03"/>
          <p:cNvSpPr/>
          <p:nvPr/>
        </p:nvSpPr>
        <p:spPr>
          <a:xfrm>
            <a:off x="548640" y="1234440"/>
            <a:ext cx="960120" cy="384048"/>
          </a:xfrm>
          <a:prstGeom prst="roundRect">
            <a:avLst>
              <a:gd name="adj" fmla="val 19048"/>
            </a:avLst>
          </a:prstGeom>
          <a:solidFill>
            <a:srgbClr val="C0392B"/>
          </a:solidFill>
          <a:ln/>
        </p:spPr>
        <p:txBody>
          <a:bodyPr wrap="square" lIns="0" tIns="0" rIns="0" bIns="0" rtlCol="0" anchor="ctr"/>
          <a:lstStyle/>
          <a:p>
            <a:pPr algn="ctr" indent="0" marL="0">
              <a:buNone/>
            </a:pPr>
            <a:r>
              <a:rPr lang="en-US" sz="1400" b="1" dirty="0">
                <a:solidFill>
                  <a:schemeClr val="bg1"/>
                </a:solidFill>
              </a:rPr>
              <a:t>DEF-03</a:t>
            </a:r>
            <a:endParaRPr lang="en-US" sz="1400" dirty="0"/>
          </a:p>
        </p:txBody>
      </p:sp>
      <p:sp>
        <p:nvSpPr>
          <p:cNvPr id="6" name="Text 3"/>
          <p:cNvSpPr txBox="1"/>
          <p:nvPr/>
        </p:nvSpPr>
        <p:spPr>
          <a:xfrm>
            <a:off x="1600200" y="1207008"/>
            <a:ext cx="4389120" cy="438912"/>
          </a:xfrm>
          <a:prstGeom prst="rect">
            <a:avLst/>
          </a:prstGeom>
          <a:noFill/>
          <a:ln/>
        </p:spPr>
        <p:txBody>
          <a:bodyPr wrap="square" lIns="0" tIns="0" rIns="0" bIns="0" rtlCol="0" anchor="ctr"/>
          <a:lstStyle/>
          <a:p>
            <a:pPr indent="0" marL="0">
              <a:buNone/>
            </a:pPr>
            <a:r>
              <a:rPr lang="en-US" sz="1600" b="1" dirty="0">
                <a:solidFill>
                  <a:schemeClr val="tx2"/>
                </a:solidFill>
              </a:rPr>
              <a:t>Aceptar una solicitud vencida transfiere</a:t>
            </a:r>
            <a:endParaRPr lang="en-US" sz="1600" dirty="0"/>
          </a:p>
        </p:txBody>
      </p:sp>
      <p:sp>
        <p:nvSpPr>
          <p:cNvPr id="7" name="Marco La pantalla no ofrece botones en una solicitud vencida"/>
          <p:cNvSpPr/>
          <p:nvPr/>
        </p:nvSpPr>
        <p:spPr>
          <a:xfrm>
            <a:off x="534924" y="1741932"/>
            <a:ext cx="5468112" cy="1108362"/>
          </a:xfrm>
          <a:prstGeom prst="rect">
            <a:avLst/>
          </a:prstGeom>
          <a:solidFill>
            <a:srgbClr val="FFFFFF"/>
          </a:solidFill>
          <a:ln w="9525">
            <a:solidFill>
              <a:srgbClr val="B9C6CB"/>
            </a:solidFill>
            <a:prstDash val="solid"/>
          </a:ln>
        </p:spPr>
      </p:sp>
      <p:pic>
        <p:nvPicPr>
          <p:cNvPr id="8" name="La pantalla no ofrece botones en una solicitud vencida" descr="La pantalla no ofrece botones en una solicitud vencida">    </p:cNvPr>
          <p:cNvPicPr>
            <a:picLocks noChangeAspect="1"/>
          </p:cNvPicPr>
          <p:nvPr/>
        </p:nvPicPr>
        <p:blipFill>
          <a:blip r:embed="rId1"/>
          <a:stretch>
            <a:fillRect/>
          </a:stretch>
        </p:blipFill>
        <p:spPr>
          <a:xfrm>
            <a:off x="548640" y="1755648"/>
            <a:ext cx="5440680" cy="1080930"/>
          </a:xfrm>
          <a:prstGeom prst="rect">
            <a:avLst/>
          </a:prstGeom>
        </p:spPr>
      </p:pic>
      <p:sp>
        <p:nvSpPr>
          <p:cNvPr id="9" name="Código DEF-03"/>
          <p:cNvSpPr/>
          <p:nvPr/>
        </p:nvSpPr>
        <p:spPr>
          <a:xfrm>
            <a:off x="548640" y="2971800"/>
            <a:ext cx="3611880" cy="1865376"/>
          </a:xfrm>
          <a:prstGeom prst="roundRect">
            <a:avLst>
              <a:gd name="adj" fmla="val 2451"/>
            </a:avLst>
          </a:prstGeom>
          <a:solidFill>
            <a:schemeClr val="tx2"/>
          </a:solidFill>
          <a:ln/>
        </p:spPr>
        <p:txBody>
          <a:bodyPr wrap="square" lIns="76200" tIns="76200" rIns="76200" bIns="7620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POST /api/solicitudes/2/aceptar</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HTTP 200</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"estado": "ACEPTADA"</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Esperado: 409 ESTADO_INVALIDO</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CP-A32: xfailed</a:t>
            </a:r>
            <a:endParaRPr lang="en-US" sz="1200" dirty="0"/>
          </a:p>
        </p:txBody>
      </p:sp>
      <p:sp>
        <p:nvSpPr>
          <p:cNvPr id="10" name="Saldo DEF-03"/>
          <p:cNvSpPr/>
          <p:nvPr/>
        </p:nvSpPr>
        <p:spPr>
          <a:xfrm>
            <a:off x="4279392" y="2971800"/>
            <a:ext cx="1709928" cy="1865376"/>
          </a:xfrm>
          <a:prstGeom prst="roundRect">
            <a:avLst>
              <a:gd name="adj" fmla="val 4278"/>
            </a:avLst>
          </a:prstGeom>
          <a:solidFill>
            <a:srgbClr val="F9E1DE"/>
          </a:solidFill>
          <a:ln/>
        </p:spPr>
      </p:sp>
      <p:sp>
        <p:nvSpPr>
          <p:cNvPr id="11" name="Text 7"/>
          <p:cNvSpPr txBox="1"/>
          <p:nvPr/>
        </p:nvSpPr>
        <p:spPr>
          <a:xfrm>
            <a:off x="4279392" y="2971800"/>
            <a:ext cx="1709928" cy="1865376"/>
          </a:xfrm>
          <a:prstGeom prst="rect">
            <a:avLst/>
          </a:prstGeom>
          <a:noFill/>
          <a:ln/>
        </p:spPr>
        <p:txBody>
          <a:bodyPr wrap="square" lIns="25400" tIns="25400" rIns="25400" bIns="25400" rtlCol="0" anchor="ctr"/>
          <a:lstStyle/>
          <a:p>
            <a:pPr algn="ctr" indent="0" marL="0">
              <a:buNone/>
            </a:pPr>
            <a:r>
              <a:rPr lang="en-US" sz="1300" dirty="0">
                <a:solidFill>
                  <a:schemeClr val="tx1"/>
                </a:solidFill>
              </a:rPr>
              <a:t>Saldo</a:t>
            </a:r>
            <a:endParaRPr lang="en-US" sz="1300" dirty="0"/>
          </a:p>
          <a:p>
            <a:pPr algn="ctr" indent="0" marL="0">
              <a:buNone/>
            </a:pPr>
            <a:r>
              <a:rPr lang="en-US" sz="1500" dirty="0">
                <a:solidFill>
                  <a:schemeClr val="tx1"/>
                </a:solidFill>
              </a:rPr>
              <a:t>S/ 1,500.00</a:t>
            </a:r>
            <a:endParaRPr lang="en-US" sz="1300" dirty="0"/>
          </a:p>
          <a:p>
            <a:pPr algn="ctr" indent="0" marL="0">
              <a:buNone/>
            </a:pPr>
            <a:r>
              <a:rPr lang="en-US" sz="1300" dirty="0">
                <a:solidFill>
                  <a:schemeClr val="tx1"/>
                </a:solidFill>
              </a:rPr>
              <a:t>↓</a:t>
            </a:r>
            <a:endParaRPr lang="en-US" sz="1300" dirty="0"/>
          </a:p>
          <a:p>
            <a:pPr algn="ctr" indent="0" marL="0">
              <a:buNone/>
            </a:pPr>
            <a:r>
              <a:rPr lang="en-US" sz="2000" b="1" dirty="0">
                <a:solidFill>
                  <a:srgbClr val="C0392B"/>
                </a:solidFill>
              </a:rPr>
              <a:t>S/ 1,470.00</a:t>
            </a:r>
            <a:endParaRPr lang="en-US" sz="1300" dirty="0"/>
          </a:p>
        </p:txBody>
      </p:sp>
      <p:sp>
        <p:nvSpPr>
          <p:cNvPr id="12" name="Defecto DEF-04"/>
          <p:cNvSpPr/>
          <p:nvPr/>
        </p:nvSpPr>
        <p:spPr>
          <a:xfrm>
            <a:off x="6172200" y="1234440"/>
            <a:ext cx="960120" cy="384048"/>
          </a:xfrm>
          <a:prstGeom prst="roundRect">
            <a:avLst>
              <a:gd name="adj" fmla="val 19048"/>
            </a:avLst>
          </a:prstGeom>
          <a:solidFill>
            <a:srgbClr val="C0392B"/>
          </a:solidFill>
          <a:ln/>
        </p:spPr>
        <p:txBody>
          <a:bodyPr wrap="square" lIns="0" tIns="0" rIns="0" bIns="0" rtlCol="0" anchor="ctr"/>
          <a:lstStyle/>
          <a:p>
            <a:pPr algn="ctr" indent="0" marL="0">
              <a:buNone/>
            </a:pPr>
            <a:r>
              <a:rPr lang="en-US" sz="1400" b="1" dirty="0">
                <a:solidFill>
                  <a:schemeClr val="bg1"/>
                </a:solidFill>
              </a:rPr>
              <a:t>DEF-04</a:t>
            </a:r>
            <a:endParaRPr lang="en-US" sz="1400" dirty="0"/>
          </a:p>
        </p:txBody>
      </p:sp>
      <p:sp>
        <p:nvSpPr>
          <p:cNvPr id="13" name="Text 9"/>
          <p:cNvSpPr txBox="1"/>
          <p:nvPr/>
        </p:nvSpPr>
        <p:spPr>
          <a:xfrm>
            <a:off x="7223760" y="1207008"/>
            <a:ext cx="4389120" cy="438912"/>
          </a:xfrm>
          <a:prstGeom prst="rect">
            <a:avLst/>
          </a:prstGeom>
          <a:noFill/>
          <a:ln/>
        </p:spPr>
        <p:txBody>
          <a:bodyPr wrap="square" lIns="0" tIns="0" rIns="0" bIns="0" rtlCol="0" anchor="ctr"/>
          <a:lstStyle/>
          <a:p>
            <a:pPr indent="0" marL="0">
              <a:buNone/>
            </a:pPr>
            <a:r>
              <a:rPr lang="en-US" sz="1600" b="1" dirty="0">
                <a:solidFill>
                  <a:schemeClr val="tx2"/>
                </a:solidFill>
              </a:rPr>
              <a:t>Se transfiere a una cuenta cerrada</a:t>
            </a:r>
            <a:endParaRPr lang="en-US" sz="1600" dirty="0"/>
          </a:p>
        </p:txBody>
      </p:sp>
      <p:sp>
        <p:nvSpPr>
          <p:cNvPr id="14" name="Marco Fabián, con cuenta cerrada, aparece con el botón Transferir"/>
          <p:cNvSpPr/>
          <p:nvPr/>
        </p:nvSpPr>
        <p:spPr>
          <a:xfrm>
            <a:off x="6158484" y="1741932"/>
            <a:ext cx="5468112" cy="1108362"/>
          </a:xfrm>
          <a:prstGeom prst="rect">
            <a:avLst/>
          </a:prstGeom>
          <a:solidFill>
            <a:srgbClr val="FFFFFF"/>
          </a:solidFill>
          <a:ln w="9525">
            <a:solidFill>
              <a:srgbClr val="B9C6CB"/>
            </a:solidFill>
            <a:prstDash val="solid"/>
          </a:ln>
        </p:spPr>
      </p:sp>
      <p:pic>
        <p:nvPicPr>
          <p:cNvPr id="15" name="Fabián, con cuenta cerrada, aparece con el botón Transferir" descr="Fabián, con cuenta cerrada, aparece con el botón Transferir">    </p:cNvPr>
          <p:cNvPicPr>
            <a:picLocks noChangeAspect="1"/>
          </p:cNvPicPr>
          <p:nvPr/>
        </p:nvPicPr>
        <p:blipFill>
          <a:blip r:embed="rId2"/>
          <a:stretch>
            <a:fillRect/>
          </a:stretch>
        </p:blipFill>
        <p:spPr>
          <a:xfrm>
            <a:off x="6172200" y="1755648"/>
            <a:ext cx="5440680" cy="1080930"/>
          </a:xfrm>
          <a:prstGeom prst="rect">
            <a:avLst/>
          </a:prstGeom>
        </p:spPr>
      </p:pic>
      <p:sp>
        <p:nvSpPr>
          <p:cNvPr id="16" name="Código DEF-04"/>
          <p:cNvSpPr/>
          <p:nvPr/>
        </p:nvSpPr>
        <p:spPr>
          <a:xfrm>
            <a:off x="6172200" y="2971800"/>
            <a:ext cx="3611880" cy="1865376"/>
          </a:xfrm>
          <a:prstGeom prst="roundRect">
            <a:avLst>
              <a:gd name="adj" fmla="val 2451"/>
            </a:avLst>
          </a:prstGeom>
          <a:solidFill>
            <a:schemeClr val="tx2"/>
          </a:solidFill>
          <a:ln/>
        </p:spPr>
        <p:txBody>
          <a:bodyPr wrap="square" lIns="76200" tIns="76200" rIns="76200" bIns="7620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POST /api/transferencias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{"tipo": "QOLQE", "monto": "10",</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"contacto_id": 5}</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HTTP 201</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Esperado: 422 DESTINO_INACTIVO</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CP-A18: xfailed</a:t>
            </a:r>
            <a:endParaRPr lang="en-US" sz="1200" dirty="0"/>
          </a:p>
        </p:txBody>
      </p:sp>
      <p:sp>
        <p:nvSpPr>
          <p:cNvPr id="17" name="Saldo DEF-04"/>
          <p:cNvSpPr/>
          <p:nvPr/>
        </p:nvSpPr>
        <p:spPr>
          <a:xfrm>
            <a:off x="9902952" y="2971800"/>
            <a:ext cx="1709928" cy="1865376"/>
          </a:xfrm>
          <a:prstGeom prst="roundRect">
            <a:avLst>
              <a:gd name="adj" fmla="val 4278"/>
            </a:avLst>
          </a:prstGeom>
          <a:solidFill>
            <a:srgbClr val="F9E1DE"/>
          </a:solidFill>
          <a:ln/>
        </p:spPr>
      </p:sp>
      <p:sp>
        <p:nvSpPr>
          <p:cNvPr id="18" name="Text 13"/>
          <p:cNvSpPr txBox="1"/>
          <p:nvPr/>
        </p:nvSpPr>
        <p:spPr>
          <a:xfrm>
            <a:off x="9902952" y="2971800"/>
            <a:ext cx="1709928" cy="1865376"/>
          </a:xfrm>
          <a:prstGeom prst="rect">
            <a:avLst/>
          </a:prstGeom>
          <a:noFill/>
          <a:ln/>
        </p:spPr>
        <p:txBody>
          <a:bodyPr wrap="square" lIns="25400" tIns="25400" rIns="25400" bIns="25400" rtlCol="0" anchor="ctr"/>
          <a:lstStyle/>
          <a:p>
            <a:pPr algn="ctr" indent="0" marL="0">
              <a:buNone/>
            </a:pPr>
            <a:r>
              <a:rPr lang="en-US" sz="1300" dirty="0">
                <a:solidFill>
                  <a:schemeClr val="tx1"/>
                </a:solidFill>
              </a:rPr>
              <a:t>Saldo</a:t>
            </a:r>
            <a:endParaRPr lang="en-US" sz="1300" dirty="0"/>
          </a:p>
          <a:p>
            <a:pPr algn="ctr" indent="0" marL="0">
              <a:buNone/>
            </a:pPr>
            <a:r>
              <a:rPr lang="en-US" sz="1500" dirty="0">
                <a:solidFill>
                  <a:schemeClr val="tx1"/>
                </a:solidFill>
              </a:rPr>
              <a:t>S/ 2,500.00</a:t>
            </a:r>
            <a:endParaRPr lang="en-US" sz="1300" dirty="0"/>
          </a:p>
          <a:p>
            <a:pPr algn="ctr" indent="0" marL="0">
              <a:buNone/>
            </a:pPr>
            <a:r>
              <a:rPr lang="en-US" sz="1300" dirty="0">
                <a:solidFill>
                  <a:schemeClr val="tx1"/>
                </a:solidFill>
              </a:rPr>
              <a:t>↓</a:t>
            </a:r>
            <a:endParaRPr lang="en-US" sz="1300" dirty="0"/>
          </a:p>
          <a:p>
            <a:pPr algn="ctr" indent="0" marL="0">
              <a:buNone/>
            </a:pPr>
            <a:r>
              <a:rPr lang="en-US" sz="2000" b="1" dirty="0">
                <a:solidFill>
                  <a:srgbClr val="C0392B"/>
                </a:solidFill>
              </a:rPr>
              <a:t>S/ 2,490.00</a:t>
            </a:r>
            <a:endParaRPr lang="en-US" sz="1300" dirty="0"/>
          </a:p>
        </p:txBody>
      </p:sp>
      <p:sp>
        <p:nvSpPr>
          <p:cNvPr id="19" name="Severidad Crítica"/>
          <p:cNvSpPr/>
          <p:nvPr/>
        </p:nvSpPr>
        <p:spPr>
          <a:xfrm>
            <a:off x="548640" y="5029200"/>
            <a:ext cx="2633472" cy="384048"/>
          </a:xfrm>
          <a:prstGeom prst="roundRect">
            <a:avLst>
              <a:gd name="adj" fmla="val 19048"/>
            </a:avLst>
          </a:prstGeom>
          <a:solidFill>
            <a:srgbClr val="C0392B"/>
          </a:solidFill>
          <a:ln/>
        </p:spPr>
        <p:txBody>
          <a:bodyPr wrap="square" lIns="0" tIns="0" rIns="0" bIns="0" rtlCol="0" anchor="ctr"/>
          <a:lstStyle/>
          <a:p>
            <a:pPr algn="ctr" indent="0" marL="0">
              <a:buNone/>
            </a:pPr>
            <a:r>
              <a:rPr lang="en-US" sz="1400" b="1" dirty="0">
                <a:solidFill>
                  <a:schemeClr val="bg1"/>
                </a:solidFill>
              </a:rPr>
              <a:t>Crítica</a:t>
            </a:r>
            <a:endParaRPr lang="en-US" sz="1400" dirty="0"/>
          </a:p>
        </p:txBody>
      </p:sp>
      <p:sp>
        <p:nvSpPr>
          <p:cNvPr id="20" name="Text 15"/>
          <p:cNvSpPr txBox="1"/>
          <p:nvPr/>
        </p:nvSpPr>
        <p:spPr>
          <a:xfrm>
            <a:off x="548640" y="5458968"/>
            <a:ext cx="2633472" cy="365760"/>
          </a:xfrm>
          <a:prstGeom prst="rect">
            <a:avLst/>
          </a:prstGeom>
          <a:noFill/>
          <a:ln/>
        </p:spPr>
        <p:txBody>
          <a:bodyPr wrap="square" lIns="0" tIns="0" rIns="0" bIns="0" rtlCol="0" anchor="ctr"/>
          <a:lstStyle/>
          <a:p>
            <a:pPr algn="ctr" indent="0" marL="0">
              <a:buNone/>
            </a:pPr>
            <a:r>
              <a:rPr lang="en-US" sz="1400" b="1" dirty="0">
                <a:solidFill>
                  <a:schemeClr val="tx1"/>
                </a:solidFill>
              </a:rPr>
              <a:t>DEF-03, DEF-04</a:t>
            </a:r>
            <a:endParaRPr lang="en-US" sz="1400" dirty="0"/>
          </a:p>
        </p:txBody>
      </p:sp>
      <p:sp>
        <p:nvSpPr>
          <p:cNvPr id="21" name="Severidad Alta"/>
          <p:cNvSpPr/>
          <p:nvPr/>
        </p:nvSpPr>
        <p:spPr>
          <a:xfrm>
            <a:off x="3364992" y="5029200"/>
            <a:ext cx="2633472" cy="384048"/>
          </a:xfrm>
          <a:prstGeom prst="roundRect">
            <a:avLst>
              <a:gd name="adj" fmla="val 19048"/>
            </a:avLst>
          </a:prstGeom>
          <a:solidFill>
            <a:srgbClr val="E0A100"/>
          </a:solidFill>
          <a:ln/>
        </p:spPr>
        <p:txBody>
          <a:bodyPr wrap="square" lIns="0" tIns="0" rIns="0" bIns="0" rtlCol="0" anchor="ctr"/>
          <a:lstStyle/>
          <a:p>
            <a:pPr algn="ctr" indent="0" marL="0">
              <a:buNone/>
            </a:pPr>
            <a:r>
              <a:rPr lang="en-US" sz="1400" b="1" dirty="0">
                <a:solidFill>
                  <a:schemeClr val="tx2"/>
                </a:solidFill>
              </a:rPr>
              <a:t>Alta</a:t>
            </a:r>
            <a:endParaRPr lang="en-US" sz="1400" dirty="0"/>
          </a:p>
        </p:txBody>
      </p:sp>
      <p:sp>
        <p:nvSpPr>
          <p:cNvPr id="22" name="Text 17"/>
          <p:cNvSpPr txBox="1"/>
          <p:nvPr/>
        </p:nvSpPr>
        <p:spPr>
          <a:xfrm>
            <a:off x="3364992" y="5458968"/>
            <a:ext cx="2633472" cy="365760"/>
          </a:xfrm>
          <a:prstGeom prst="rect">
            <a:avLst/>
          </a:prstGeom>
          <a:noFill/>
          <a:ln/>
        </p:spPr>
        <p:txBody>
          <a:bodyPr wrap="square" lIns="0" tIns="0" rIns="0" bIns="0" rtlCol="0" anchor="ctr"/>
          <a:lstStyle/>
          <a:p>
            <a:pPr algn="ctr" indent="0" marL="0">
              <a:buNone/>
            </a:pPr>
            <a:r>
              <a:rPr lang="en-US" sz="1400" b="1" dirty="0">
                <a:solidFill>
                  <a:schemeClr val="tx1"/>
                </a:solidFill>
              </a:rPr>
              <a:t>DEF-07</a:t>
            </a:r>
            <a:endParaRPr lang="en-US" sz="1400" dirty="0"/>
          </a:p>
        </p:txBody>
      </p:sp>
      <p:sp>
        <p:nvSpPr>
          <p:cNvPr id="23" name="Severidad Media"/>
          <p:cNvSpPr/>
          <p:nvPr/>
        </p:nvSpPr>
        <p:spPr>
          <a:xfrm>
            <a:off x="6181344" y="5029200"/>
            <a:ext cx="2633472" cy="384048"/>
          </a:xfrm>
          <a:prstGeom prst="roundRect">
            <a:avLst>
              <a:gd name="adj" fmla="val 19048"/>
            </a:avLst>
          </a:prstGeom>
          <a:solidFill>
            <a:schemeClr val="accent1"/>
          </a:solidFill>
          <a:ln/>
        </p:spPr>
        <p:txBody>
          <a:bodyPr wrap="square" lIns="0" tIns="0" rIns="0" bIns="0" rtlCol="0" anchor="ctr"/>
          <a:lstStyle/>
          <a:p>
            <a:pPr algn="ctr" indent="0" marL="0">
              <a:buNone/>
            </a:pPr>
            <a:r>
              <a:rPr lang="en-US" sz="1400" b="1" dirty="0">
                <a:solidFill>
                  <a:schemeClr val="bg1"/>
                </a:solidFill>
              </a:rPr>
              <a:t>Media</a:t>
            </a:r>
            <a:endParaRPr lang="en-US" sz="1400" dirty="0"/>
          </a:p>
        </p:txBody>
      </p:sp>
      <p:sp>
        <p:nvSpPr>
          <p:cNvPr id="24" name="Text 19"/>
          <p:cNvSpPr txBox="1"/>
          <p:nvPr/>
        </p:nvSpPr>
        <p:spPr>
          <a:xfrm>
            <a:off x="6181344" y="5458968"/>
            <a:ext cx="2633472" cy="365760"/>
          </a:xfrm>
          <a:prstGeom prst="rect">
            <a:avLst/>
          </a:prstGeom>
          <a:noFill/>
          <a:ln/>
        </p:spPr>
        <p:txBody>
          <a:bodyPr wrap="square" lIns="0" tIns="0" rIns="0" bIns="0" rtlCol="0" anchor="ctr"/>
          <a:lstStyle/>
          <a:p>
            <a:pPr algn="ctr" indent="0" marL="0">
              <a:buNone/>
            </a:pPr>
            <a:r>
              <a:rPr lang="en-US" sz="1400" b="1" dirty="0">
                <a:solidFill>
                  <a:schemeClr val="tx1"/>
                </a:solidFill>
              </a:rPr>
              <a:t>DEF-01, DEF-02</a:t>
            </a:r>
            <a:endParaRPr lang="en-US" sz="1400" dirty="0"/>
          </a:p>
        </p:txBody>
      </p:sp>
      <p:sp>
        <p:nvSpPr>
          <p:cNvPr id="25" name="Severidad Baja"/>
          <p:cNvSpPr/>
          <p:nvPr/>
        </p:nvSpPr>
        <p:spPr>
          <a:xfrm>
            <a:off x="8997696" y="5029200"/>
            <a:ext cx="2633472" cy="384048"/>
          </a:xfrm>
          <a:prstGeom prst="roundRect">
            <a:avLst>
              <a:gd name="adj" fmla="val 19048"/>
            </a:avLst>
          </a:prstGeom>
          <a:solidFill>
            <a:schemeClr val="accent5"/>
          </a:solidFill>
          <a:ln/>
        </p:spPr>
        <p:txBody>
          <a:bodyPr wrap="square" lIns="0" tIns="0" rIns="0" bIns="0" rtlCol="0" anchor="ctr"/>
          <a:lstStyle/>
          <a:p>
            <a:pPr algn="ctr" indent="0" marL="0">
              <a:buNone/>
            </a:pPr>
            <a:r>
              <a:rPr lang="en-US" sz="1400" b="1" dirty="0">
                <a:solidFill>
                  <a:schemeClr val="bg1"/>
                </a:solidFill>
              </a:rPr>
              <a:t>Baja</a:t>
            </a:r>
            <a:endParaRPr lang="en-US" sz="1400" dirty="0"/>
          </a:p>
        </p:txBody>
      </p:sp>
      <p:sp>
        <p:nvSpPr>
          <p:cNvPr id="26" name="Text 21"/>
          <p:cNvSpPr txBox="1"/>
          <p:nvPr/>
        </p:nvSpPr>
        <p:spPr>
          <a:xfrm>
            <a:off x="8997696" y="5458968"/>
            <a:ext cx="2633472" cy="365760"/>
          </a:xfrm>
          <a:prstGeom prst="rect">
            <a:avLst/>
          </a:prstGeom>
          <a:noFill/>
          <a:ln/>
        </p:spPr>
        <p:txBody>
          <a:bodyPr wrap="square" lIns="0" tIns="0" rIns="0" bIns="0" rtlCol="0" anchor="ctr"/>
          <a:lstStyle/>
          <a:p>
            <a:pPr algn="ctr" indent="0" marL="0">
              <a:buNone/>
            </a:pPr>
            <a:r>
              <a:rPr lang="en-US" sz="1400" b="1" dirty="0">
                <a:solidFill>
                  <a:schemeClr val="tx1"/>
                </a:solidFill>
              </a:rPr>
              <a:t>DEF-05, DEF-06, DEF-08</a:t>
            </a:r>
            <a:endParaRPr lang="en-US" sz="1400" dirty="0"/>
          </a:p>
        </p:txBody>
      </p:sp>
      <p:sp>
        <p:nvSpPr>
          <p:cNvPr id="27" name="Text 22"/>
          <p:cNvSpPr txBox="1"/>
          <p:nvPr/>
        </p:nvSpPr>
        <p:spPr>
          <a:xfrm>
            <a:off x="548640" y="5897880"/>
            <a:ext cx="11064240" cy="320040"/>
          </a:xfrm>
          <a:prstGeom prst="rect">
            <a:avLst/>
          </a:prstGeom>
          <a:noFill/>
          <a:ln/>
        </p:spPr>
        <p:txBody>
          <a:bodyPr wrap="square" lIns="0" tIns="0" rIns="0" bIns="0" rtlCol="0" anchor="t"/>
          <a:lstStyle/>
          <a:p>
            <a:pPr algn="l" indent="0" marL="0">
              <a:buNone/>
            </a:pPr>
            <a:r>
              <a:rPr lang="en-US" sz="1300" dirty="0">
                <a:solidFill>
                  <a:schemeClr val="tx1"/>
                </a:solidFill>
              </a:rPr>
              <a:t>Detalle, pasos y evidencia en docs/defectos.md. Reproducidos contra Qolqe con los datos semilla. qolqe/ no se modificó.</a:t>
            </a:r>
            <a:endParaRPr lang="en-US" sz="13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Los conceptos de la clase, aplicados</a:t>
            </a:r>
            <a:endParaRPr lang="en-US" sz="3000" dirty="0"/>
          </a:p>
        </p:txBody>
      </p:sp>
      <p:sp>
        <p:nvSpPr>
          <p:cNvPr id="4" name="Etiqueta Semana 12"/>
          <p:cNvSpPr/>
          <p:nvPr/>
        </p:nvSpPr>
        <p:spPr>
          <a:xfrm>
            <a:off x="9646920" y="475488"/>
            <a:ext cx="1965960" cy="457200"/>
          </a:xfrm>
          <a:prstGeom prst="roundRect">
            <a:avLst>
              <a:gd name="adj" fmla="val 24000"/>
            </a:avLst>
          </a:prstGeom>
          <a:solidFill>
            <a:schemeClr val="bg2"/>
          </a:solidFill>
          <a:ln/>
        </p:spPr>
        <p:txBody>
          <a:bodyPr wrap="square" lIns="0" tIns="0" rIns="0" bIns="0" rtlCol="0" anchor="ctr"/>
          <a:lstStyle/>
          <a:p>
            <a:pPr algn="ctr" indent="0" marL="0">
              <a:buNone/>
            </a:pPr>
            <a:r>
              <a:rPr lang="en-US" sz="1300" b="1" dirty="0">
                <a:solidFill>
                  <a:schemeClr val="tx2"/>
                </a:solidFill>
              </a:rPr>
              <a:t>Semana 12</a:t>
            </a:r>
            <a:endParaRPr lang="en-US" sz="1300" dirty="0"/>
          </a:p>
        </p:txBody>
      </p:sp>
      <p:graphicFrame>
        <p:nvGraphicFramePr>
          <p:cNvPr id="19" name="Conceptos de la clase"/>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194560"/>
                <a:gridCol w="5440680"/>
                <a:gridCol w="1828800"/>
                <a:gridCol w="1600200"/>
              </a:tblGrid>
              <a:tr h="612648">
                <a:tc>
                  <a:txBody>
                    <a:bodyPr/>
                    <a:lstStyle/>
                    <a:p>
                      <a:pPr indent="0" marL="0">
                        <a:buNone/>
                      </a:pPr>
                      <a:r>
                        <a:rPr lang="en-US" sz="1500" b="1" dirty="0">
                          <a:solidFill>
                            <a:schemeClr val="bg1"/>
                          </a:solidFill>
                        </a:rPr>
                        <a:t>Concepto</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Dónde se ve en este proyecto</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Evidencia</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Fuente</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solidFill>
                      <a:schemeClr val="tx2"/>
                    </a:solidFill>
                  </a:tcPr>
                </a:tc>
              </a:tr>
              <a:tr h="612648">
                <a:tc>
                  <a:txBody>
                    <a:bodyPr/>
                    <a:lstStyle/>
                    <a:p>
                      <a:pPr indent="0" marL="0">
                        <a:buNone/>
                      </a:pPr>
                      <a:r>
                        <a:rPr lang="en-US" sz="1500" dirty="0">
                          <a:solidFill>
                            <a:schemeClr val="tx1"/>
                          </a:solidFill>
                        </a:rPr>
                        <a:t>Integración continua</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chemeClr val="tx1"/>
                          </a:solidFill>
                        </a:rPr>
                        <a:t>Cada push o PR construye y prueba. No publica la app</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chemeClr val="tx1"/>
                          </a:solidFill>
                        </a:rPr>
                        <a:t>10 runs</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chemeClr val="tx1"/>
                          </a:solidFill>
                        </a:rPr>
                        <a:t>Fowler, 2024</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612648">
                <a:tc>
                  <a:txBody>
                    <a:bodyPr/>
                    <a:lstStyle/>
                    <a:p>
                      <a:pPr indent="0" marL="0">
                        <a:buNone/>
                      </a:pPr>
                      <a:r>
                        <a:rPr lang="en-US" sz="1500" dirty="0">
                          <a:solidFill>
                            <a:schemeClr val="tx1"/>
                          </a:solidFill>
                        </a:rPr>
                        <a:t>DevOps</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chemeClr val="tx1"/>
                          </a:solidFill>
                        </a:rPr>
                        <a:t>El pipeline se define y se mantiene en el repositorio</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chemeClr val="tx1"/>
                          </a:solidFill>
                        </a:rPr>
                        <a:t>pruebas.yml</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chemeClr val="tx1"/>
                          </a:solidFill>
                        </a:rPr>
                        <a:t>ISTQB 2.1.4</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612648">
                <a:tc>
                  <a:txBody>
                    <a:bodyPr/>
                    <a:lstStyle/>
                    <a:p>
                      <a:pPr indent="0" marL="0">
                        <a:buNone/>
                      </a:pPr>
                      <a:r>
                        <a:rPr lang="en-US" sz="1500" dirty="0">
                          <a:solidFill>
                            <a:schemeClr val="tx1"/>
                          </a:solidFill>
                        </a:rPr>
                        <a:t>Shift left</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chemeClr val="tx1"/>
                          </a:solidFill>
                        </a:rPr>
                        <a:t>Reglas y contrato en API antes que la web</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chemeClr val="tx1"/>
                          </a:solidFill>
                        </a:rPr>
                        <a:t>Job api</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chemeClr val="tx1"/>
                          </a:solidFill>
                        </a:rPr>
                        <a:t>ISTQB 2.1.5</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612648">
                <a:tc>
                  <a:txBody>
                    <a:bodyPr/>
                    <a:lstStyle/>
                    <a:p>
                      <a:pPr indent="0" marL="0">
                        <a:buNone/>
                      </a:pPr>
                      <a:r>
                        <a:rPr lang="en-US" sz="1500" dirty="0">
                          <a:solidFill>
                            <a:schemeClr val="tx1"/>
                          </a:solidFill>
                        </a:rPr>
                        <a:t>Regresión</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chemeClr val="tx1"/>
                          </a:solidFill>
                        </a:rPr>
                        <a:t>API y web corren solas en cada cambio: 68 + 19 pruebas</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chemeClr val="tx1"/>
                          </a:solidFill>
                        </a:rPr>
                        <a:t>Run #10</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chemeClr val="tx1"/>
                          </a:solidFill>
                        </a:rPr>
                        <a:t>ISTQB 2.2.3</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612648">
                <a:tc>
                  <a:txBody>
                    <a:bodyPr/>
                    <a:lstStyle/>
                    <a:p>
                      <a:pPr indent="0" marL="0">
                        <a:buNone/>
                      </a:pPr>
                      <a:r>
                        <a:rPr lang="en-US" sz="1500" dirty="0">
                          <a:solidFill>
                            <a:schemeClr val="tx1"/>
                          </a:solidFill>
                        </a:rPr>
                        <a:t>Fail fast</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chemeClr val="tx1"/>
                          </a:solidFill>
                        </a:rPr>
                        <a:t>Si falla la API, no se gasta en la web</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chemeClr val="tx1"/>
                          </a:solidFill>
                        </a:rPr>
                        <a:t>Runs #1, #2 y #8</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chemeClr val="tx1"/>
                          </a:solidFill>
                        </a:rPr>
                        <a:t>Fowler, 2013</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612648">
                <a:tc>
                  <a:txBody>
                    <a:bodyPr/>
                    <a:lstStyle/>
                    <a:p>
                      <a:pPr indent="0" marL="0">
                        <a:buNone/>
                      </a:pPr>
                      <a:r>
                        <a:rPr lang="en-US" sz="1500" dirty="0">
                          <a:solidFill>
                            <a:schemeClr val="tx1"/>
                          </a:solidFill>
                        </a:rPr>
                        <a:t>Quality gate</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chemeClr val="tx1"/>
                          </a:solidFill>
                        </a:rPr>
                        <a:t>Criterios de salida automatizados y protección de rama</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chemeClr val="tx1"/>
                          </a:solidFill>
                        </a:rPr>
                        <a:t>PR #3</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chemeClr val="tx1"/>
                          </a:solidFill>
                        </a:rPr>
                        <a:t>ISTQB 5.1.3</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r h="612648">
                <a:tc>
                  <a:txBody>
                    <a:bodyPr/>
                    <a:lstStyle/>
                    <a:p>
                      <a:pPr indent="0" marL="0">
                        <a:buNone/>
                      </a:pPr>
                      <a:r>
                        <a:rPr lang="en-US" sz="1500" dirty="0">
                          <a:solidFill>
                            <a:schemeClr val="tx1"/>
                          </a:solidFill>
                        </a:rPr>
                        <a:t>Trazabilidad</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chemeClr val="tx1"/>
                          </a:solidFill>
                        </a:rPr>
                        <a:t>HU → caso → resultado → defecto, en cada run</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chemeClr val="tx1"/>
                          </a:solidFill>
                        </a:rPr>
                        <a:t>Matriz en Pages</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c>
                  <a:txBody>
                    <a:bodyPr/>
                    <a:lstStyle/>
                    <a:p>
                      <a:pPr indent="0" marL="0">
                        <a:buNone/>
                      </a:pPr>
                      <a:r>
                        <a:rPr lang="en-US" sz="1500" dirty="0">
                          <a:solidFill>
                            <a:schemeClr val="tx1"/>
                          </a:solidFill>
                        </a:rPr>
                        <a:t>ISTQB 1.4.4</a:t>
                      </a:r>
                      <a:endParaRPr lang="en-US" sz="1500" dirty="0"/>
                    </a:p>
                  </a:txBody>
                  <a:tcPr marL="73152" marR="73152" marT="27432" marB="27432" anchor="ctr">
                    <a:lnL w="9525" cap="flat" cmpd="sng" algn="ctr">
                      <a:solidFill>
                        <a:srgbClr val="D5DDE0"/>
                      </a:solidFill>
                      <a:prstDash val="solid"/>
                      <a:round/>
                      <a:headEnd type="none" w="med" len="med"/>
                      <a:tailEnd type="none" w="med" len="med"/>
                    </a:lnL>
                    <a:lnR w="9525" cap="flat" cmpd="sng" algn="ctr">
                      <a:solidFill>
                        <a:srgbClr val="D5DDE0"/>
                      </a:solidFill>
                      <a:prstDash val="solid"/>
                      <a:round/>
                      <a:headEnd type="none" w="med" len="med"/>
                      <a:tailEnd type="none" w="med" len="med"/>
                    </a:lnR>
                    <a:lnT w="9525" cap="flat" cmpd="sng" algn="ctr">
                      <a:solidFill>
                        <a:srgbClr val="D5DDE0"/>
                      </a:solidFill>
                      <a:prstDash val="solid"/>
                      <a:round/>
                      <a:headEnd type="none" w="med" len="med"/>
                      <a:tailEnd type="none" w="med" len="med"/>
                    </a:lnT>
                    <a:lnB w="9525" cap="flat" cmpd="sng" algn="ctr">
                      <a:solidFill>
                        <a:srgbClr val="D5DDE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96112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La demo muestra lo que pide la clase</a:t>
            </a:r>
            <a:endParaRPr lang="en-US" sz="3000" dirty="0"/>
          </a:p>
        </p:txBody>
      </p:sp>
      <p:sp>
        <p:nvSpPr>
          <p:cNvPr id="4" name="Etiqueta Criterio 5 · 4 pts"/>
          <p:cNvSpPr/>
          <p:nvPr/>
        </p:nvSpPr>
        <p:spPr>
          <a:xfrm>
            <a:off x="9646920" y="475488"/>
            <a:ext cx="1965960" cy="457200"/>
          </a:xfrm>
          <a:prstGeom prst="roundRect">
            <a:avLst>
              <a:gd name="adj" fmla="val 24000"/>
            </a:avLst>
          </a:prstGeom>
          <a:solidFill>
            <a:schemeClr val="accent1"/>
          </a:solidFill>
          <a:ln/>
        </p:spPr>
        <p:txBody>
          <a:bodyPr wrap="square" lIns="0" tIns="0" rIns="0" bIns="0" rtlCol="0" anchor="ctr"/>
          <a:lstStyle/>
          <a:p>
            <a:pPr algn="ctr" indent="0" marL="0">
              <a:buNone/>
            </a:pPr>
            <a:r>
              <a:rPr lang="en-US" sz="1300" b="1" dirty="0">
                <a:solidFill>
                  <a:schemeClr val="bg1"/>
                </a:solidFill>
              </a:rPr>
              <a:t>Criterio 5 · 4 pts</a:t>
            </a:r>
            <a:endParaRPr lang="en-US" sz="1300" dirty="0"/>
          </a:p>
        </p:txBody>
      </p:sp>
      <p:sp>
        <p:nvSpPr>
          <p:cNvPr id="5" name="Marco Un run real del pipeline"/>
          <p:cNvSpPr/>
          <p:nvPr/>
        </p:nvSpPr>
        <p:spPr>
          <a:xfrm>
            <a:off x="534924" y="1220724"/>
            <a:ext cx="2660904" cy="1203907"/>
          </a:xfrm>
          <a:prstGeom prst="rect">
            <a:avLst/>
          </a:prstGeom>
          <a:solidFill>
            <a:srgbClr val="FFFFFF"/>
          </a:solidFill>
          <a:ln w="9525">
            <a:solidFill>
              <a:srgbClr val="B9C6CB"/>
            </a:solidFill>
            <a:prstDash val="solid"/>
          </a:ln>
        </p:spPr>
      </p:sp>
      <p:pic>
        <p:nvPicPr>
          <p:cNvPr id="6" name="Un run real del pipeline" descr="Un run real del pipeline">    </p:cNvPr>
          <p:cNvPicPr>
            <a:picLocks noChangeAspect="1"/>
          </p:cNvPicPr>
          <p:nvPr/>
        </p:nvPicPr>
        <p:blipFill>
          <a:blip r:embed="rId1"/>
          <a:stretch>
            <a:fillRect/>
          </a:stretch>
        </p:blipFill>
        <p:spPr>
          <a:xfrm>
            <a:off x="548640" y="1234440"/>
            <a:ext cx="2633472" cy="1176475"/>
          </a:xfrm>
          <a:prstGeom prst="rect">
            <a:avLst/>
          </a:prstGeom>
        </p:spPr>
      </p:pic>
      <p:sp>
        <p:nvSpPr>
          <p:cNvPr id="7" name="Paso 1"/>
          <p:cNvSpPr/>
          <p:nvPr/>
        </p:nvSpPr>
        <p:spPr>
          <a:xfrm>
            <a:off x="548640" y="2560320"/>
            <a:ext cx="384048" cy="384048"/>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8" name="Text 4"/>
          <p:cNvSpPr txBox="1"/>
          <p:nvPr/>
        </p:nvSpPr>
        <p:spPr>
          <a:xfrm>
            <a:off x="1005840" y="2532888"/>
            <a:ext cx="2176272" cy="914400"/>
          </a:xfrm>
          <a:prstGeom prst="rect">
            <a:avLst/>
          </a:prstGeom>
          <a:noFill/>
          <a:ln/>
        </p:spPr>
        <p:txBody>
          <a:bodyPr wrap="square" lIns="0" tIns="0" rIns="0" bIns="0" rtlCol="0" anchor="t"/>
          <a:lstStyle/>
          <a:p>
            <a:pPr indent="0" marL="0">
              <a:buNone/>
            </a:pPr>
            <a:r>
              <a:rPr lang="en-US" sz="1500" b="1" dirty="0">
                <a:solidFill>
                  <a:schemeClr val="tx2"/>
                </a:solidFill>
              </a:rPr>
              <a:t>Un run real del pipeline</a:t>
            </a:r>
            <a:endParaRPr lang="en-US" sz="1500" dirty="0"/>
          </a:p>
          <a:p>
            <a:pPr indent="0" marL="0">
              <a:buNone/>
            </a:pPr>
            <a:r>
              <a:rPr lang="en-US" sz="1300" dirty="0">
                <a:solidFill>
                  <a:schemeClr val="tx1"/>
                </a:solidFill>
              </a:rPr>
              <a:t>GitHub Actions</a:t>
            </a:r>
            <a:endParaRPr lang="en-US" sz="1500" dirty="0"/>
          </a:p>
        </p:txBody>
      </p:sp>
      <p:sp>
        <p:nvSpPr>
          <p:cNvPr id="9" name="Marco El reporte abierto"/>
          <p:cNvSpPr/>
          <p:nvPr/>
        </p:nvSpPr>
        <p:spPr>
          <a:xfrm>
            <a:off x="3351276" y="1220724"/>
            <a:ext cx="2656027" cy="1234440"/>
          </a:xfrm>
          <a:prstGeom prst="rect">
            <a:avLst/>
          </a:prstGeom>
          <a:solidFill>
            <a:srgbClr val="FFFFFF"/>
          </a:solidFill>
          <a:ln w="9525">
            <a:solidFill>
              <a:srgbClr val="B9C6CB"/>
            </a:solidFill>
            <a:prstDash val="solid"/>
          </a:ln>
        </p:spPr>
      </p:sp>
      <p:pic>
        <p:nvPicPr>
          <p:cNvPr id="10" name="El reporte abierto" descr="El reporte abierto">    </p:cNvPr>
          <p:cNvPicPr>
            <a:picLocks noChangeAspect="1"/>
          </p:cNvPicPr>
          <p:nvPr/>
        </p:nvPicPr>
        <p:blipFill>
          <a:blip r:embed="rId2"/>
          <a:stretch>
            <a:fillRect/>
          </a:stretch>
        </p:blipFill>
        <p:spPr>
          <a:xfrm>
            <a:off x="3364992" y="1234440"/>
            <a:ext cx="2628595" cy="1207008"/>
          </a:xfrm>
          <a:prstGeom prst="rect">
            <a:avLst/>
          </a:prstGeom>
        </p:spPr>
      </p:pic>
      <p:sp>
        <p:nvSpPr>
          <p:cNvPr id="11" name="Paso 2"/>
          <p:cNvSpPr/>
          <p:nvPr/>
        </p:nvSpPr>
        <p:spPr>
          <a:xfrm>
            <a:off x="3364992" y="2560320"/>
            <a:ext cx="384048" cy="384048"/>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2" name="Text 7"/>
          <p:cNvSpPr txBox="1"/>
          <p:nvPr/>
        </p:nvSpPr>
        <p:spPr>
          <a:xfrm>
            <a:off x="3822192" y="2532888"/>
            <a:ext cx="2176272" cy="914400"/>
          </a:xfrm>
          <a:prstGeom prst="rect">
            <a:avLst/>
          </a:prstGeom>
          <a:noFill/>
          <a:ln/>
        </p:spPr>
        <p:txBody>
          <a:bodyPr wrap="square" lIns="0" tIns="0" rIns="0" bIns="0" rtlCol="0" anchor="t"/>
          <a:lstStyle/>
          <a:p>
            <a:pPr indent="0" marL="0">
              <a:buNone/>
            </a:pPr>
            <a:r>
              <a:rPr lang="en-US" sz="1500" b="1" dirty="0">
                <a:solidFill>
                  <a:schemeClr val="tx2"/>
                </a:solidFill>
              </a:rPr>
              <a:t>El reporte abierto</a:t>
            </a:r>
            <a:endParaRPr lang="en-US" sz="1500" dirty="0"/>
          </a:p>
          <a:p>
            <a:pPr indent="0" marL="0">
              <a:buNone/>
            </a:pPr>
            <a:r>
              <a:rPr lang="en-US" sz="1300" dirty="0">
                <a:solidFill>
                  <a:schemeClr val="tx1"/>
                </a:solidFill>
              </a:rPr>
              <a:t>Playwright en Pages</a:t>
            </a:r>
            <a:endParaRPr lang="en-US" sz="1500" dirty="0"/>
          </a:p>
        </p:txBody>
      </p:sp>
      <p:sp>
        <p:nvSpPr>
          <p:cNvPr id="13" name="Marco La matriz de trazabilidad"/>
          <p:cNvSpPr/>
          <p:nvPr/>
        </p:nvSpPr>
        <p:spPr>
          <a:xfrm>
            <a:off x="6167628" y="1220724"/>
            <a:ext cx="2658472" cy="1234440"/>
          </a:xfrm>
          <a:prstGeom prst="rect">
            <a:avLst/>
          </a:prstGeom>
          <a:solidFill>
            <a:srgbClr val="FFFFFF"/>
          </a:solidFill>
          <a:ln w="9525">
            <a:solidFill>
              <a:srgbClr val="B9C6CB"/>
            </a:solidFill>
            <a:prstDash val="solid"/>
          </a:ln>
        </p:spPr>
      </p:sp>
      <p:pic>
        <p:nvPicPr>
          <p:cNvPr id="14" name="La matriz de trazabilidad" descr="La matriz de trazabilidad">    </p:cNvPr>
          <p:cNvPicPr>
            <a:picLocks noChangeAspect="1"/>
          </p:cNvPicPr>
          <p:nvPr/>
        </p:nvPicPr>
        <p:blipFill>
          <a:blip r:embed="rId3"/>
          <a:stretch>
            <a:fillRect/>
          </a:stretch>
        </p:blipFill>
        <p:spPr>
          <a:xfrm>
            <a:off x="6181344" y="1234440"/>
            <a:ext cx="2631040" cy="1207008"/>
          </a:xfrm>
          <a:prstGeom prst="rect">
            <a:avLst/>
          </a:prstGeom>
        </p:spPr>
      </p:pic>
      <p:sp>
        <p:nvSpPr>
          <p:cNvPr id="15" name="Paso 3"/>
          <p:cNvSpPr/>
          <p:nvPr/>
        </p:nvSpPr>
        <p:spPr>
          <a:xfrm>
            <a:off x="6181344" y="2560320"/>
            <a:ext cx="384048" cy="384048"/>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6" name="Text 10"/>
          <p:cNvSpPr txBox="1"/>
          <p:nvPr/>
        </p:nvSpPr>
        <p:spPr>
          <a:xfrm>
            <a:off x="6638544" y="2532888"/>
            <a:ext cx="2176272" cy="914400"/>
          </a:xfrm>
          <a:prstGeom prst="rect">
            <a:avLst/>
          </a:prstGeom>
          <a:noFill/>
          <a:ln/>
        </p:spPr>
        <p:txBody>
          <a:bodyPr wrap="square" lIns="0" tIns="0" rIns="0" bIns="0" rtlCol="0" anchor="t"/>
          <a:lstStyle/>
          <a:p>
            <a:pPr indent="0" marL="0">
              <a:buNone/>
            </a:pPr>
            <a:r>
              <a:rPr lang="en-US" sz="1500" b="1" dirty="0">
                <a:solidFill>
                  <a:schemeClr val="tx2"/>
                </a:solidFill>
              </a:rPr>
              <a:t>La matriz de trazabilidad</a:t>
            </a:r>
            <a:endParaRPr lang="en-US" sz="1500" dirty="0"/>
          </a:p>
          <a:p>
            <a:pPr indent="0" marL="0">
              <a:buNone/>
            </a:pPr>
            <a:r>
              <a:rPr lang="en-US" sz="1300" dirty="0">
                <a:solidFill>
                  <a:schemeClr val="tx1"/>
                </a:solidFill>
              </a:rPr>
              <a:t>Portada en Pages</a:t>
            </a:r>
            <a:endParaRPr lang="en-US" sz="1500" dirty="0"/>
          </a:p>
        </p:txBody>
      </p:sp>
      <p:sp>
        <p:nvSpPr>
          <p:cNvPr id="17" name="Marco Automatización de sus pruebas"/>
          <p:cNvSpPr/>
          <p:nvPr/>
        </p:nvSpPr>
        <p:spPr>
          <a:xfrm>
            <a:off x="8983980" y="1220724"/>
            <a:ext cx="2646084" cy="1234440"/>
          </a:xfrm>
          <a:prstGeom prst="rect">
            <a:avLst/>
          </a:prstGeom>
          <a:solidFill>
            <a:srgbClr val="FFFFFF"/>
          </a:solidFill>
          <a:ln w="9525">
            <a:solidFill>
              <a:srgbClr val="B9C6CB"/>
            </a:solidFill>
            <a:prstDash val="solid"/>
          </a:ln>
        </p:spPr>
      </p:sp>
      <p:pic>
        <p:nvPicPr>
          <p:cNvPr id="18" name="Automatización de sus pruebas" descr="Automatización de sus pruebas">    </p:cNvPr>
          <p:cNvPicPr>
            <a:picLocks noChangeAspect="1"/>
          </p:cNvPicPr>
          <p:nvPr/>
        </p:nvPicPr>
        <p:blipFill>
          <a:blip r:embed="rId4"/>
          <a:stretch>
            <a:fillRect/>
          </a:stretch>
        </p:blipFill>
        <p:spPr>
          <a:xfrm>
            <a:off x="8997696" y="1234440"/>
            <a:ext cx="2618652" cy="1207008"/>
          </a:xfrm>
          <a:prstGeom prst="rect">
            <a:avLst/>
          </a:prstGeom>
        </p:spPr>
      </p:pic>
      <p:sp>
        <p:nvSpPr>
          <p:cNvPr id="19" name="Paso 4"/>
          <p:cNvSpPr/>
          <p:nvPr/>
        </p:nvSpPr>
        <p:spPr>
          <a:xfrm>
            <a:off x="8997696" y="2560320"/>
            <a:ext cx="384048" cy="384048"/>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0" name="Text 13"/>
          <p:cNvSpPr txBox="1"/>
          <p:nvPr/>
        </p:nvSpPr>
        <p:spPr>
          <a:xfrm>
            <a:off x="9454896" y="2532888"/>
            <a:ext cx="2176272" cy="914400"/>
          </a:xfrm>
          <a:prstGeom prst="rect">
            <a:avLst/>
          </a:prstGeom>
          <a:noFill/>
          <a:ln/>
        </p:spPr>
        <p:txBody>
          <a:bodyPr wrap="square" lIns="0" tIns="0" rIns="0" bIns="0" rtlCol="0" anchor="t"/>
          <a:lstStyle/>
          <a:p>
            <a:pPr indent="0" marL="0">
              <a:buNone/>
            </a:pPr>
            <a:r>
              <a:rPr lang="en-US" sz="1500" b="1" dirty="0">
                <a:solidFill>
                  <a:schemeClr val="tx2"/>
                </a:solidFill>
              </a:rPr>
              <a:t>Automatización de sus pruebas</a:t>
            </a:r>
            <a:endParaRPr lang="en-US" sz="1500" dirty="0"/>
          </a:p>
          <a:p>
            <a:pPr indent="0" marL="0">
              <a:buNone/>
            </a:pPr>
            <a:r>
              <a:rPr lang="en-US" sz="1300" dirty="0">
                <a:solidFill>
                  <a:schemeClr val="tx1"/>
                </a:solidFill>
              </a:rPr>
              <a:t>CP-W10, navegador visible</a:t>
            </a:r>
            <a:endParaRPr lang="en-US" sz="1500" dirty="0"/>
          </a:p>
        </p:txBody>
      </p:sp>
      <p:sp>
        <p:nvSpPr>
          <p:cNvPr id="21" name="Tarjeta Además, en la demo"/>
          <p:cNvSpPr/>
          <p:nvPr/>
        </p:nvSpPr>
        <p:spPr>
          <a:xfrm>
            <a:off x="548640" y="3520440"/>
            <a:ext cx="5440680" cy="1572768"/>
          </a:xfrm>
          <a:prstGeom prst="roundRect">
            <a:avLst>
              <a:gd name="adj" fmla="val 4651"/>
            </a:avLst>
          </a:prstGeom>
          <a:solidFill>
            <a:schemeClr val="bg2"/>
          </a:solidFill>
          <a:ln/>
        </p:spPr>
      </p:sp>
      <p:sp>
        <p:nvSpPr>
          <p:cNvPr id="22" name="Text 15"/>
          <p:cNvSpPr txBox="1"/>
          <p:nvPr/>
        </p:nvSpPr>
        <p:spPr>
          <a:xfrm>
            <a:off x="713232" y="3611880"/>
            <a:ext cx="5111496" cy="365760"/>
          </a:xfrm>
          <a:prstGeom prst="rect">
            <a:avLst/>
          </a:prstGeom>
          <a:noFill/>
          <a:ln/>
        </p:spPr>
        <p:txBody>
          <a:bodyPr wrap="square" lIns="0" tIns="0" rIns="0" bIns="0" rtlCol="0" anchor="ctr"/>
          <a:lstStyle/>
          <a:p>
            <a:pPr indent="0" marL="0">
              <a:buNone/>
            </a:pPr>
            <a:r>
              <a:rPr lang="en-US" sz="1600" b="1" dirty="0">
                <a:solidFill>
                  <a:schemeClr val="accent1"/>
                </a:solidFill>
              </a:rPr>
              <a:t>Además, en la demo</a:t>
            </a:r>
            <a:endParaRPr lang="en-US" sz="1600" dirty="0"/>
          </a:p>
        </p:txBody>
      </p:sp>
      <p:sp>
        <p:nvSpPr>
          <p:cNvPr id="23" name="Text 16"/>
          <p:cNvSpPr txBox="1"/>
          <p:nvPr/>
        </p:nvSpPr>
        <p:spPr>
          <a:xfrm>
            <a:off x="713232" y="3995928"/>
            <a:ext cx="5111496" cy="1024128"/>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PR #3 bloqueado por el quality gate</a:t>
            </a:r>
            <a:endParaRPr lang="en-US" sz="1400" dirty="0"/>
          </a:p>
          <a:p>
            <a:pPr marL="177800" indent="-177800">
              <a:spcAft>
                <a:spcPts val="300"/>
              </a:spcAft>
              <a:buSzPct val="100000"/>
              <a:buChar char="•"/>
            </a:pPr>
            <a:r>
              <a:rPr lang="en-US" sz="1400" dirty="0">
                <a:solidFill>
                  <a:schemeClr val="tx1"/>
                </a:solidFill>
              </a:rPr>
              <a:t>La suite completa: 19 escenarios, 3 veces seguidas</a:t>
            </a:r>
            <a:endParaRPr lang="en-US" sz="1400" dirty="0"/>
          </a:p>
          <a:p>
            <a:pPr marL="177800" indent="-177800">
              <a:spcAft>
                <a:spcPts val="300"/>
              </a:spcAft>
              <a:buSzPct val="100000"/>
              <a:buChar char="•"/>
            </a:pPr>
            <a:r>
              <a:rPr lang="en-US" sz="1400" dirty="0">
                <a:solidFill>
                  <a:schemeClr val="tx1"/>
                </a:solidFill>
              </a:rPr>
              <a:t>El Page Object abierto en el editor</a:t>
            </a:r>
            <a:endParaRPr lang="en-US" sz="1400" dirty="0"/>
          </a:p>
        </p:txBody>
      </p:sp>
      <p:sp>
        <p:nvSpPr>
          <p:cNvPr id="24" name="Tarjeta Verde no significa sin problemas"/>
          <p:cNvSpPr/>
          <p:nvPr/>
        </p:nvSpPr>
        <p:spPr>
          <a:xfrm>
            <a:off x="6172200" y="3520440"/>
            <a:ext cx="5440680" cy="1572768"/>
          </a:xfrm>
          <a:prstGeom prst="roundRect">
            <a:avLst>
              <a:gd name="adj" fmla="val 4651"/>
            </a:avLst>
          </a:prstGeom>
          <a:solidFill>
            <a:srgbClr val="FBF0D1"/>
          </a:solidFill>
          <a:ln/>
        </p:spPr>
      </p:sp>
      <p:sp>
        <p:nvSpPr>
          <p:cNvPr id="25" name="Text 18"/>
          <p:cNvSpPr txBox="1"/>
          <p:nvPr/>
        </p:nvSpPr>
        <p:spPr>
          <a:xfrm>
            <a:off x="6336792" y="3611880"/>
            <a:ext cx="5111496" cy="365760"/>
          </a:xfrm>
          <a:prstGeom prst="rect">
            <a:avLst/>
          </a:prstGeom>
          <a:noFill/>
          <a:ln/>
        </p:spPr>
        <p:txBody>
          <a:bodyPr wrap="square" lIns="0" tIns="0" rIns="0" bIns="0" rtlCol="0" anchor="ctr"/>
          <a:lstStyle/>
          <a:p>
            <a:pPr indent="0" marL="0">
              <a:buNone/>
            </a:pPr>
            <a:r>
              <a:rPr lang="en-US" sz="1600" b="1" dirty="0">
                <a:solidFill>
                  <a:schemeClr val="tx2"/>
                </a:solidFill>
              </a:rPr>
              <a:t>Verde no significa sin problemas</a:t>
            </a:r>
            <a:endParaRPr lang="en-US" sz="1600" dirty="0"/>
          </a:p>
        </p:txBody>
      </p:sp>
      <p:sp>
        <p:nvSpPr>
          <p:cNvPr id="26" name="Text 19"/>
          <p:cNvSpPr txBox="1"/>
          <p:nvPr/>
        </p:nvSpPr>
        <p:spPr>
          <a:xfrm>
            <a:off x="6336792" y="3995928"/>
            <a:ext cx="5111496" cy="1024128"/>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8 defectos abiertos: corregir primero DEF-03 y DEF-04</a:t>
            </a:r>
            <a:endParaRPr lang="en-US" sz="1400" dirty="0"/>
          </a:p>
          <a:p>
            <a:pPr marL="177800" indent="-177800">
              <a:spcAft>
                <a:spcPts val="300"/>
              </a:spcAft>
              <a:buSzPct val="100000"/>
              <a:buChar char="•"/>
            </a:pPr>
            <a:r>
              <a:rPr lang="en-US" sz="1400" dirty="0">
                <a:solidFill>
                  <a:schemeClr val="tx1"/>
                </a:solidFill>
              </a:rPr>
              <a:t>La prueba manual desde el usuario sigue siendo necesaria</a:t>
            </a:r>
            <a:endParaRPr lang="en-US" sz="1400" dirty="0"/>
          </a:p>
          <a:p>
            <a:pPr marL="177800" indent="-177800">
              <a:spcAft>
                <a:spcPts val="300"/>
              </a:spcAft>
              <a:buSzPct val="100000"/>
              <a:buChar char="•"/>
            </a:pPr>
            <a:r>
              <a:rPr lang="en-US" sz="1400" dirty="0">
                <a:solidFill>
                  <a:schemeClr val="tx1"/>
                </a:solidFill>
              </a:rPr>
              <a:t>El rendimiento queda para la Parte 3</a:t>
            </a:r>
            <a:endParaRPr lang="en-US" sz="1400" dirty="0"/>
          </a:p>
        </p:txBody>
      </p:sp>
      <p:sp>
        <p:nvSpPr>
          <p:cNvPr id="27" name="Código Comandos de la demo"/>
          <p:cNvSpPr/>
          <p:nvPr/>
        </p:nvSpPr>
        <p:spPr>
          <a:xfrm>
            <a:off x="548640" y="5230368"/>
            <a:ext cx="11064240" cy="987552"/>
          </a:xfrm>
          <a:prstGeom prst="roundRect">
            <a:avLst>
              <a:gd name="adj" fmla="val 4630"/>
            </a:avLst>
          </a:prstGeom>
          <a:solidFill>
            <a:schemeClr val="tx2"/>
          </a:solidFill>
          <a:ln/>
        </p:spPr>
        <p:txBody>
          <a:bodyPr wrap="square" lIns="76200" tIns="76200" rIns="76200" bIns="7620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 Lo que voy a ejecutar en vivo, en mi máquina</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SLOWMO=700 npx playwright test --headed --grep "CP-W10"</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npm run test:web:3x</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Qolqe">
  <a:themeElements>
    <a:clrScheme name="Qolqe">
      <a:dk1>
        <a:srgbClr val="16262E"/>
      </a:dk1>
      <a:lt1>
        <a:srgbClr val="FFFFFF"/>
      </a:lt1>
      <a:dk2>
        <a:srgbClr val="12343B"/>
      </a:dk2>
      <a:lt2>
        <a:srgbClr val="EEF2F3"/>
      </a:lt2>
      <a:accent1>
        <a:srgbClr val="1F6F78"/>
      </a:accent1>
      <a:accent2>
        <a:srgbClr val="E0A100"/>
      </a:accent2>
      <a:accent3>
        <a:srgbClr val="1E8E5A"/>
      </a:accent3>
      <a:accent4>
        <a:srgbClr val="C0392B"/>
      </a:accent4>
      <a:accent5>
        <a:srgbClr val="5C6D76"/>
      </a:accent5>
      <a:accent6>
        <a:srgbClr val="B9C6CB"/>
      </a:accent6>
      <a:hlink>
        <a:srgbClr val="1F6F78"/>
      </a:hlink>
      <a:folHlink>
        <a:srgbClr val="5C6D76"/>
      </a:folHlink>
    </a:clrScheme>
    <a:fontScheme name="Qolq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Johar Jared Barzola Estrella</dc:creator>
  <cp:lastModifiedBy>Johar Jared Barzola Estrella</cp:lastModifiedBy>
  <cp:revision>1</cp:revision>
  <dcterms:created xsi:type="dcterms:W3CDTF">2026-10-30T23:03:55Z</dcterms:created>
  <dcterms:modified xsi:type="dcterms:W3CDTF">2026-10-30T23:03:55Z</dcterms:modified>
</cp:coreProperties>
</file>