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Resumen" id="{079520ef-eaaf-8875-c379-22317fc91cd3}">
          <p14:sldIdLst>
            <p14:sldId id="256"/>
            <p14:sldId id="257"/>
          </p14:sldIdLst>
        </p14:section>
        <p14:section name="Automatización" id="{d197b791-b875-0091-c2fc-0e5cf78faf34}">
          <p14:sldIdLst>
            <p14:sldId id="258"/>
            <p14:sldId id="259"/>
            <p14:sldId id="260"/>
          </p14:sldIdLst>
        </p14:section>
        <p14:section name="Pipeline" id="{3bc13c7a-f1a0-b6ae-9dbd-bb5112c38c1b}">
          <p14:sldIdLst>
            <p14:sldId id="261"/>
            <p14:sldId id="262"/>
            <p14:sldId id="263"/>
            <p14:sldId id="264"/>
          </p14:sldIdLst>
        </p14:section>
        <p14:section name="Trazabilidad" id="{ca593ee2-1bb8-e597-c036-2ebe07ed6523}">
          <p14:sldIdLst>
            <p14:sldId id="265"/>
          </p14:sldIdLst>
        </p14:section>
        <p14:section name="Hallazgos" id="{3ad26877-527a-9d37-d7ec-2c1ced644c7a}">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6262E"/>
                </a:solidFill>
                <a:latin typeface="+mn-lt"/>
              </a:defRPr>
            </a:pPr>
            <a:r>
              <a:rPr sz="1500" b="0" i="0" u="none" strike="noStrike">
                <a:solidFill>
                  <a:srgbClr val="16262E"/>
                </a:solidFill>
                <a:latin typeface="+mn-lt"/>
              </a:rPr>
              <a:t>Casos por historia y nivel</a:t>
            </a:r>
          </a:p>
        </c:rich>
      </c:tx>
      <c:layout/>
      <c:overlay val="0"/>
    </c:title>
    <c:autoTitleDeleted val="0"/>
    <c:plotArea>
      <c:layout/>
      <c:barChart>
        <c:barDir val="bar"/>
        <c:grouping val="clustered"/>
        <c:varyColors val="0"/>
        <c:ser>
          <c:idx val="0"/>
          <c:order val="0"/>
          <c:tx>
            <c:strRef>
              <c:f>Sheet1!$B$1</c:f>
              <c:strCache>
                <c:ptCount val="1"/>
                <c:pt idx="0">
                  <c:v>API</c:v>
                </c:pt>
              </c:strCache>
            </c:strRef>
          </c:tx>
          <c:spPr>
            <a:solidFill>
              <a:srgbClr val="1F6F78"/>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Sheet1!$B$2:$B$11</c:f>
              <c:numCache>
                <c:formatCode>General</c:formatCode>
                <c:ptCount val="10"/>
                <c:pt idx="0">
                  <c:v>7</c:v>
                </c:pt>
                <c:pt idx="1">
                  <c:v>4</c:v>
                </c:pt>
                <c:pt idx="2">
                  <c:v>4</c:v>
                </c:pt>
                <c:pt idx="3">
                  <c:v>4</c:v>
                </c:pt>
                <c:pt idx="4">
                  <c:v>2</c:v>
                </c:pt>
                <c:pt idx="5">
                  <c:v>5</c:v>
                </c:pt>
                <c:pt idx="6">
                  <c:v>4</c:v>
                </c:pt>
                <c:pt idx="7">
                  <c:v>6</c:v>
                </c:pt>
                <c:pt idx="8">
                  <c:v>3</c:v>
                </c:pt>
                <c:pt idx="9">
                  <c:v>3</c:v>
                </c:pt>
              </c:numCache>
            </c:numRef>
          </c:val>
        </c:ser>
        <c:ser>
          <c:idx val="1"/>
          <c:order val="1"/>
          <c:tx>
            <c:strRef>
              <c:f>Sheet1!$C$1</c:f>
              <c:strCache>
                <c:ptCount val="1"/>
                <c:pt idx="0">
                  <c:v>Web</c:v>
                </c:pt>
              </c:strCache>
            </c:strRef>
          </c:tx>
          <c:spPr>
            <a:solidFill>
              <a:srgbClr val="E0A100"/>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Sheet1!$A$2:$A$11</c:f>
              <c:multiLvlStrCache>
                <c:ptCount val="10"/>
                <c:lvl>
                  <c:pt idx="0">
                    <c:v>HU-01</c:v>
                  </c:pt>
                  <c:pt idx="1">
                    <c:v>HU-02</c:v>
                  </c:pt>
                  <c:pt idx="2">
                    <c:v>HU-03</c:v>
                  </c:pt>
                  <c:pt idx="3">
                    <c:v>HU-04</c:v>
                  </c:pt>
                  <c:pt idx="4">
                    <c:v>HU-05</c:v>
                  </c:pt>
                  <c:pt idx="5">
                    <c:v>HU-06</c:v>
                  </c:pt>
                  <c:pt idx="6">
                    <c:v>HU-07</c:v>
                  </c:pt>
                  <c:pt idx="7">
                    <c:v>HU-08</c:v>
                  </c:pt>
                  <c:pt idx="8">
                    <c:v>HU-09</c:v>
                  </c:pt>
                  <c:pt idx="9">
                    <c:v>HU-10</c:v>
                  </c:pt>
                </c:lvl>
              </c:multiLvlStrCache>
            </c:multiLvlStrRef>
          </c:cat>
          <c:val>
            <c:numRef>
              <c:f>Sheet1!$C$2:$C$11</c:f>
              <c:numCache>
                <c:formatCode>General</c:formatCode>
                <c:ptCount val="10"/>
                <c:pt idx="0">
                  <c:v>3</c:v>
                </c:pt>
                <c:pt idx="1">
                  <c:v>3</c:v>
                </c:pt>
                <c:pt idx="2">
                  <c:v>1</c:v>
                </c:pt>
                <c:pt idx="3">
                  <c:v>2</c:v>
                </c:pt>
                <c:pt idx="4">
                  <c:v>1</c:v>
                </c:pt>
                <c:pt idx="5">
                  <c:v>4</c:v>
                </c:pt>
                <c:pt idx="6">
                  <c:v>3</c:v>
                </c:pt>
                <c:pt idx="7">
                  <c:v>4</c:v>
                </c:pt>
                <c:pt idx="8">
                  <c:v>1</c:v>
                </c:pt>
                <c:pt idx="9">
                  <c:v>1</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noches. Presento la Entrega 2 del Proyecto 2 sobre el módulo G4 de Qolqe: contactos y solicitudes de dinero. Voy a mostrar un run real del pipeline, el reporte abierto, la matriz de trazabilidad y la automatización corriendo.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Son 19 escenarios web que cubren todos los criterios que definí en ese nivel, y pasan 3 veces seguidas: 57 de 57. Además corren 68 ejecuciones de API y unos 700 casos generados por Schemathesis. La tabla muestra dónde está la evidencia de cada criterio de la rúbrica.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Apliqué la regla de la clase 11: cada regla se prueba en el nivel más bajo donde se pueda detectar. Un criterio es web solo si lo que afirma se ve únicamente en pantalla, si es parte de un recorrido crítico con dinero, o si la interfaz debe comunicar un error. Por eso la API tiene más casos que la web, como pide la pirámide.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el laboratorio me tocó Robot Framework, pero para el proyecto podía elegir. Elegí Playwright con playwright-bdd porque lo que pide la rúbrica ya viene incluido: espera automática, repetir la suite, marcar un fallo esperado, bloquear por pruebas frágiles y publicar reportes. Con las otras dos herramientas tendría que armar parte de eso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patrón es Page Object, en tres capas. El escenario en Gherkin dice qué hace el usuario, con sus etiquetas de historia y caso. El paso solo conecta. Y el Page Object es el único lugar que conoce los localizadores: si cambia la pantalla, se cambia un archivo. No hay ninguna espera fija: usamos las aserciones de Playwright, que reintentan hasta que el estado se cumple. Por eso pasa 57 de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workflow se dispara en cada push a main y en cada pull request. Primero corre el job api, con pytest-bdd y Schemathesis, porque es lo más barato: es fail fast. Si pasa, con needs corre el job web, que repite la suite 3 veces. Si algo falla, lo que depende queda skipped. Al final, solo en main, el job reportes arma la matriz y publica en GitHub Pages. API y web van en un solo workflow porque la suite es pequeña, una simplificación que la clase acepta para este proyecto.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run real, no una captura preparada en mi máquina. Se ven los tres jobs en verde y el resumen con los conteos. Aquí paso a la demo y abro este mismo run en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pipeline que solo dice verde o rojo no basta. Por eso hay tres tipos de reporte: JUnit XML para las herramientas, que alimenta la matriz; HTML para personas, con pasos y trazas; y el resumen del job, que se ve sin descargar nada. Todo queda publicado en GitHub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quality gate es la versión automática de los criterios de salida del ISTQB. Todas las pruebas deben pasar, salvo los defectos reportados. Con la protección de rama, api y web son status checks obligatorios, y el botón de fusionar queda bloqueado. Este PR rompe una prueba a propósito: la API falla, web queda skipped y GitHub bloquea la fusión. Skipped no es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trazabilidad une requisito, caso y resultado, como pide el ISTQB en 1.4.4. Cada escenario lleva sus etiquetas de historia y caso. El pipeline produce el JUnit XML, y un script cruza ambos para generar la matriz. Lo nuevo es que el ciclo de ejecución lo produce el pipeline: cada run tiene fecha, versión del código y evidencia. La fila resaltada es un fallo esperado, enlazado a su defecto.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hallazgo más valioso: en mi máquina todo pasaba, y el primer run del pipeline dio 6 fallos intermitentes. No eran pruebas frágiles. Desde FastAPI 0.118 la respuesta sale antes del commit de la base de datos: el cliente puede leer datos viejos. Lo reproduje en 2 de 300 intentos. Fijé la versión, con cero fallos en 1,500 intentos, y lo reporté como DEF-07 sin tocar el código de Qolqe. Además hay dos defectos críticos que mueven dinero: aceptar una solicitud vencida y transferir a una cuenta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cerrar la teoría: esto es integración continua, no despliegue continuo, porque se integra y se prueba en cada cambio, pero no se publica Qolqe en producción. Lo publicado son los reportes. Aplico shift left: reglas en API y análisis del contrato antes que la web. Y la regresión corre sola en cada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la demo. Abro el run real, el reporte, la matriz, el PR bloqueado y la automatización con el navegador visible. Como limitación: la prueba manual desde la perspectiva del usuario sigue siendo necesaria, y hay defectos abiertos, por lo que el verde no significa sin problemas.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55448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371600"/>
          </a:xfrm>
          <a:prstGeom prst="rect">
            <a:avLst/>
          </a:prstGeom>
          <a:noFill/>
          <a:ln/>
        </p:spPr>
        <p:txBody>
          <a:bodyPr wrap="square" rtlCol="0"/>
          <a:lstStyle>
            <a:lvl1pPr algn="l" indent="0" marL="0">
              <a:buNone/>
              <a:defRPr lang="en-US" sz="1800" dirty="0">
                <a:solidFill>
                  <a:schemeClr val="accent6"/>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2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3" name="Text 0"/>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CS5383 · Proyecto 2 · Entrega 2 · Módulo G4</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920240"/>
            <a:ext cx="10698480" cy="1554480"/>
          </a:xfrm>
          <a:prstGeom prst="rect">
            <a:avLst/>
          </a:prstGeom>
          <a:noFill/>
          <a:ln/>
        </p:spPr>
        <p:txBody>
          <a:bodyPr wrap="square" lIns="0" tIns="0" rIns="0" bIns="0"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Pruebas E2E, CI/CD y trazabilidad en Qolqe</a:t>
            </a:r>
            <a:endParaRPr lang="en-US" sz="4400" dirty="0"/>
          </a:p>
        </p:txBody>
      </p:sp>
      <p:sp>
        <p:nvSpPr>
          <p:cNvPr id="3" name="Text 0"/>
          <p:cNvSpPr/>
          <p:nvPr>
            <p:ph idx="101" type="body" hasCustomPrompt="1"/>
          </p:nvPr>
        </p:nvSpPr>
        <p:spPr>
          <a:xfrm>
            <a:off x="731520" y="3657600"/>
            <a:ext cx="10698480" cy="1371600"/>
          </a:xfrm>
          <a:prstGeom prst="rect">
            <a:avLst/>
          </a:prstGeom>
          <a:noFill/>
          <a:ln/>
        </p:spPr>
        <p:txBody>
          <a:bodyPr wrap="square" lIns="0" tIns="0" rIns="0" bIns="0" rtlCol="0" anchor="t"/>
          <a:lstStyle/>
          <a:p>
            <a:pPr algn="l" indent="0" marL="0">
              <a:buNone/>
            </a:pPr>
            <a:r>
              <a:rPr lang="en-US" sz="1800" dirty="0">
                <a:solidFill>
                  <a:schemeClr val="accent6"/>
                </a:solidFill>
              </a:rPr>
              <a:t>Proyecto 2 · Entrega 2 · Módulo G4: Contactos y solicitudes de dinero</a:t>
            </a:r>
            <a:endParaRPr lang="en-US" sz="1800" dirty="0"/>
          </a:p>
          <a:p>
            <a:pPr algn="l" indent="0" marL="0">
              <a:buNone/>
            </a:pPr>
            <a:r>
              <a:rPr lang="en-US" sz="1800" dirty="0">
                <a:solidFill>
                  <a:schemeClr val="accent6"/>
                </a:solidFill>
              </a:rPr>
              <a:t>CS5383 Pruebas y Verificación de Software</a:t>
            </a:r>
            <a:endParaRPr lang="en-US" sz="1800" dirty="0"/>
          </a:p>
          <a:p>
            <a:pPr algn="l" indent="0" marL="0">
              <a:buNone/>
            </a:pPr>
            <a:r>
              <a:rPr lang="en-US" sz="1800" dirty="0">
                <a:solidFill>
                  <a:schemeClr val="accent6"/>
                </a:solidFill>
              </a:rPr>
              <a:t>Johar Jared Barzola Estrella</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G4 queda automatizado, en verde y trazable</a:t>
            </a:r>
            <a:endParaRPr lang="en-US" sz="3200" dirty="0"/>
          </a:p>
        </p:txBody>
      </p:sp>
      <p:sp>
        <p:nvSpPr>
          <p:cNvPr id="4" name="Tarjeta escenarios web sobre 10 historias"/>
          <p:cNvSpPr/>
          <p:nvPr/>
        </p:nvSpPr>
        <p:spPr>
          <a:xfrm>
            <a:off x="548640" y="1325880"/>
            <a:ext cx="2606040" cy="1371600"/>
          </a:xfrm>
          <a:prstGeom prst="roundRect">
            <a:avLst>
              <a:gd name="adj" fmla="val 5333"/>
            </a:avLst>
          </a:prstGeom>
          <a:solidFill>
            <a:schemeClr val="bg2"/>
          </a:solidFill>
          <a:ln/>
        </p:spPr>
      </p:sp>
      <p:sp>
        <p:nvSpPr>
          <p:cNvPr id="5" name="Text 2"/>
          <p:cNvSpPr txBox="1"/>
          <p:nvPr/>
        </p:nvSpPr>
        <p:spPr>
          <a:xfrm>
            <a:off x="685800" y="1417320"/>
            <a:ext cx="233172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19</a:t>
            </a:r>
            <a:endParaRPr lang="en-US" sz="4000" dirty="0"/>
          </a:p>
        </p:txBody>
      </p:sp>
      <p:sp>
        <p:nvSpPr>
          <p:cNvPr id="6" name="Text 3"/>
          <p:cNvSpPr txBox="1"/>
          <p:nvPr/>
        </p:nvSpPr>
        <p:spPr>
          <a:xfrm>
            <a:off x="685800" y="2148840"/>
            <a:ext cx="2331720" cy="457200"/>
          </a:xfrm>
          <a:prstGeom prst="rect">
            <a:avLst/>
          </a:prstGeom>
          <a:noFill/>
          <a:ln/>
        </p:spPr>
        <p:txBody>
          <a:bodyPr wrap="square" lIns="0" tIns="0" rIns="0" bIns="0" rtlCol="0" anchor="t"/>
          <a:lstStyle/>
          <a:p>
            <a:pPr indent="0" marL="0">
              <a:buNone/>
            </a:pPr>
            <a:r>
              <a:rPr lang="en-US" sz="1300" dirty="0">
                <a:solidFill>
                  <a:schemeClr val="tx1"/>
                </a:solidFill>
              </a:rPr>
              <a:t>escenarios web sobre 10 historias</a:t>
            </a:r>
            <a:endParaRPr lang="en-US" sz="1300" dirty="0"/>
          </a:p>
        </p:txBody>
      </p:sp>
      <p:sp>
        <p:nvSpPr>
          <p:cNvPr id="7" name="Tarjeta ejecuciones web: pasa 3 veces seguidas"/>
          <p:cNvSpPr/>
          <p:nvPr/>
        </p:nvSpPr>
        <p:spPr>
          <a:xfrm>
            <a:off x="3364992" y="1325880"/>
            <a:ext cx="2606040" cy="1371600"/>
          </a:xfrm>
          <a:prstGeom prst="roundRect">
            <a:avLst>
              <a:gd name="adj" fmla="val 5333"/>
            </a:avLst>
          </a:prstGeom>
          <a:solidFill>
            <a:schemeClr val="bg2"/>
          </a:solidFill>
          <a:ln/>
        </p:spPr>
      </p:sp>
      <p:sp>
        <p:nvSpPr>
          <p:cNvPr id="8" name="Text 5"/>
          <p:cNvSpPr txBox="1"/>
          <p:nvPr/>
        </p:nvSpPr>
        <p:spPr>
          <a:xfrm>
            <a:off x="3502152" y="1417320"/>
            <a:ext cx="2331720" cy="73152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57/57</a:t>
            </a:r>
            <a:endParaRPr lang="en-US" sz="4000" dirty="0"/>
          </a:p>
        </p:txBody>
      </p:sp>
      <p:sp>
        <p:nvSpPr>
          <p:cNvPr id="9" name="Text 6"/>
          <p:cNvSpPr txBox="1"/>
          <p:nvPr/>
        </p:nvSpPr>
        <p:spPr>
          <a:xfrm>
            <a:off x="3502152" y="2148840"/>
            <a:ext cx="2331720" cy="457200"/>
          </a:xfrm>
          <a:prstGeom prst="rect">
            <a:avLst/>
          </a:prstGeom>
          <a:noFill/>
          <a:ln/>
        </p:spPr>
        <p:txBody>
          <a:bodyPr wrap="square" lIns="0" tIns="0" rIns="0" bIns="0" rtlCol="0" anchor="t"/>
          <a:lstStyle/>
          <a:p>
            <a:pPr indent="0" marL="0">
              <a:buNone/>
            </a:pPr>
            <a:r>
              <a:rPr lang="en-US" sz="1300" dirty="0">
                <a:solidFill>
                  <a:schemeClr val="tx1"/>
                </a:solidFill>
              </a:rPr>
              <a:t>ejecuciones web: pasa 3 veces seguidas</a:t>
            </a:r>
            <a:endParaRPr lang="en-US" sz="1300" dirty="0"/>
          </a:p>
        </p:txBody>
      </p:sp>
      <p:sp>
        <p:nvSpPr>
          <p:cNvPr id="10" name="Tarjeta API: passed y fallos esperados con defecto"/>
          <p:cNvSpPr/>
          <p:nvPr/>
        </p:nvSpPr>
        <p:spPr>
          <a:xfrm>
            <a:off x="6181344" y="1325880"/>
            <a:ext cx="2606040" cy="1371600"/>
          </a:xfrm>
          <a:prstGeom prst="roundRect">
            <a:avLst>
              <a:gd name="adj" fmla="val 5333"/>
            </a:avLst>
          </a:prstGeom>
          <a:solidFill>
            <a:schemeClr val="bg2"/>
          </a:solidFill>
          <a:ln/>
        </p:spPr>
      </p:sp>
      <p:sp>
        <p:nvSpPr>
          <p:cNvPr id="11" name="Text 8"/>
          <p:cNvSpPr txBox="1"/>
          <p:nvPr/>
        </p:nvSpPr>
        <p:spPr>
          <a:xfrm>
            <a:off x="6318504" y="1417320"/>
            <a:ext cx="233172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64 + 4</a:t>
            </a:r>
            <a:endParaRPr lang="en-US" sz="4000" dirty="0"/>
          </a:p>
        </p:txBody>
      </p:sp>
      <p:sp>
        <p:nvSpPr>
          <p:cNvPr id="12" name="Text 9"/>
          <p:cNvSpPr txBox="1"/>
          <p:nvPr/>
        </p:nvSpPr>
        <p:spPr>
          <a:xfrm>
            <a:off x="6318504" y="2148840"/>
            <a:ext cx="2331720" cy="457200"/>
          </a:xfrm>
          <a:prstGeom prst="rect">
            <a:avLst/>
          </a:prstGeom>
          <a:noFill/>
          <a:ln/>
        </p:spPr>
        <p:txBody>
          <a:bodyPr wrap="square" lIns="0" tIns="0" rIns="0" bIns="0" rtlCol="0" anchor="t"/>
          <a:lstStyle/>
          <a:p>
            <a:pPr indent="0" marL="0">
              <a:buNone/>
            </a:pPr>
            <a:r>
              <a:rPr lang="en-US" sz="1300" dirty="0">
                <a:solidFill>
                  <a:schemeClr val="tx1"/>
                </a:solidFill>
              </a:rPr>
              <a:t>API: passed y fallos esperados con defecto</a:t>
            </a:r>
            <a:endParaRPr lang="en-US" sz="1300" dirty="0"/>
          </a:p>
        </p:txBody>
      </p:sp>
      <p:sp>
        <p:nvSpPr>
          <p:cNvPr id="13" name="Tarjeta casos de contrato en 9 operaciones"/>
          <p:cNvSpPr/>
          <p:nvPr/>
        </p:nvSpPr>
        <p:spPr>
          <a:xfrm>
            <a:off x="8997696" y="1325880"/>
            <a:ext cx="2606040" cy="1371600"/>
          </a:xfrm>
          <a:prstGeom prst="roundRect">
            <a:avLst>
              <a:gd name="adj" fmla="val 5333"/>
            </a:avLst>
          </a:prstGeom>
          <a:solidFill>
            <a:schemeClr val="bg2"/>
          </a:solidFill>
          <a:ln/>
        </p:spPr>
      </p:sp>
      <p:sp>
        <p:nvSpPr>
          <p:cNvPr id="14" name="Text 11"/>
          <p:cNvSpPr txBox="1"/>
          <p:nvPr/>
        </p:nvSpPr>
        <p:spPr>
          <a:xfrm>
            <a:off x="9134856" y="1417320"/>
            <a:ext cx="233172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~700</a:t>
            </a:r>
            <a:endParaRPr lang="en-US" sz="4000" dirty="0"/>
          </a:p>
        </p:txBody>
      </p:sp>
      <p:sp>
        <p:nvSpPr>
          <p:cNvPr id="15" name="Text 12"/>
          <p:cNvSpPr txBox="1"/>
          <p:nvPr/>
        </p:nvSpPr>
        <p:spPr>
          <a:xfrm>
            <a:off x="9134856" y="2148840"/>
            <a:ext cx="2331720" cy="457200"/>
          </a:xfrm>
          <a:prstGeom prst="rect">
            <a:avLst/>
          </a:prstGeom>
          <a:noFill/>
          <a:ln/>
        </p:spPr>
        <p:txBody>
          <a:bodyPr wrap="square" lIns="0" tIns="0" rIns="0" bIns="0" rtlCol="0" anchor="t"/>
          <a:lstStyle/>
          <a:p>
            <a:pPr indent="0" marL="0">
              <a:buNone/>
            </a:pPr>
            <a:r>
              <a:rPr lang="en-US" sz="1300" dirty="0">
                <a:solidFill>
                  <a:schemeClr val="tx1"/>
                </a:solidFill>
              </a:rPr>
              <a:t>casos de contrato en 9 operaciones</a:t>
            </a:r>
            <a:endParaRPr lang="en-US" sz="1300" dirty="0"/>
          </a:p>
        </p:txBody>
      </p:sp>
      <p:graphicFrame>
        <p:nvGraphicFramePr>
          <p:cNvPr id="3" name="Rúbrica"/>
          <p:cNvGraphicFramePr>
            <a:graphicFrameLocks noGrp="1"/>
          </p:cNvGraphicFramePr>
          <p:nvPr>
            <p:extLst>
              <p:ext uri="{D42A27DB-BD31-4B8C-83A1-F6EECF244321}">
                <p14:modId xmlns:p14="http://schemas.microsoft.com/office/powerpoint/2010/main" val="1579011935"/>
              </p:ext>
            </p:extLst>
          </p:nvPr>
        </p:nvGraphicFramePr>
        <p:xfrm>
          <a:off x="548640" y="2926080"/>
          <a:ext cx="11064240" cy="914400"/>
        </p:xfrm>
        <a:graphic>
          <a:graphicData uri="http://schemas.openxmlformats.org/drawingml/2006/table">
            <a:tbl>
              <a:tblPr/>
              <a:tblGrid>
                <a:gridCol w="4937760"/>
                <a:gridCol w="640080"/>
                <a:gridCol w="5486400"/>
              </a:tblGrid>
              <a:tr h="502920">
                <a:tc>
                  <a:txBody>
                    <a:bodyPr/>
                    <a:lstStyle/>
                    <a:p>
                      <a:pPr indent="0" marL="0">
                        <a:buNone/>
                      </a:pPr>
                      <a:r>
                        <a:rPr lang="en-US" sz="1500" b="1" dirty="0">
                          <a:solidFill>
                            <a:schemeClr val="bg1"/>
                          </a:solidFill>
                        </a:rPr>
                        <a:t>Criterio de la rúbrica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Pts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Evidencia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502920">
                <a:tc>
                  <a:txBody>
                    <a:bodyPr/>
                    <a:lstStyle/>
                    <a:p>
                      <a:pPr indent="0" marL="0">
                        <a:buNone/>
                      </a:pPr>
                      <a:r>
                        <a:rPr lang="en-US" sz="1500" dirty="0">
                          <a:solidFill>
                            <a:schemeClr val="tx1"/>
                          </a:solidFill>
                        </a:rPr>
                        <a:t>Todos los criterios web automatizados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5</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features/web/ · 19 escenarios · docs/alcance-y-casos.md</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dirty="0">
                          <a:solidFill>
                            <a:schemeClr val="tx1"/>
                          </a:solidFill>
                        </a:rPr>
                        <a:t>Patrón mantenible, sin esperas fijas, 3 veces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2</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Page Object · 0 esperas fijas · --repeat-each=3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dirty="0">
                          <a:solidFill>
                            <a:schemeClr val="tx1"/>
                          </a:solidFill>
                        </a:rPr>
                        <a:t>Pipeline: API + web en verde, con reportes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5</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.github/workflows/pruebas.yml · GitHub Pages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dirty="0">
                          <a:solidFill>
                            <a:schemeClr val="tx1"/>
                          </a:solidFill>
                        </a:rPr>
                        <a:t>Trazabilidad HU → casos → ejecución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4</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docs/trazabilidad.md, generada desde el pipeline</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02920">
                <a:tc>
                  <a:txBody>
                    <a:bodyPr/>
                    <a:lstStyle/>
                    <a:p>
                      <a:pPr indent="0" marL="0">
                        <a:buNone/>
                      </a:pPr>
                      <a:r>
                        <a:rPr lang="en-US" sz="1500" dirty="0">
                          <a:solidFill>
                            <a:schemeClr val="tx1"/>
                          </a:solidFill>
                        </a:rPr>
                        <a:t>Exposición con demo en vivo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4</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Guion de la demo en vivo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Cada regla se prueba en el nivel más bajo</a:t>
            </a:r>
            <a:endParaRPr lang="en-US" sz="3200" dirty="0"/>
          </a:p>
        </p:txBody>
      </p:sp>
      <p:sp>
        <p:nvSpPr>
          <p:cNvPr id="4" name="Tarjeta Un criterio es web si"/>
          <p:cNvSpPr/>
          <p:nvPr/>
        </p:nvSpPr>
        <p:spPr>
          <a:xfrm>
            <a:off x="548640" y="1325880"/>
            <a:ext cx="4480560" cy="2834640"/>
          </a:xfrm>
          <a:prstGeom prst="roundRect">
            <a:avLst>
              <a:gd name="adj" fmla="val 2581"/>
            </a:avLst>
          </a:prstGeom>
          <a:solidFill>
            <a:schemeClr val="bg2"/>
          </a:solidFill>
          <a:ln/>
        </p:spPr>
      </p:sp>
      <p:sp>
        <p:nvSpPr>
          <p:cNvPr id="5" name="Text 2"/>
          <p:cNvSpPr txBox="1"/>
          <p:nvPr/>
        </p:nvSpPr>
        <p:spPr>
          <a:xfrm>
            <a:off x="731520" y="1435608"/>
            <a:ext cx="4114800" cy="411480"/>
          </a:xfrm>
          <a:prstGeom prst="rect">
            <a:avLst/>
          </a:prstGeom>
          <a:noFill/>
          <a:ln/>
        </p:spPr>
        <p:txBody>
          <a:bodyPr wrap="square" lIns="0" tIns="0" rIns="0" bIns="0" rtlCol="0" anchor="ctr"/>
          <a:lstStyle/>
          <a:p>
            <a:pPr indent="0" marL="0">
              <a:buNone/>
            </a:pPr>
            <a:r>
              <a:rPr lang="en-US" sz="1700" b="1" dirty="0">
                <a:solidFill>
                  <a:schemeClr val="accent1"/>
                </a:solidFill>
              </a:rPr>
              <a:t>Un criterio es web si</a:t>
            </a:r>
            <a:endParaRPr lang="en-US" sz="1700" dirty="0"/>
          </a:p>
        </p:txBody>
      </p:sp>
      <p:sp>
        <p:nvSpPr>
          <p:cNvPr id="6" name="Text 3"/>
          <p:cNvSpPr txBox="1"/>
          <p:nvPr/>
        </p:nvSpPr>
        <p:spPr>
          <a:xfrm>
            <a:off x="731520" y="1856232"/>
            <a:ext cx="4114800" cy="2212848"/>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Lo que afirma solo se ve en pantalla: lista, orden, pestañas, avisos, botones</a:t>
            </a:r>
            <a:endParaRPr lang="en-US" sz="1500" dirty="0"/>
          </a:p>
          <a:p>
            <a:pPr marL="342900" indent="-342900">
              <a:spcAft>
                <a:spcPts val="400"/>
              </a:spcAft>
              <a:buSzPct val="100000"/>
              <a:buChar char="•"/>
            </a:pPr>
            <a:r>
              <a:rPr lang="en-US" sz="1500" dirty="0">
                <a:solidFill>
                  <a:schemeClr val="tx1"/>
                </a:solidFill>
              </a:rPr>
              <a:t>Es parte de un recorrido crítico con dinero</a:t>
            </a:r>
            <a:endParaRPr lang="en-US" sz="1500" dirty="0"/>
          </a:p>
          <a:p>
            <a:pPr marL="342900" indent="-342900">
              <a:spcAft>
                <a:spcPts val="400"/>
              </a:spcAft>
              <a:buSzPct val="100000"/>
              <a:buChar char="•"/>
            </a:pPr>
            <a:r>
              <a:rPr lang="en-US" sz="1500" dirty="0">
                <a:solidFill>
                  <a:schemeClr val="tx1"/>
                </a:solidFill>
              </a:rPr>
              <a:t>La interfaz debe comunicar un error de la API</a:t>
            </a:r>
            <a:endParaRPr lang="en-US" sz="1500" dirty="0"/>
          </a:p>
        </p:txBody>
      </p:sp>
      <p:sp>
        <p:nvSpPr>
          <p:cNvPr id="7" name="Tarjeta Queda en API"/>
          <p:cNvSpPr/>
          <p:nvPr/>
        </p:nvSpPr>
        <p:spPr>
          <a:xfrm>
            <a:off x="548640" y="4343400"/>
            <a:ext cx="4480560" cy="1828800"/>
          </a:xfrm>
          <a:prstGeom prst="roundRect">
            <a:avLst>
              <a:gd name="adj" fmla="val 4000"/>
            </a:avLst>
          </a:prstGeom>
          <a:solidFill>
            <a:schemeClr val="bg2"/>
          </a:solidFill>
          <a:ln/>
        </p:spPr>
      </p:sp>
      <p:sp>
        <p:nvSpPr>
          <p:cNvPr id="8" name="Text 5"/>
          <p:cNvSpPr txBox="1"/>
          <p:nvPr/>
        </p:nvSpPr>
        <p:spPr>
          <a:xfrm>
            <a:off x="731520" y="4453128"/>
            <a:ext cx="4114800" cy="411480"/>
          </a:xfrm>
          <a:prstGeom prst="rect">
            <a:avLst/>
          </a:prstGeom>
          <a:noFill/>
          <a:ln/>
        </p:spPr>
        <p:txBody>
          <a:bodyPr wrap="square" lIns="0" tIns="0" rIns="0" bIns="0" rtlCol="0" anchor="ctr"/>
          <a:lstStyle/>
          <a:p>
            <a:pPr indent="0" marL="0">
              <a:buNone/>
            </a:pPr>
            <a:r>
              <a:rPr lang="en-US" sz="1700" b="1" dirty="0">
                <a:solidFill>
                  <a:schemeClr val="accent1"/>
                </a:solidFill>
              </a:rPr>
              <a:t>Queda en API</a:t>
            </a:r>
            <a:endParaRPr lang="en-US" sz="1700" dirty="0"/>
          </a:p>
        </p:txBody>
      </p:sp>
      <p:sp>
        <p:nvSpPr>
          <p:cNvPr id="9" name="Text 6"/>
          <p:cNvSpPr txBox="1"/>
          <p:nvPr/>
        </p:nvSpPr>
        <p:spPr>
          <a:xfrm>
            <a:off x="731520" y="4873752"/>
            <a:ext cx="4114800" cy="1207008"/>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Límites, formatos y permisos. La web solo confirma que el error se muestra.</a:t>
            </a:r>
            <a:endParaRPr lang="en-US" sz="1500" dirty="0"/>
          </a:p>
        </p:txBody>
      </p:sp>
      <p:graphicFrame>
        <p:nvGraphicFramePr>
          <p:cNvPr id="10" name="Casos por historia" descr=""/>
          <p:cNvGraphicFramePr/>
          <p:nvPr/>
        </p:nvGraphicFramePr>
        <p:xfrm>
          <a:off x="5303520" y="132588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Playwright resuelve la rúbrica de fábrica</a:t>
            </a:r>
            <a:endParaRPr lang="en-US" sz="3200" dirty="0"/>
          </a:p>
        </p:txBody>
      </p:sp>
      <p:graphicFrame>
        <p:nvGraphicFramePr>
          <p:cNvPr id="5" name="Comparación"/>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834640"/>
                <a:gridCol w="3291840"/>
                <a:gridCol w="2468880"/>
                <a:gridCol w="2468880"/>
              </a:tblGrid>
              <a:tr h="640080">
                <a:tc>
                  <a:txBody>
                    <a:bodyPr/>
                    <a:lstStyle/>
                    <a:p>
                      <a:pPr indent="0" marL="0">
                        <a:buNone/>
                      </a:pPr>
                      <a:r>
                        <a:rPr lang="en-US" sz="1500" b="1" dirty="0">
                          <a:solidFill>
                            <a:schemeClr val="bg1"/>
                          </a:solidFill>
                        </a:rPr>
                        <a:t>Lo que pide la entrega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Playwright + playwright-bdd</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Selenium</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Robot Framework Browser</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40080">
                <a:tc>
                  <a:txBody>
                    <a:bodyPr/>
                    <a:lstStyle/>
                    <a:p>
                      <a:pPr indent="0" marL="0">
                        <a:buNone/>
                      </a:pPr>
                      <a:r>
                        <a:rPr lang="en-US" sz="1500" dirty="0">
                          <a:solidFill>
                            <a:schemeClr val="tx1"/>
                          </a:solidFill>
                        </a:rPr>
                        <a:t>Sin esperas fijas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Espera automática en acciones y aserciones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Esperas explícitas escritas a mano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Espera automática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40080">
                <a:tc>
                  <a:txBody>
                    <a:bodyPr/>
                    <a:lstStyle/>
                    <a:p>
                      <a:pPr indent="0" marL="0">
                        <a:buNone/>
                      </a:pPr>
                      <a:r>
                        <a:rPr lang="en-US" sz="1500" dirty="0">
                          <a:solidFill>
                            <a:schemeClr val="tx1"/>
                          </a:solidFill>
                        </a:rPr>
                        <a:t>Pasar 3 veces seguidas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--repeat-each=3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 el ciclo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 el ciclo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40080">
                <a:tc>
                  <a:txBody>
                    <a:bodyPr/>
                    <a:lstStyle/>
                    <a:p>
                      <a:pPr indent="0" marL="0">
                        <a:buNone/>
                      </a:pPr>
                      <a:r>
                        <a:rPr lang="en-US" sz="1500" dirty="0">
                          <a:solidFill>
                            <a:schemeClr val="tx1"/>
                          </a:solidFill>
                        </a:rPr>
                        <a:t>Fallo esperado con defecto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Etiqueta @fail (test.fail)</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Según el framework de pruebas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--skiponfailure: queda como skip</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40080">
                <a:tc>
                  <a:txBody>
                    <a:bodyPr/>
                    <a:lstStyle/>
                    <a:p>
                      <a:pPr indent="0" marL="0">
                        <a:buNone/>
                      </a:pPr>
                      <a:r>
                        <a:rPr lang="en-US" sz="1500" dirty="0">
                          <a:solidFill>
                            <a:schemeClr val="tx1"/>
                          </a:solidFill>
                        </a:rPr>
                        <a:t>Detectar pruebas frágiles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failOnFlakyTests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armarlo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Hay que armarlo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40080">
                <a:tc>
                  <a:txBody>
                    <a:bodyPr/>
                    <a:lstStyle/>
                    <a:p>
                      <a:pPr indent="0" marL="0">
                        <a:buNone/>
                      </a:pPr>
                      <a:r>
                        <a:rPr lang="en-US" sz="1500" dirty="0">
                          <a:solidFill>
                            <a:schemeClr val="tx1"/>
                          </a:solidFill>
                        </a:rPr>
                        <a:t>Reporte para personas y CI</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HTML con pasos y trazas, JUnit</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Requiere librerías aparte</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HTML y xUnit</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40080">
                <a:tc>
                  <a:txBody>
                    <a:bodyPr/>
                    <a:lstStyle/>
                    <a:p>
                      <a:pPr indent="0" marL="0">
                        <a:buNone/>
                      </a:pPr>
                      <a:r>
                        <a:rPr lang="en-US" sz="1500" dirty="0">
                          <a:solidFill>
                            <a:schemeClr val="tx1"/>
                          </a:solidFill>
                        </a:rPr>
                        <a:t>Escenarios en Gherkin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b="1" dirty="0">
                          <a:solidFill>
                            <a:schemeClr val="accent1"/>
                          </a:solidFill>
                        </a:rPr>
                        <a:t>playwright-bdd, visto en la clase 11</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Con Behave o Cucumber</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Estilo propio Given/When/Then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Page Object: el escenario habla de negocio</a:t>
            </a:r>
            <a:endParaRPr lang="en-US" sz="3200" dirty="0"/>
          </a:p>
        </p:txBody>
      </p:sp>
      <p:sp>
        <p:nvSpPr>
          <p:cNvPr id="4" name="Text 1"/>
          <p:cNvSpPr txBox="1"/>
          <p:nvPr/>
        </p:nvSpPr>
        <p:spPr>
          <a:xfrm>
            <a:off x="548640" y="1325880"/>
            <a:ext cx="3566160" cy="365760"/>
          </a:xfrm>
          <a:prstGeom prst="rect">
            <a:avLst/>
          </a:prstGeom>
          <a:noFill/>
          <a:ln/>
        </p:spPr>
        <p:txBody>
          <a:bodyPr wrap="square" lIns="0" tIns="0" rIns="0" bIns="0" rtlCol="0" anchor="ctr"/>
          <a:lstStyle/>
          <a:p>
            <a:pPr indent="0" marL="0">
              <a:buNone/>
            </a:pPr>
            <a:r>
              <a:rPr lang="en-US" sz="1600" b="1" dirty="0">
                <a:solidFill>
                  <a:schemeClr val="accent1"/>
                </a:solidFill>
              </a:rPr>
              <a:t>1. Escenario (.feature)</a:t>
            </a:r>
            <a:endParaRPr lang="en-US" sz="1600" dirty="0"/>
          </a:p>
        </p:txBody>
      </p:sp>
      <p:sp>
        <p:nvSpPr>
          <p:cNvPr id="5" name="Código 1. Escenario (.feature)"/>
          <p:cNvSpPr/>
          <p:nvPr/>
        </p:nvSpPr>
        <p:spPr>
          <a:xfrm>
            <a:off x="548640" y="1737360"/>
            <a:ext cx="3566160" cy="3063240"/>
          </a:xfrm>
          <a:prstGeom prst="roundRect">
            <a:avLst>
              <a:gd name="adj" fmla="val 1791"/>
            </a:avLst>
          </a:prstGeom>
          <a:solidFill>
            <a:schemeClr val="tx2"/>
          </a:solidFill>
          <a:ln/>
        </p:spPr>
        <p:txBody>
          <a:bodyPr wrap="square" lIns="101600" tIns="101600" rIns="101600" bIns="10160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@HU-G4-08 @CA2 @CP-W17</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Escenario: Sin saldo se muestra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el error y sigue pendiente</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Dado que "Ana" le solicitó</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"100.00" a "Carla"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Y que "Carla" ingresó a Qolqe</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Cuando acepta la solicitud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Entonces ve el aviso</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"Saldo insuficiente"</a:t>
            </a:r>
            <a:endParaRPr lang="en-US" sz="1300" dirty="0"/>
          </a:p>
        </p:txBody>
      </p:sp>
      <p:sp>
        <p:nvSpPr>
          <p:cNvPr id="6" name="Text 3"/>
          <p:cNvSpPr txBox="1"/>
          <p:nvPr/>
        </p:nvSpPr>
        <p:spPr>
          <a:xfrm>
            <a:off x="4297680" y="1325880"/>
            <a:ext cx="3566160" cy="365760"/>
          </a:xfrm>
          <a:prstGeom prst="rect">
            <a:avLst/>
          </a:prstGeom>
          <a:noFill/>
          <a:ln/>
        </p:spPr>
        <p:txBody>
          <a:bodyPr wrap="square" lIns="0" tIns="0" rIns="0" bIns="0" rtlCol="0" anchor="ctr"/>
          <a:lstStyle/>
          <a:p>
            <a:pPr indent="0" marL="0">
              <a:buNone/>
            </a:pPr>
            <a:r>
              <a:rPr lang="en-US" sz="1600" b="1" dirty="0">
                <a:solidFill>
                  <a:schemeClr val="accent1"/>
                </a:solidFill>
              </a:rPr>
              <a:t>2. Paso (.steps.ts)</a:t>
            </a:r>
            <a:endParaRPr lang="en-US" sz="1600" dirty="0"/>
          </a:p>
        </p:txBody>
      </p:sp>
      <p:sp>
        <p:nvSpPr>
          <p:cNvPr id="7" name="Código 2. Paso (.steps.ts)"/>
          <p:cNvSpPr/>
          <p:nvPr/>
        </p:nvSpPr>
        <p:spPr>
          <a:xfrm>
            <a:off x="4297680" y="1737360"/>
            <a:ext cx="3566160" cy="3063240"/>
          </a:xfrm>
          <a:prstGeom prst="roundRect">
            <a:avLst>
              <a:gd name="adj" fmla="val 1791"/>
            </a:avLst>
          </a:prstGeom>
          <a:solidFill>
            <a:schemeClr val="tx2"/>
          </a:solidFill>
          <a:ln/>
        </p:spPr>
        <p:txBody>
          <a:bodyPr wrap="square" lIns="101600" tIns="101600" rIns="101600" bIns="10160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When('acepta la solicitud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{string}',</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async ({ solicitudes }, m) =&gt;</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solicitudes.aceptar(m));</a:t>
            </a:r>
            <a:endParaRPr lang="en-US" sz="1300" dirty="0"/>
          </a:p>
          <a:p>
            <a:pPr indent="0" marL="0">
              <a:buNone/>
            </a:pP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Sin selectores: solo conecta</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el Gherkin con la página.</a:t>
            </a:r>
            <a:endParaRPr lang="en-US" sz="1300" dirty="0"/>
          </a:p>
        </p:txBody>
      </p:sp>
      <p:sp>
        <p:nvSpPr>
          <p:cNvPr id="8" name="Text 5"/>
          <p:cNvSpPr txBox="1"/>
          <p:nvPr/>
        </p:nvSpPr>
        <p:spPr>
          <a:xfrm>
            <a:off x="8046720" y="1325880"/>
            <a:ext cx="3566160" cy="365760"/>
          </a:xfrm>
          <a:prstGeom prst="rect">
            <a:avLst/>
          </a:prstGeom>
          <a:noFill/>
          <a:ln/>
        </p:spPr>
        <p:txBody>
          <a:bodyPr wrap="square" lIns="0" tIns="0" rIns="0" bIns="0" rtlCol="0" anchor="ctr"/>
          <a:lstStyle/>
          <a:p>
            <a:pPr indent="0" marL="0">
              <a:buNone/>
            </a:pPr>
            <a:r>
              <a:rPr lang="en-US" sz="1600" b="1" dirty="0">
                <a:solidFill>
                  <a:schemeClr val="accent1"/>
                </a:solidFill>
              </a:rPr>
              <a:t>3. Page Object (.ts)</a:t>
            </a:r>
            <a:endParaRPr lang="en-US" sz="1600" dirty="0"/>
          </a:p>
        </p:txBody>
      </p:sp>
      <p:sp>
        <p:nvSpPr>
          <p:cNvPr id="9" name="Código 3. Page Object (.ts)"/>
          <p:cNvSpPr/>
          <p:nvPr/>
        </p:nvSpPr>
        <p:spPr>
          <a:xfrm>
            <a:off x="8046720" y="1737360"/>
            <a:ext cx="3566160" cy="3063240"/>
          </a:xfrm>
          <a:prstGeom prst="roundRect">
            <a:avLst>
              <a:gd name="adj" fmla="val 1791"/>
            </a:avLst>
          </a:prstGeom>
          <a:solidFill>
            <a:schemeClr val="tx2"/>
          </a:solidFill>
          <a:ln/>
        </p:spPr>
        <p:txBody>
          <a:bodyPr wrap="square" lIns="101600" tIns="101600" rIns="101600" bIns="101600" rtlCol="0" anchor="t"/>
          <a:lstStyle/>
          <a:p>
            <a:pPr indent="0" marL="0">
              <a:buNone/>
            </a:pPr>
            <a:r>
              <a:rPr lang="en-US" sz="1300" dirty="0">
                <a:solidFill>
                  <a:schemeClr val="bg1"/>
                </a:solidFill>
                <a:latin typeface="Courier New" pitchFamily="34" charset="0"/>
                <a:ea typeface="Courier New" pitchFamily="34" charset="-122"/>
                <a:cs typeface="Courier New" pitchFamily="34" charset="-120"/>
              </a:rPr>
              <a:t>async aceptar(motivo) {</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await this.fila(motivo)</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.getByTestId(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'boton-aceptar-solicitud')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.click();</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await this.page.getByTestId(</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'boton-confirmar-accion')</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    .click();</a:t>
            </a:r>
            <a:endParaRPr lang="en-US" sz="1300" dirty="0"/>
          </a:p>
          <a:p>
            <a:pPr indent="0" marL="0">
              <a:buNone/>
            </a:pPr>
            <a:r>
              <a:rPr lang="en-US" sz="1300" dirty="0">
                <a:solidFill>
                  <a:schemeClr val="bg1"/>
                </a:solidFill>
                <a:latin typeface="Courier New" pitchFamily="34" charset="0"/>
                <a:ea typeface="Courier New" pitchFamily="34" charset="-122"/>
                <a:cs typeface="Courier New" pitchFamily="34" charset="-120"/>
              </a:rPr>
              <a:t>}</a:t>
            </a:r>
            <a:endParaRPr lang="en-US" sz="1300" dirty="0"/>
          </a:p>
        </p:txBody>
      </p:sp>
      <p:sp>
        <p:nvSpPr>
          <p:cNvPr id="10" name="Tarjeta esperas fijas en la suite"/>
          <p:cNvSpPr/>
          <p:nvPr/>
        </p:nvSpPr>
        <p:spPr>
          <a:xfrm>
            <a:off x="548640" y="4956048"/>
            <a:ext cx="3566160" cy="1371600"/>
          </a:xfrm>
          <a:prstGeom prst="roundRect">
            <a:avLst>
              <a:gd name="adj" fmla="val 5333"/>
            </a:avLst>
          </a:prstGeom>
          <a:solidFill>
            <a:schemeClr val="bg2"/>
          </a:solidFill>
          <a:ln/>
        </p:spPr>
      </p:sp>
      <p:sp>
        <p:nvSpPr>
          <p:cNvPr id="11" name="Text 8"/>
          <p:cNvSpPr txBox="1"/>
          <p:nvPr/>
        </p:nvSpPr>
        <p:spPr>
          <a:xfrm>
            <a:off x="685800" y="5047488"/>
            <a:ext cx="3291840" cy="73152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0</a:t>
            </a:r>
            <a:endParaRPr lang="en-US" sz="4000" dirty="0"/>
          </a:p>
        </p:txBody>
      </p:sp>
      <p:sp>
        <p:nvSpPr>
          <p:cNvPr id="12" name="Text 9"/>
          <p:cNvSpPr txBox="1"/>
          <p:nvPr/>
        </p:nvSpPr>
        <p:spPr>
          <a:xfrm>
            <a:off x="685800" y="5779008"/>
            <a:ext cx="3291840" cy="457200"/>
          </a:xfrm>
          <a:prstGeom prst="rect">
            <a:avLst/>
          </a:prstGeom>
          <a:noFill/>
          <a:ln/>
        </p:spPr>
        <p:txBody>
          <a:bodyPr wrap="square" lIns="0" tIns="0" rIns="0" bIns="0" rtlCol="0" anchor="t"/>
          <a:lstStyle/>
          <a:p>
            <a:pPr indent="0" marL="0">
              <a:buNone/>
            </a:pPr>
            <a:r>
              <a:rPr lang="en-US" sz="1300" dirty="0">
                <a:solidFill>
                  <a:schemeClr val="tx1"/>
                </a:solidFill>
              </a:rPr>
              <a:t>esperas fijas en la suite</a:t>
            </a:r>
            <a:endParaRPr lang="en-US" sz="1300" dirty="0"/>
          </a:p>
        </p:txBody>
      </p:sp>
      <p:sp>
        <p:nvSpPr>
          <p:cNvPr id="13" name="Tarjeta Page Objects con sus localizadores"/>
          <p:cNvSpPr/>
          <p:nvPr/>
        </p:nvSpPr>
        <p:spPr>
          <a:xfrm>
            <a:off x="4297680" y="4956048"/>
            <a:ext cx="3566160" cy="1371600"/>
          </a:xfrm>
          <a:prstGeom prst="roundRect">
            <a:avLst>
              <a:gd name="adj" fmla="val 5333"/>
            </a:avLst>
          </a:prstGeom>
          <a:solidFill>
            <a:schemeClr val="bg2"/>
          </a:solidFill>
          <a:ln/>
        </p:spPr>
      </p:sp>
      <p:sp>
        <p:nvSpPr>
          <p:cNvPr id="14" name="Text 11"/>
          <p:cNvSpPr txBox="1"/>
          <p:nvPr/>
        </p:nvSpPr>
        <p:spPr>
          <a:xfrm>
            <a:off x="4434840" y="5047488"/>
            <a:ext cx="329184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15" name="Text 12"/>
          <p:cNvSpPr txBox="1"/>
          <p:nvPr/>
        </p:nvSpPr>
        <p:spPr>
          <a:xfrm>
            <a:off x="4434840" y="5779008"/>
            <a:ext cx="3291840" cy="457200"/>
          </a:xfrm>
          <a:prstGeom prst="rect">
            <a:avLst/>
          </a:prstGeom>
          <a:noFill/>
          <a:ln/>
        </p:spPr>
        <p:txBody>
          <a:bodyPr wrap="square" lIns="0" tIns="0" rIns="0" bIns="0" rtlCol="0" anchor="t"/>
          <a:lstStyle/>
          <a:p>
            <a:pPr indent="0" marL="0">
              <a:buNone/>
            </a:pPr>
            <a:r>
              <a:rPr lang="en-US" sz="1300" dirty="0">
                <a:solidFill>
                  <a:schemeClr val="tx1"/>
                </a:solidFill>
              </a:rPr>
              <a:t>Page Objects con sus localizadores</a:t>
            </a:r>
            <a:endParaRPr lang="en-US" sz="1300" dirty="0"/>
          </a:p>
        </p:txBody>
      </p:sp>
      <p:sp>
        <p:nvSpPr>
          <p:cNvPr id="16" name="Tarjeta reinicio de datos por escenario"/>
          <p:cNvSpPr/>
          <p:nvPr/>
        </p:nvSpPr>
        <p:spPr>
          <a:xfrm>
            <a:off x="8046720" y="4956048"/>
            <a:ext cx="3566160" cy="1371600"/>
          </a:xfrm>
          <a:prstGeom prst="roundRect">
            <a:avLst>
              <a:gd name="adj" fmla="val 5333"/>
            </a:avLst>
          </a:prstGeom>
          <a:solidFill>
            <a:schemeClr val="bg2"/>
          </a:solidFill>
          <a:ln/>
        </p:spPr>
      </p:sp>
      <p:sp>
        <p:nvSpPr>
          <p:cNvPr id="17" name="Text 14"/>
          <p:cNvSpPr txBox="1"/>
          <p:nvPr/>
        </p:nvSpPr>
        <p:spPr>
          <a:xfrm>
            <a:off x="8183880" y="5047488"/>
            <a:ext cx="3291840" cy="73152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18" name="Text 15"/>
          <p:cNvSpPr txBox="1"/>
          <p:nvPr/>
        </p:nvSpPr>
        <p:spPr>
          <a:xfrm>
            <a:off x="8183880" y="5779008"/>
            <a:ext cx="3291840" cy="457200"/>
          </a:xfrm>
          <a:prstGeom prst="rect">
            <a:avLst/>
          </a:prstGeom>
          <a:noFill/>
          <a:ln/>
        </p:spPr>
        <p:txBody>
          <a:bodyPr wrap="square" lIns="0" tIns="0" rIns="0" bIns="0" rtlCol="0" anchor="t"/>
          <a:lstStyle/>
          <a:p>
            <a:pPr indent="0" marL="0">
              <a:buNone/>
            </a:pPr>
            <a:r>
              <a:rPr lang="en-US" sz="1300" dirty="0">
                <a:solidFill>
                  <a:schemeClr val="tx1"/>
                </a:solidFill>
              </a:rPr>
              <a:t>reinicio de datos por escenario</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Pipeline por etapas: lo rápido primero</a:t>
            </a:r>
            <a:endParaRPr lang="en-US" sz="3200" dirty="0"/>
          </a:p>
        </p:txBody>
      </p:sp>
      <p:sp>
        <p:nvSpPr>
          <p:cNvPr id="4" name="Etapa push o PR"/>
          <p:cNvSpPr/>
          <p:nvPr/>
        </p:nvSpPr>
        <p:spPr>
          <a:xfrm>
            <a:off x="548640" y="1463040"/>
            <a:ext cx="1920240" cy="1554480"/>
          </a:xfrm>
          <a:prstGeom prst="roundRect">
            <a:avLst>
              <a:gd name="adj" fmla="val 5882"/>
            </a:avLst>
          </a:prstGeom>
          <a:solidFill>
            <a:schemeClr val="tx2"/>
          </a:solidFill>
          <a:ln/>
        </p:spPr>
      </p:sp>
      <p:sp>
        <p:nvSpPr>
          <p:cNvPr id="5" name="Text 2"/>
          <p:cNvSpPr txBox="1"/>
          <p:nvPr/>
        </p:nvSpPr>
        <p:spPr>
          <a:xfrm>
            <a:off x="548640" y="1463040"/>
            <a:ext cx="1920240" cy="1554480"/>
          </a:xfrm>
          <a:prstGeom prst="rect">
            <a:avLst/>
          </a:prstGeom>
          <a:noFill/>
          <a:ln/>
        </p:spPr>
        <p:txBody>
          <a:bodyPr wrap="square" lIns="50800" tIns="50800" rIns="50800" bIns="50800" rtlCol="0" anchor="ctr"/>
          <a:lstStyle/>
          <a:p>
            <a:pPr algn="ctr" indent="0" marL="0">
              <a:buNone/>
            </a:pPr>
            <a:r>
              <a:rPr lang="en-US" sz="1700" b="1" dirty="0">
                <a:solidFill>
                  <a:schemeClr val="bg1"/>
                </a:solidFill>
              </a:rPr>
              <a:t>push o PR</a:t>
            </a:r>
            <a:endParaRPr lang="en-US" sz="1700" dirty="0"/>
          </a:p>
          <a:p>
            <a:pPr algn="ctr" indent="0" marL="0">
              <a:buNone/>
            </a:pPr>
            <a:r>
              <a:rPr lang="en-US" sz="1300" dirty="0">
                <a:solidFill>
                  <a:schemeClr val="bg1"/>
                </a:solidFill>
              </a:rPr>
              <a:t>Evento</a:t>
            </a:r>
            <a:endParaRPr lang="en-US" sz="1700" dirty="0"/>
          </a:p>
        </p:txBody>
      </p:sp>
      <p:sp>
        <p:nvSpPr>
          <p:cNvPr id="6" name="Flecha"/>
          <p:cNvSpPr/>
          <p:nvPr/>
        </p:nvSpPr>
        <p:spPr>
          <a:xfrm>
            <a:off x="2505456" y="2103120"/>
            <a:ext cx="274320" cy="274320"/>
          </a:xfrm>
          <a:prstGeom prst="rightArrow">
            <a:avLst/>
          </a:prstGeom>
          <a:solidFill>
            <a:schemeClr val="accent5"/>
          </a:solidFill>
          <a:ln/>
        </p:spPr>
      </p:sp>
      <p:sp>
        <p:nvSpPr>
          <p:cNvPr id="7" name="Etapa job api"/>
          <p:cNvSpPr/>
          <p:nvPr/>
        </p:nvSpPr>
        <p:spPr>
          <a:xfrm>
            <a:off x="2816352" y="1463040"/>
            <a:ext cx="1920240" cy="1554480"/>
          </a:xfrm>
          <a:prstGeom prst="roundRect">
            <a:avLst>
              <a:gd name="adj" fmla="val 5882"/>
            </a:avLst>
          </a:prstGeom>
          <a:solidFill>
            <a:schemeClr val="accent1"/>
          </a:solidFill>
          <a:ln/>
        </p:spPr>
      </p:sp>
      <p:sp>
        <p:nvSpPr>
          <p:cNvPr id="8" name="Text 5"/>
          <p:cNvSpPr txBox="1"/>
          <p:nvPr/>
        </p:nvSpPr>
        <p:spPr>
          <a:xfrm>
            <a:off x="2816352" y="1463040"/>
            <a:ext cx="1920240" cy="1554480"/>
          </a:xfrm>
          <a:prstGeom prst="rect">
            <a:avLst/>
          </a:prstGeom>
          <a:noFill/>
          <a:ln/>
        </p:spPr>
        <p:txBody>
          <a:bodyPr wrap="square" lIns="50800" tIns="50800" rIns="50800" bIns="50800" rtlCol="0" anchor="ctr"/>
          <a:lstStyle/>
          <a:p>
            <a:pPr algn="ctr" indent="0" marL="0">
              <a:buNone/>
            </a:pPr>
            <a:r>
              <a:rPr lang="en-US" sz="1700" b="1" dirty="0">
                <a:solidFill>
                  <a:schemeClr val="bg1"/>
                </a:solidFill>
              </a:rPr>
              <a:t>job api</a:t>
            </a:r>
            <a:endParaRPr lang="en-US" sz="1700" dirty="0"/>
          </a:p>
          <a:p>
            <a:pPr algn="ctr" indent="0" marL="0">
              <a:buNone/>
            </a:pPr>
            <a:r>
              <a:rPr lang="en-US" sz="1300" dirty="0">
                <a:solidFill>
                  <a:schemeClr val="bg1"/>
                </a:solidFill>
              </a:rPr>
              <a:t>pytest-bdd</a:t>
            </a:r>
            <a:endParaRPr lang="en-US" sz="1700" dirty="0"/>
          </a:p>
          <a:p>
            <a:pPr algn="ctr" indent="0" marL="0">
              <a:buNone/>
            </a:pPr>
            <a:r>
              <a:rPr lang="en-US" sz="1300" dirty="0">
                <a:solidFill>
                  <a:schemeClr val="bg1"/>
                </a:solidFill>
              </a:rPr>
              <a:t>Schemathesis</a:t>
            </a:r>
            <a:endParaRPr lang="en-US" sz="1700" dirty="0"/>
          </a:p>
        </p:txBody>
      </p:sp>
      <p:sp>
        <p:nvSpPr>
          <p:cNvPr id="9" name="Flecha"/>
          <p:cNvSpPr/>
          <p:nvPr/>
        </p:nvSpPr>
        <p:spPr>
          <a:xfrm>
            <a:off x="4773168" y="2103120"/>
            <a:ext cx="274320" cy="274320"/>
          </a:xfrm>
          <a:prstGeom prst="rightArrow">
            <a:avLst/>
          </a:prstGeom>
          <a:solidFill>
            <a:schemeClr val="accent5"/>
          </a:solidFill>
          <a:ln/>
        </p:spPr>
      </p:sp>
      <p:sp>
        <p:nvSpPr>
          <p:cNvPr id="10" name="Etapa job web"/>
          <p:cNvSpPr/>
          <p:nvPr/>
        </p:nvSpPr>
        <p:spPr>
          <a:xfrm>
            <a:off x="5084064" y="1463040"/>
            <a:ext cx="1920240" cy="1554480"/>
          </a:xfrm>
          <a:prstGeom prst="roundRect">
            <a:avLst>
              <a:gd name="adj" fmla="val 5882"/>
            </a:avLst>
          </a:prstGeom>
          <a:solidFill>
            <a:schemeClr val="accent1"/>
          </a:solidFill>
          <a:ln/>
        </p:spPr>
      </p:sp>
      <p:sp>
        <p:nvSpPr>
          <p:cNvPr id="11" name="Text 8"/>
          <p:cNvSpPr txBox="1"/>
          <p:nvPr/>
        </p:nvSpPr>
        <p:spPr>
          <a:xfrm>
            <a:off x="5084064" y="1463040"/>
            <a:ext cx="1920240" cy="1554480"/>
          </a:xfrm>
          <a:prstGeom prst="rect">
            <a:avLst/>
          </a:prstGeom>
          <a:noFill/>
          <a:ln/>
        </p:spPr>
        <p:txBody>
          <a:bodyPr wrap="square" lIns="50800" tIns="50800" rIns="50800" bIns="50800" rtlCol="0" anchor="ctr"/>
          <a:lstStyle/>
          <a:p>
            <a:pPr algn="ctr" indent="0" marL="0">
              <a:buNone/>
            </a:pPr>
            <a:r>
              <a:rPr lang="en-US" sz="1700" b="1" dirty="0">
                <a:solidFill>
                  <a:schemeClr val="bg1"/>
                </a:solidFill>
              </a:rPr>
              <a:t>job web</a:t>
            </a:r>
            <a:endParaRPr lang="en-US" sz="1700" dirty="0"/>
          </a:p>
          <a:p>
            <a:pPr algn="ctr" indent="0" marL="0">
              <a:buNone/>
            </a:pPr>
            <a:r>
              <a:rPr lang="en-US" sz="1300" dirty="0">
                <a:solidFill>
                  <a:schemeClr val="bg1"/>
                </a:solidFill>
              </a:rPr>
              <a:t>Playwright</a:t>
            </a:r>
            <a:endParaRPr lang="en-US" sz="1700" dirty="0"/>
          </a:p>
          <a:p>
            <a:pPr algn="ctr" indent="0" marL="0">
              <a:buNone/>
            </a:pPr>
            <a:r>
              <a:rPr lang="en-US" sz="1300" dirty="0">
                <a:solidFill>
                  <a:schemeClr val="bg1"/>
                </a:solidFill>
              </a:rPr>
              <a:t>3 veces</a:t>
            </a:r>
            <a:endParaRPr lang="en-US" sz="1700" dirty="0"/>
          </a:p>
        </p:txBody>
      </p:sp>
      <p:sp>
        <p:nvSpPr>
          <p:cNvPr id="12" name="Flecha"/>
          <p:cNvSpPr/>
          <p:nvPr/>
        </p:nvSpPr>
        <p:spPr>
          <a:xfrm>
            <a:off x="7040880" y="2103120"/>
            <a:ext cx="274320" cy="274320"/>
          </a:xfrm>
          <a:prstGeom prst="rightArrow">
            <a:avLst/>
          </a:prstGeom>
          <a:solidFill>
            <a:schemeClr val="accent5"/>
          </a:solidFill>
          <a:ln/>
        </p:spPr>
      </p:sp>
      <p:sp>
        <p:nvSpPr>
          <p:cNvPr id="13" name="Etapa job reportes"/>
          <p:cNvSpPr/>
          <p:nvPr/>
        </p:nvSpPr>
        <p:spPr>
          <a:xfrm>
            <a:off x="7351776" y="1463040"/>
            <a:ext cx="1920240" cy="1554480"/>
          </a:xfrm>
          <a:prstGeom prst="roundRect">
            <a:avLst>
              <a:gd name="adj" fmla="val 5882"/>
            </a:avLst>
          </a:prstGeom>
          <a:solidFill>
            <a:schemeClr val="accent1"/>
          </a:solidFill>
          <a:ln/>
        </p:spPr>
      </p:sp>
      <p:sp>
        <p:nvSpPr>
          <p:cNvPr id="14" name="Text 11"/>
          <p:cNvSpPr txBox="1"/>
          <p:nvPr/>
        </p:nvSpPr>
        <p:spPr>
          <a:xfrm>
            <a:off x="7351776" y="1463040"/>
            <a:ext cx="1920240" cy="1554480"/>
          </a:xfrm>
          <a:prstGeom prst="rect">
            <a:avLst/>
          </a:prstGeom>
          <a:noFill/>
          <a:ln/>
        </p:spPr>
        <p:txBody>
          <a:bodyPr wrap="square" lIns="50800" tIns="50800" rIns="50800" bIns="50800" rtlCol="0" anchor="ctr"/>
          <a:lstStyle/>
          <a:p>
            <a:pPr algn="ctr" indent="0" marL="0">
              <a:buNone/>
            </a:pPr>
            <a:r>
              <a:rPr lang="en-US" sz="1700" b="1" dirty="0">
                <a:solidFill>
                  <a:schemeClr val="bg1"/>
                </a:solidFill>
              </a:rPr>
              <a:t>job reportes</a:t>
            </a:r>
            <a:endParaRPr lang="en-US" sz="1700" dirty="0"/>
          </a:p>
          <a:p>
            <a:pPr algn="ctr" indent="0" marL="0">
              <a:buNone/>
            </a:pPr>
            <a:r>
              <a:rPr lang="en-US" sz="1300" dirty="0">
                <a:solidFill>
                  <a:schemeClr val="bg1"/>
                </a:solidFill>
              </a:rPr>
              <a:t>Solo en main</a:t>
            </a:r>
            <a:endParaRPr lang="en-US" sz="1700" dirty="0"/>
          </a:p>
          <a:p>
            <a:pPr algn="ctr" indent="0" marL="0">
              <a:buNone/>
            </a:pPr>
            <a:r>
              <a:rPr lang="en-US" sz="1300" dirty="0">
                <a:solidFill>
                  <a:schemeClr val="bg1"/>
                </a:solidFill>
              </a:rPr>
              <a:t>Matriz y portada</a:t>
            </a:r>
            <a:endParaRPr lang="en-US" sz="1700" dirty="0"/>
          </a:p>
        </p:txBody>
      </p:sp>
      <p:sp>
        <p:nvSpPr>
          <p:cNvPr id="15" name="Flecha"/>
          <p:cNvSpPr/>
          <p:nvPr/>
        </p:nvSpPr>
        <p:spPr>
          <a:xfrm>
            <a:off x="9308592" y="2103120"/>
            <a:ext cx="274320" cy="274320"/>
          </a:xfrm>
          <a:prstGeom prst="rightArrow">
            <a:avLst/>
          </a:prstGeom>
          <a:solidFill>
            <a:schemeClr val="accent5"/>
          </a:solidFill>
          <a:ln/>
        </p:spPr>
      </p:sp>
      <p:sp>
        <p:nvSpPr>
          <p:cNvPr id="16" name="Etapa GitHub Pages"/>
          <p:cNvSpPr/>
          <p:nvPr/>
        </p:nvSpPr>
        <p:spPr>
          <a:xfrm>
            <a:off x="9619488" y="1463040"/>
            <a:ext cx="1920240" cy="1554480"/>
          </a:xfrm>
          <a:prstGeom prst="roundRect">
            <a:avLst>
              <a:gd name="adj" fmla="val 5882"/>
            </a:avLst>
          </a:prstGeom>
          <a:solidFill>
            <a:schemeClr val="tx2"/>
          </a:solidFill>
          <a:ln/>
        </p:spPr>
      </p:sp>
      <p:sp>
        <p:nvSpPr>
          <p:cNvPr id="17" name="Text 14"/>
          <p:cNvSpPr txBox="1"/>
          <p:nvPr/>
        </p:nvSpPr>
        <p:spPr>
          <a:xfrm>
            <a:off x="9619488" y="1463040"/>
            <a:ext cx="1920240" cy="1554480"/>
          </a:xfrm>
          <a:prstGeom prst="rect">
            <a:avLst/>
          </a:prstGeom>
          <a:noFill/>
          <a:ln/>
        </p:spPr>
        <p:txBody>
          <a:bodyPr wrap="square" lIns="50800" tIns="50800" rIns="50800" bIns="50800" rtlCol="0" anchor="ctr"/>
          <a:lstStyle/>
          <a:p>
            <a:pPr algn="ctr" indent="0" marL="0">
              <a:buNone/>
            </a:pPr>
            <a:r>
              <a:rPr lang="en-US" sz="1700" b="1" dirty="0">
                <a:solidFill>
                  <a:schemeClr val="bg1"/>
                </a:solidFill>
              </a:rPr>
              <a:t>GitHub Pages</a:t>
            </a:r>
            <a:endParaRPr lang="en-US" sz="1700" dirty="0"/>
          </a:p>
          <a:p>
            <a:pPr algn="ctr" indent="0" marL="0">
              <a:buNone/>
            </a:pPr>
            <a:r>
              <a:rPr lang="en-US" sz="1300" dirty="0">
                <a:solidFill>
                  <a:schemeClr val="bg1"/>
                </a:solidFill>
              </a:rPr>
              <a:t>Reportes</a:t>
            </a:r>
            <a:endParaRPr lang="en-US" sz="1700" dirty="0"/>
          </a:p>
          <a:p>
            <a:pPr algn="ctr" indent="0" marL="0">
              <a:buNone/>
            </a:pPr>
            <a:r>
              <a:rPr lang="en-US" sz="1300" dirty="0">
                <a:solidFill>
                  <a:schemeClr val="bg1"/>
                </a:solidFill>
              </a:rPr>
              <a:t>publicados</a:t>
            </a:r>
            <a:endParaRPr lang="en-US" sz="1700" dirty="0"/>
          </a:p>
        </p:txBody>
      </p:sp>
      <p:sp>
        <p:nvSpPr>
          <p:cNvPr id="18" name="Tarjeta Workflow, jobs, steps"/>
          <p:cNvSpPr/>
          <p:nvPr/>
        </p:nvSpPr>
        <p:spPr>
          <a:xfrm>
            <a:off x="548640" y="3337560"/>
            <a:ext cx="3520440" cy="2834640"/>
          </a:xfrm>
          <a:prstGeom prst="roundRect">
            <a:avLst>
              <a:gd name="adj" fmla="val 2581"/>
            </a:avLst>
          </a:prstGeom>
          <a:solidFill>
            <a:schemeClr val="bg2"/>
          </a:solidFill>
          <a:ln/>
        </p:spPr>
      </p:sp>
      <p:sp>
        <p:nvSpPr>
          <p:cNvPr id="19" name="Text 16"/>
          <p:cNvSpPr txBox="1"/>
          <p:nvPr/>
        </p:nvSpPr>
        <p:spPr>
          <a:xfrm>
            <a:off x="731520" y="3447288"/>
            <a:ext cx="3154680" cy="411480"/>
          </a:xfrm>
          <a:prstGeom prst="rect">
            <a:avLst/>
          </a:prstGeom>
          <a:noFill/>
          <a:ln/>
        </p:spPr>
        <p:txBody>
          <a:bodyPr wrap="square" lIns="0" tIns="0" rIns="0" bIns="0" rtlCol="0" anchor="ctr"/>
          <a:lstStyle/>
          <a:p>
            <a:pPr indent="0" marL="0">
              <a:buNone/>
            </a:pPr>
            <a:r>
              <a:rPr lang="en-US" sz="1700" b="1" dirty="0">
                <a:solidFill>
                  <a:schemeClr val="accent1"/>
                </a:solidFill>
              </a:rPr>
              <a:t>Workflow, jobs, steps</a:t>
            </a:r>
            <a:endParaRPr lang="en-US" sz="1700" dirty="0"/>
          </a:p>
        </p:txBody>
      </p:sp>
      <p:sp>
        <p:nvSpPr>
          <p:cNvPr id="20" name="Text 17"/>
          <p:cNvSpPr txBox="1"/>
          <p:nvPr/>
        </p:nvSpPr>
        <p:spPr>
          <a:xfrm>
            <a:off x="731520" y="3867912"/>
            <a:ext cx="3154680" cy="2212848"/>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Workflow: .github/workflows/pruebas.yml</a:t>
            </a:r>
            <a:endParaRPr lang="en-US" sz="1500" dirty="0"/>
          </a:p>
          <a:p>
            <a:pPr marL="342900" indent="-342900">
              <a:spcAft>
                <a:spcPts val="400"/>
              </a:spcAft>
              <a:buSzPct val="100000"/>
              <a:buChar char="•"/>
            </a:pPr>
            <a:r>
              <a:rPr lang="en-US" sz="1500" dirty="0">
                <a:solidFill>
                  <a:schemeClr val="tx1"/>
                </a:solidFill>
              </a:rPr>
              <a:t>Evento: push, pull_request</a:t>
            </a:r>
            <a:endParaRPr lang="en-US" sz="1500" dirty="0"/>
          </a:p>
          <a:p>
            <a:pPr marL="342900" indent="-342900">
              <a:spcAft>
                <a:spcPts val="400"/>
              </a:spcAft>
              <a:buSzPct val="100000"/>
              <a:buChar char="•"/>
            </a:pPr>
            <a:r>
              <a:rPr lang="en-US" sz="1500" dirty="0">
                <a:solidFill>
                  <a:schemeClr val="tx1"/>
                </a:solidFill>
              </a:rPr>
              <a:t>Runner: ubuntu-24.04</a:t>
            </a:r>
            <a:endParaRPr lang="en-US" sz="1500" dirty="0"/>
          </a:p>
          <a:p>
            <a:pPr marL="342900" indent="-342900">
              <a:spcAft>
                <a:spcPts val="400"/>
              </a:spcAft>
              <a:buSzPct val="100000"/>
              <a:buChar char="•"/>
            </a:pPr>
            <a:r>
              <a:rPr lang="en-US" sz="1500" dirty="0">
                <a:solidFill>
                  <a:schemeClr val="tx1"/>
                </a:solidFill>
              </a:rPr>
              <a:t>needs: web espera a api</a:t>
            </a:r>
            <a:endParaRPr lang="en-US" sz="1500" dirty="0"/>
          </a:p>
        </p:txBody>
      </p:sp>
      <p:sp>
        <p:nvSpPr>
          <p:cNvPr id="21" name="Tarjeta Máquina limpia"/>
          <p:cNvSpPr/>
          <p:nvPr/>
        </p:nvSpPr>
        <p:spPr>
          <a:xfrm>
            <a:off x="4315968" y="3337560"/>
            <a:ext cx="3520440" cy="2834640"/>
          </a:xfrm>
          <a:prstGeom prst="roundRect">
            <a:avLst>
              <a:gd name="adj" fmla="val 2581"/>
            </a:avLst>
          </a:prstGeom>
          <a:solidFill>
            <a:schemeClr val="bg2"/>
          </a:solidFill>
          <a:ln/>
        </p:spPr>
      </p:sp>
      <p:sp>
        <p:nvSpPr>
          <p:cNvPr id="22" name="Text 19"/>
          <p:cNvSpPr txBox="1"/>
          <p:nvPr/>
        </p:nvSpPr>
        <p:spPr>
          <a:xfrm>
            <a:off x="4498848" y="3447288"/>
            <a:ext cx="3154680" cy="411480"/>
          </a:xfrm>
          <a:prstGeom prst="rect">
            <a:avLst/>
          </a:prstGeom>
          <a:noFill/>
          <a:ln/>
        </p:spPr>
        <p:txBody>
          <a:bodyPr wrap="square" lIns="0" tIns="0" rIns="0" bIns="0" rtlCol="0" anchor="ctr"/>
          <a:lstStyle/>
          <a:p>
            <a:pPr indent="0" marL="0">
              <a:buNone/>
            </a:pPr>
            <a:r>
              <a:rPr lang="en-US" sz="1700" b="1" dirty="0">
                <a:solidFill>
                  <a:schemeClr val="accent1"/>
                </a:solidFill>
              </a:rPr>
              <a:t>Máquina limpia</a:t>
            </a:r>
            <a:endParaRPr lang="en-US" sz="1700" dirty="0"/>
          </a:p>
        </p:txBody>
      </p:sp>
      <p:sp>
        <p:nvSpPr>
          <p:cNvPr id="23" name="Text 20"/>
          <p:cNvSpPr txBox="1"/>
          <p:nvPr/>
        </p:nvSpPr>
        <p:spPr>
          <a:xfrm>
            <a:off x="4498848" y="3867912"/>
            <a:ext cx="3154680" cy="2212848"/>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pip y npm ci con versiones fijas</a:t>
            </a:r>
            <a:endParaRPr lang="en-US" sz="1500" dirty="0"/>
          </a:p>
          <a:p>
            <a:pPr marL="342900" indent="-342900">
              <a:spcAft>
                <a:spcPts val="400"/>
              </a:spcAft>
              <a:buSzPct val="100000"/>
              <a:buChar char="•"/>
            </a:pPr>
            <a:r>
              <a:rPr lang="en-US" sz="1500" dirty="0">
                <a:solidFill>
                  <a:schemeClr val="tx1"/>
                </a:solidFill>
              </a:rPr>
              <a:t>Qolqe en modo de pruebas</a:t>
            </a:r>
            <a:endParaRPr lang="en-US" sz="1500" dirty="0"/>
          </a:p>
          <a:p>
            <a:pPr marL="342900" indent="-342900">
              <a:spcAft>
                <a:spcPts val="400"/>
              </a:spcAft>
              <a:buSzPct val="100000"/>
              <a:buChar char="•"/>
            </a:pPr>
            <a:r>
              <a:rPr lang="en-US" sz="1500" dirty="0">
                <a:solidFill>
                  <a:schemeClr val="tx1"/>
                </a:solidFill>
              </a:rPr>
              <a:t>Base de datos aislada</a:t>
            </a:r>
            <a:endParaRPr lang="en-US" sz="1500" dirty="0"/>
          </a:p>
          <a:p>
            <a:pPr marL="342900" indent="-342900">
              <a:spcAft>
                <a:spcPts val="400"/>
              </a:spcAft>
              <a:buSzPct val="100000"/>
              <a:buChar char="•"/>
            </a:pPr>
            <a:r>
              <a:rPr lang="en-US" sz="1500" dirty="0">
                <a:solidFill>
                  <a:schemeClr val="tx1"/>
                </a:solidFill>
              </a:rPr>
              <a:t>Datos reiniciados en cada escenario</a:t>
            </a:r>
            <a:endParaRPr lang="en-US" sz="1500" dirty="0"/>
          </a:p>
        </p:txBody>
      </p:sp>
      <p:sp>
        <p:nvSpPr>
          <p:cNvPr id="24" name="Tarjeta Si algo falla"/>
          <p:cNvSpPr/>
          <p:nvPr/>
        </p:nvSpPr>
        <p:spPr>
          <a:xfrm>
            <a:off x="8092440" y="3337560"/>
            <a:ext cx="3520440" cy="2834640"/>
          </a:xfrm>
          <a:prstGeom prst="roundRect">
            <a:avLst>
              <a:gd name="adj" fmla="val 2581"/>
            </a:avLst>
          </a:prstGeom>
          <a:solidFill>
            <a:schemeClr val="bg2"/>
          </a:solidFill>
          <a:ln/>
        </p:spPr>
      </p:sp>
      <p:sp>
        <p:nvSpPr>
          <p:cNvPr id="25" name="Text 22"/>
          <p:cNvSpPr txBox="1"/>
          <p:nvPr/>
        </p:nvSpPr>
        <p:spPr>
          <a:xfrm>
            <a:off x="8275320" y="3447288"/>
            <a:ext cx="3154680" cy="411480"/>
          </a:xfrm>
          <a:prstGeom prst="rect">
            <a:avLst/>
          </a:prstGeom>
          <a:noFill/>
          <a:ln/>
        </p:spPr>
        <p:txBody>
          <a:bodyPr wrap="square" lIns="0" tIns="0" rIns="0" bIns="0" rtlCol="0" anchor="ctr"/>
          <a:lstStyle/>
          <a:p>
            <a:pPr indent="0" marL="0">
              <a:buNone/>
            </a:pPr>
            <a:r>
              <a:rPr lang="en-US" sz="1700" b="1" dirty="0">
                <a:solidFill>
                  <a:schemeClr val="accent1"/>
                </a:solidFill>
              </a:rPr>
              <a:t>Si algo falla</a:t>
            </a:r>
            <a:endParaRPr lang="en-US" sz="1700" dirty="0"/>
          </a:p>
        </p:txBody>
      </p:sp>
      <p:sp>
        <p:nvSpPr>
          <p:cNvPr id="26" name="Text 23"/>
          <p:cNvSpPr txBox="1"/>
          <p:nvPr/>
        </p:nvSpPr>
        <p:spPr>
          <a:xfrm>
            <a:off x="8275320" y="3867912"/>
            <a:ext cx="3154680" cy="2212848"/>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El step termina con error</a:t>
            </a:r>
            <a:endParaRPr lang="en-US" sz="1500" dirty="0"/>
          </a:p>
          <a:p>
            <a:pPr marL="342900" indent="-342900">
              <a:spcAft>
                <a:spcPts val="400"/>
              </a:spcAft>
              <a:buSzPct val="100000"/>
              <a:buChar char="•"/>
            </a:pPr>
            <a:r>
              <a:rPr lang="en-US" sz="1500" dirty="0">
                <a:solidFill>
                  <a:schemeClr val="tx1"/>
                </a:solidFill>
              </a:rPr>
              <a:t>Lo que depende queda skipped</a:t>
            </a:r>
            <a:endParaRPr lang="en-US" sz="1500" dirty="0"/>
          </a:p>
          <a:p>
            <a:pPr marL="342900" indent="-342900">
              <a:spcAft>
                <a:spcPts val="400"/>
              </a:spcAft>
              <a:buSzPct val="100000"/>
              <a:buChar char="•"/>
            </a:pPr>
            <a:r>
              <a:rPr lang="en-US" sz="1500" dirty="0">
                <a:solidFill>
                  <a:schemeClr val="tx1"/>
                </a:solidFill>
              </a:rPr>
              <a:t>failOnFlakyTests pone en rojo un flaky</a:t>
            </a:r>
            <a:endParaRPr lang="en-US" sz="1500" dirty="0"/>
          </a:p>
          <a:p>
            <a:pPr marL="342900" indent="-342900">
              <a:spcAft>
                <a:spcPts val="400"/>
              </a:spcAft>
              <a:buSzPct val="100000"/>
              <a:buChar char="•"/>
            </a:pPr>
            <a:r>
              <a:rPr lang="en-US" sz="1500" dirty="0">
                <a:solidFill>
                  <a:schemeClr val="tx1"/>
                </a:solidFill>
              </a:rPr>
              <a:t>Se publica el reporte igual</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Run real del pipeline: #7</a:t>
            </a:r>
            <a:endParaRPr lang="en-US" sz="3200" dirty="0"/>
          </a:p>
        </p:txBody>
      </p:sp>
      <p:pic>
        <p:nvPicPr>
          <p:cNvPr id="4" name="Run del pipeline en GitHub Actions" descr="Run del pipeline en GitHub Actions">    </p:cNvPr>
          <p:cNvPicPr>
            <a:picLocks noChangeAspect="1"/>
          </p:cNvPicPr>
          <p:nvPr/>
        </p:nvPicPr>
        <p:blipFill>
          <a:blip r:embed="rId1"/>
          <a:stretch>
            <a:fillRect/>
          </a:stretch>
        </p:blipFill>
        <p:spPr>
          <a:xfrm>
            <a:off x="914400" y="1280160"/>
            <a:ext cx="10332720" cy="498348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Cada run deja evidencia que cualquiera abre</a:t>
            </a:r>
            <a:endParaRPr lang="en-US" sz="3200" dirty="0"/>
          </a:p>
        </p:txBody>
      </p:sp>
      <p:sp>
        <p:nvSpPr>
          <p:cNvPr id="4" name="Tarjeta JUnit XML"/>
          <p:cNvSpPr/>
          <p:nvPr/>
        </p:nvSpPr>
        <p:spPr>
          <a:xfrm>
            <a:off x="548640" y="1325880"/>
            <a:ext cx="3749040" cy="1508760"/>
          </a:xfrm>
          <a:prstGeom prst="roundRect">
            <a:avLst>
              <a:gd name="adj" fmla="val 4848"/>
            </a:avLst>
          </a:prstGeom>
          <a:solidFill>
            <a:schemeClr val="bg2"/>
          </a:solidFill>
          <a:ln/>
        </p:spPr>
      </p:sp>
      <p:sp>
        <p:nvSpPr>
          <p:cNvPr id="5" name="Text 2"/>
          <p:cNvSpPr txBox="1"/>
          <p:nvPr/>
        </p:nvSpPr>
        <p:spPr>
          <a:xfrm>
            <a:off x="731520" y="1435608"/>
            <a:ext cx="3383280" cy="411480"/>
          </a:xfrm>
          <a:prstGeom prst="rect">
            <a:avLst/>
          </a:prstGeom>
          <a:noFill/>
          <a:ln/>
        </p:spPr>
        <p:txBody>
          <a:bodyPr wrap="square" lIns="0" tIns="0" rIns="0" bIns="0" rtlCol="0" anchor="ctr"/>
          <a:lstStyle/>
          <a:p>
            <a:pPr indent="0" marL="0">
              <a:buNone/>
            </a:pPr>
            <a:r>
              <a:rPr lang="en-US" sz="1700" b="1" dirty="0">
                <a:solidFill>
                  <a:schemeClr val="accent1"/>
                </a:solidFill>
              </a:rPr>
              <a:t>JUnit XML</a:t>
            </a:r>
            <a:endParaRPr lang="en-US" sz="1700" dirty="0"/>
          </a:p>
        </p:txBody>
      </p:sp>
      <p:sp>
        <p:nvSpPr>
          <p:cNvPr id="6" name="Text 3"/>
          <p:cNvSpPr txBox="1"/>
          <p:nvPr/>
        </p:nvSpPr>
        <p:spPr>
          <a:xfrm>
            <a:off x="731520" y="1856232"/>
            <a:ext cx="3383280" cy="886968"/>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Para herramientas: alimenta la matriz de trazabilidad.</a:t>
            </a:r>
            <a:endParaRPr lang="en-US" sz="1500" dirty="0"/>
          </a:p>
        </p:txBody>
      </p:sp>
      <p:sp>
        <p:nvSpPr>
          <p:cNvPr id="7" name="Tarjeta HTML"/>
          <p:cNvSpPr/>
          <p:nvPr/>
        </p:nvSpPr>
        <p:spPr>
          <a:xfrm>
            <a:off x="548640" y="2971800"/>
            <a:ext cx="3749040" cy="1508760"/>
          </a:xfrm>
          <a:prstGeom prst="roundRect">
            <a:avLst>
              <a:gd name="adj" fmla="val 4848"/>
            </a:avLst>
          </a:prstGeom>
          <a:solidFill>
            <a:schemeClr val="bg2"/>
          </a:solidFill>
          <a:ln/>
        </p:spPr>
      </p:sp>
      <p:sp>
        <p:nvSpPr>
          <p:cNvPr id="8" name="Text 5"/>
          <p:cNvSpPr txBox="1"/>
          <p:nvPr/>
        </p:nvSpPr>
        <p:spPr>
          <a:xfrm>
            <a:off x="731520" y="3081528"/>
            <a:ext cx="3383280" cy="411480"/>
          </a:xfrm>
          <a:prstGeom prst="rect">
            <a:avLst/>
          </a:prstGeom>
          <a:noFill/>
          <a:ln/>
        </p:spPr>
        <p:txBody>
          <a:bodyPr wrap="square" lIns="0" tIns="0" rIns="0" bIns="0" rtlCol="0" anchor="ctr"/>
          <a:lstStyle/>
          <a:p>
            <a:pPr indent="0" marL="0">
              <a:buNone/>
            </a:pPr>
            <a:r>
              <a:rPr lang="en-US" sz="1700" b="1" dirty="0">
                <a:solidFill>
                  <a:schemeClr val="accent1"/>
                </a:solidFill>
              </a:rPr>
              <a:t>HTML</a:t>
            </a:r>
            <a:endParaRPr lang="en-US" sz="1700" dirty="0"/>
          </a:p>
        </p:txBody>
      </p:sp>
      <p:sp>
        <p:nvSpPr>
          <p:cNvPr id="9" name="Text 6"/>
          <p:cNvSpPr txBox="1"/>
          <p:nvPr/>
        </p:nvSpPr>
        <p:spPr>
          <a:xfrm>
            <a:off x="731520" y="3502152"/>
            <a:ext cx="3383280" cy="886968"/>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Para personas: Playwright, pytest-html y Schemathesis.</a:t>
            </a:r>
            <a:endParaRPr lang="en-US" sz="1500" dirty="0"/>
          </a:p>
        </p:txBody>
      </p:sp>
      <p:sp>
        <p:nvSpPr>
          <p:cNvPr id="10" name="Tarjeta Resumen del job"/>
          <p:cNvSpPr/>
          <p:nvPr/>
        </p:nvSpPr>
        <p:spPr>
          <a:xfrm>
            <a:off x="548640" y="4617720"/>
            <a:ext cx="3749040" cy="1554480"/>
          </a:xfrm>
          <a:prstGeom prst="roundRect">
            <a:avLst>
              <a:gd name="adj" fmla="val 4706"/>
            </a:avLst>
          </a:prstGeom>
          <a:solidFill>
            <a:schemeClr val="bg2"/>
          </a:solidFill>
          <a:ln/>
        </p:spPr>
      </p:sp>
      <p:sp>
        <p:nvSpPr>
          <p:cNvPr id="11" name="Text 8"/>
          <p:cNvSpPr txBox="1"/>
          <p:nvPr/>
        </p:nvSpPr>
        <p:spPr>
          <a:xfrm>
            <a:off x="731520" y="4727448"/>
            <a:ext cx="3383280" cy="411480"/>
          </a:xfrm>
          <a:prstGeom prst="rect">
            <a:avLst/>
          </a:prstGeom>
          <a:noFill/>
          <a:ln/>
        </p:spPr>
        <p:txBody>
          <a:bodyPr wrap="square" lIns="0" tIns="0" rIns="0" bIns="0" rtlCol="0" anchor="ctr"/>
          <a:lstStyle/>
          <a:p>
            <a:pPr indent="0" marL="0">
              <a:buNone/>
            </a:pPr>
            <a:r>
              <a:rPr lang="en-US" sz="1700" b="1" dirty="0">
                <a:solidFill>
                  <a:schemeClr val="accent1"/>
                </a:solidFill>
              </a:rPr>
              <a:t>Resumen del job</a:t>
            </a:r>
            <a:endParaRPr lang="en-US" sz="1700" dirty="0"/>
          </a:p>
        </p:txBody>
      </p:sp>
      <p:sp>
        <p:nvSpPr>
          <p:cNvPr id="12" name="Text 9"/>
          <p:cNvSpPr txBox="1"/>
          <p:nvPr/>
        </p:nvSpPr>
        <p:spPr>
          <a:xfrm>
            <a:off x="731520" y="5148072"/>
            <a:ext cx="3383280" cy="932688"/>
          </a:xfrm>
          <a:prstGeom prst="rect">
            <a:avLst/>
          </a:prstGeom>
          <a:noFill/>
          <a:ln/>
        </p:spPr>
        <p:txBody>
          <a:bodyPr wrap="square" lIns="0" tIns="0" rIns="0" bIns="0" rtlCol="0" anchor="t"/>
          <a:lstStyle/>
          <a:p>
            <a:pPr indent="0" marL="0">
              <a:spcAft>
                <a:spcPts val="400"/>
              </a:spcAft>
              <a:buNone/>
            </a:pPr>
            <a:r>
              <a:rPr lang="en-US" sz="1500" dirty="0">
                <a:solidFill>
                  <a:schemeClr val="tx1"/>
                </a:solidFill>
              </a:rPr>
              <a:t>En la página del run: una tabla escrita en $GITHUB_STEP_SUMMARY.</a:t>
            </a:r>
            <a:endParaRPr lang="en-US" sz="1500" dirty="0"/>
          </a:p>
        </p:txBody>
      </p:sp>
      <p:pic>
        <p:nvPicPr>
          <p:cNvPr id="13" name="Reporte HTML de Playwright con los pasos de CP-W10" descr="Reporte HTML de Playwright con los pasos de CP-W10">    </p:cNvPr>
          <p:cNvPicPr>
            <a:picLocks noChangeAspect="1"/>
          </p:cNvPicPr>
          <p:nvPr/>
        </p:nvPicPr>
        <p:blipFill>
          <a:blip r:embed="rId1"/>
          <a:stretch>
            <a:fillRect/>
          </a:stretch>
        </p:blipFill>
        <p:spPr>
          <a:xfrm>
            <a:off x="4526280" y="1325880"/>
            <a:ext cx="7086600" cy="4846320"/>
          </a:xfrm>
          <a:prstGeom prst="rect">
            <a:avLst/>
          </a:prstGeom>
        </p:spPr>
      </p:pic>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Quality gate: si no cumple, no entra a main</a:t>
            </a:r>
            <a:endParaRPr lang="en-US" sz="3200" dirty="0"/>
          </a:p>
        </p:txBody>
      </p:sp>
      <p:graphicFrame>
        <p:nvGraphicFramePr>
          <p:cNvPr id="10" name="Condiciones"/>
          <p:cNvGraphicFramePr>
            <a:graphicFrameLocks noGrp="1"/>
          </p:cNvGraphicFramePr>
          <p:nvPr>
            <p:extLst>
              <p:ext uri="{D42A27DB-BD31-4B8C-83A1-F6EECF244321}">
                <p14:modId xmlns:p14="http://schemas.microsoft.com/office/powerpoint/2010/main" val="1579011935"/>
              </p:ext>
            </p:extLst>
          </p:nvPr>
        </p:nvGraphicFramePr>
        <p:xfrm>
          <a:off x="548640" y="1325880"/>
          <a:ext cx="4846320" cy="914400"/>
        </p:xfrm>
        <a:graphic>
          <a:graphicData uri="http://schemas.openxmlformats.org/drawingml/2006/table">
            <a:tbl>
              <a:tblPr/>
              <a:tblGrid>
                <a:gridCol w="2377440"/>
                <a:gridCol w="2468880"/>
              </a:tblGrid>
              <a:tr h="676656">
                <a:tc>
                  <a:txBody>
                    <a:bodyPr/>
                    <a:lstStyle/>
                    <a:p>
                      <a:pPr indent="0" marL="0">
                        <a:buNone/>
                      </a:pPr>
                      <a:r>
                        <a:rPr lang="en-US" sz="1500" b="1" dirty="0">
                          <a:solidFill>
                            <a:schemeClr val="bg1"/>
                          </a:solidFill>
                        </a:rPr>
                        <a:t>Condición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Cómo se automatiza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676656">
                <a:tc>
                  <a:txBody>
                    <a:bodyPr/>
                    <a:lstStyle/>
                    <a:p>
                      <a:pPr indent="0" marL="0">
                        <a:buNone/>
                      </a:pPr>
                      <a:r>
                        <a:rPr lang="en-US" sz="1500" dirty="0">
                          <a:solidFill>
                            <a:schemeClr val="tx1"/>
                          </a:solidFill>
                        </a:rPr>
                        <a:t>Todas las pruebas pasan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El step termina con error</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Fallos conocidos reportados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xfail estricto con @DEF-xx</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Sin pruebas frágiles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failOnFlakyTests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Pasa 3 veces seguidas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--repeat-each=3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Contrato sin 500</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Schemathesis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676656">
                <a:tc>
                  <a:txBody>
                    <a:bodyPr/>
                    <a:lstStyle/>
                    <a:p>
                      <a:pPr indent="0" marL="0">
                        <a:buNone/>
                      </a:pPr>
                      <a:r>
                        <a:rPr lang="en-US" sz="1500" dirty="0">
                          <a:solidFill>
                            <a:schemeClr val="tx1"/>
                          </a:solidFill>
                        </a:rPr>
                        <a:t>No se fusiona si falla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Protección de rama: api, web</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pic>
        <p:nvPicPr>
          <p:cNvPr id="5" name="Run del PR de quality gate: api en rojo, web omitido" descr="Run del PR de quality gate: api en rojo, web omitido">    </p:cNvPr>
          <p:cNvPicPr>
            <a:picLocks noChangeAspect="1"/>
          </p:cNvPicPr>
          <p:nvPr/>
        </p:nvPicPr>
        <p:blipFill>
          <a:blip r:embed="rId1"/>
          <a:stretch>
            <a:fillRect/>
          </a:stretch>
        </p:blipFill>
        <p:spPr>
          <a:xfrm>
            <a:off x="5943600" y="1325880"/>
            <a:ext cx="5349240" cy="4325112"/>
          </a:xfrm>
          <a:prstGeom prst="rect">
            <a:avLst/>
          </a:prstGeom>
        </p:spPr>
      </p:pic>
      <p:sp>
        <p:nvSpPr>
          <p:cNvPr id="6" name="Text 1"/>
          <p:cNvSpPr txBox="1"/>
          <p:nvPr/>
        </p:nvSpPr>
        <p:spPr>
          <a:xfrm>
            <a:off x="5623560" y="5715000"/>
            <a:ext cx="5989320" cy="457200"/>
          </a:xfrm>
          <a:prstGeom prst="rect">
            <a:avLst/>
          </a:prstGeom>
          <a:noFill/>
          <a:ln/>
        </p:spPr>
        <p:txBody>
          <a:bodyPr wrap="square" lIns="0" tIns="0" rIns="0" bIns="0" rtlCol="0" anchor="ctr"/>
          <a:lstStyle/>
          <a:p>
            <a:pPr algn="ctr" indent="0" marL="0">
              <a:buNone/>
            </a:pPr>
            <a:r>
              <a:rPr lang="en-US" sz="1400" dirty="0">
                <a:solidFill>
                  <a:schemeClr val="tx1"/>
                </a:solidFill>
              </a:rPr>
              <a:t>PR #3: api en rojo, web omitido y fusión bloqueada (BLOCKED)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 la historia al resultado de un run</a:t>
            </a:r>
            <a:endParaRPr lang="en-US" sz="3200" dirty="0"/>
          </a:p>
        </p:txBody>
      </p:sp>
      <p:sp>
        <p:nvSpPr>
          <p:cNvPr id="4" name="Eslabón 1"/>
          <p:cNvSpPr/>
          <p:nvPr/>
        </p:nvSpPr>
        <p:spPr>
          <a:xfrm>
            <a:off x="548640" y="1325880"/>
            <a:ext cx="2468880" cy="777240"/>
          </a:xfrm>
          <a:prstGeom prst="roundRect">
            <a:avLst>
              <a:gd name="adj" fmla="val 9412"/>
            </a:avLst>
          </a:prstGeom>
          <a:solidFill>
            <a:schemeClr val="bg2"/>
          </a:solidFill>
          <a:ln/>
        </p:spPr>
        <p:txBody>
          <a:bodyPr wrap="square" lIns="25400" tIns="25400" rIns="25400" bIns="25400" rtlCol="0" anchor="ctr"/>
          <a:lstStyle/>
          <a:p>
            <a:pPr algn="ctr" indent="0" marL="0">
              <a:buNone/>
            </a:pPr>
            <a:r>
              <a:rPr lang="en-US" sz="1400" b="1" dirty="0">
                <a:solidFill>
                  <a:schemeClr val="tx2"/>
                </a:solidFill>
              </a:rPr>
              <a:t>HU-G4-08</a:t>
            </a:r>
            <a:endParaRPr lang="en-US" sz="1400" dirty="0"/>
          </a:p>
          <a:p>
            <a:pPr algn="ctr" indent="0" marL="0">
              <a:buNone/>
            </a:pPr>
            <a:r>
              <a:rPr lang="en-US" sz="1400" b="1" dirty="0">
                <a:solidFill>
                  <a:schemeClr val="tx2"/>
                </a:solidFill>
              </a:rPr>
              <a:t>requisito</a:t>
            </a:r>
            <a:endParaRPr lang="en-US" sz="1400" dirty="0"/>
          </a:p>
        </p:txBody>
      </p:sp>
      <p:sp>
        <p:nvSpPr>
          <p:cNvPr id="5" name="Flecha"/>
          <p:cNvSpPr/>
          <p:nvPr/>
        </p:nvSpPr>
        <p:spPr>
          <a:xfrm>
            <a:off x="3072384" y="1581912"/>
            <a:ext cx="256032" cy="256032"/>
          </a:xfrm>
          <a:prstGeom prst="rightArrow">
            <a:avLst/>
          </a:prstGeom>
          <a:solidFill>
            <a:schemeClr val="accent5"/>
          </a:solidFill>
          <a:ln/>
        </p:spPr>
      </p:sp>
      <p:sp>
        <p:nvSpPr>
          <p:cNvPr id="6" name="Eslabón 2"/>
          <p:cNvSpPr/>
          <p:nvPr/>
        </p:nvSpPr>
        <p:spPr>
          <a:xfrm>
            <a:off x="3383280" y="1325880"/>
            <a:ext cx="2468880" cy="777240"/>
          </a:xfrm>
          <a:prstGeom prst="roundRect">
            <a:avLst>
              <a:gd name="adj" fmla="val 9412"/>
            </a:avLst>
          </a:prstGeom>
          <a:solidFill>
            <a:schemeClr val="bg2"/>
          </a:solidFill>
          <a:ln/>
        </p:spPr>
        <p:txBody>
          <a:bodyPr wrap="square" lIns="25400" tIns="25400" rIns="25400" bIns="25400" rtlCol="0" anchor="ctr"/>
          <a:lstStyle/>
          <a:p>
            <a:pPr algn="ctr" indent="0" marL="0">
              <a:buNone/>
            </a:pPr>
            <a:r>
              <a:rPr lang="en-US" sz="1400" b="1" dirty="0">
                <a:solidFill>
                  <a:schemeClr val="tx2"/>
                </a:solidFill>
              </a:rPr>
              <a:t>@HU-G4-08 @CP-W16</a:t>
            </a:r>
            <a:endParaRPr lang="en-US" sz="1400" dirty="0"/>
          </a:p>
          <a:p>
            <a:pPr algn="ctr" indent="0" marL="0">
              <a:buNone/>
            </a:pPr>
            <a:r>
              <a:rPr lang="en-US" sz="1400" b="1" dirty="0">
                <a:solidFill>
                  <a:schemeClr val="tx2"/>
                </a:solidFill>
              </a:rPr>
              <a:t>etiquetas</a:t>
            </a:r>
            <a:endParaRPr lang="en-US" sz="1400" dirty="0"/>
          </a:p>
        </p:txBody>
      </p:sp>
      <p:sp>
        <p:nvSpPr>
          <p:cNvPr id="7" name="Flecha"/>
          <p:cNvSpPr/>
          <p:nvPr/>
        </p:nvSpPr>
        <p:spPr>
          <a:xfrm>
            <a:off x="5907024" y="1581912"/>
            <a:ext cx="256032" cy="256032"/>
          </a:xfrm>
          <a:prstGeom prst="rightArrow">
            <a:avLst/>
          </a:prstGeom>
          <a:solidFill>
            <a:schemeClr val="accent5"/>
          </a:solidFill>
          <a:ln/>
        </p:spPr>
      </p:sp>
      <p:sp>
        <p:nvSpPr>
          <p:cNvPr id="8" name="Eslabón 3"/>
          <p:cNvSpPr/>
          <p:nvPr/>
        </p:nvSpPr>
        <p:spPr>
          <a:xfrm>
            <a:off x="6217920" y="1325880"/>
            <a:ext cx="2468880" cy="777240"/>
          </a:xfrm>
          <a:prstGeom prst="roundRect">
            <a:avLst>
              <a:gd name="adj" fmla="val 9412"/>
            </a:avLst>
          </a:prstGeom>
          <a:solidFill>
            <a:schemeClr val="bg2"/>
          </a:solidFill>
          <a:ln/>
        </p:spPr>
        <p:txBody>
          <a:bodyPr wrap="square" lIns="25400" tIns="25400" rIns="25400" bIns="25400" rtlCol="0" anchor="ctr"/>
          <a:lstStyle/>
          <a:p>
            <a:pPr algn="ctr" indent="0" marL="0">
              <a:buNone/>
            </a:pPr>
            <a:r>
              <a:rPr lang="en-US" sz="1400" b="1" dirty="0">
                <a:solidFill>
                  <a:schemeClr val="tx2"/>
                </a:solidFill>
              </a:rPr>
              <a:t>Pipeline</a:t>
            </a:r>
            <a:endParaRPr lang="en-US" sz="1400" dirty="0"/>
          </a:p>
          <a:p>
            <a:pPr algn="ctr" indent="0" marL="0">
              <a:buNone/>
            </a:pPr>
            <a:r>
              <a:rPr lang="en-US" sz="1400" b="1" dirty="0">
                <a:solidFill>
                  <a:schemeClr val="tx2"/>
                </a:solidFill>
              </a:rPr>
              <a:t>JUnit XML</a:t>
            </a:r>
            <a:endParaRPr lang="en-US" sz="1400" dirty="0"/>
          </a:p>
        </p:txBody>
      </p:sp>
      <p:sp>
        <p:nvSpPr>
          <p:cNvPr id="9" name="Flecha"/>
          <p:cNvSpPr/>
          <p:nvPr/>
        </p:nvSpPr>
        <p:spPr>
          <a:xfrm>
            <a:off x="8741664" y="1581912"/>
            <a:ext cx="256032" cy="256032"/>
          </a:xfrm>
          <a:prstGeom prst="rightArrow">
            <a:avLst/>
          </a:prstGeom>
          <a:solidFill>
            <a:schemeClr val="accent5"/>
          </a:solidFill>
          <a:ln/>
        </p:spPr>
      </p:sp>
      <p:sp>
        <p:nvSpPr>
          <p:cNvPr id="10" name="Eslabón 4"/>
          <p:cNvSpPr/>
          <p:nvPr/>
        </p:nvSpPr>
        <p:spPr>
          <a:xfrm>
            <a:off x="9052560" y="1325880"/>
            <a:ext cx="2468880" cy="777240"/>
          </a:xfrm>
          <a:prstGeom prst="roundRect">
            <a:avLst>
              <a:gd name="adj" fmla="val 9412"/>
            </a:avLst>
          </a:prstGeom>
          <a:solidFill>
            <a:schemeClr val="bg2"/>
          </a:solidFill>
          <a:ln/>
        </p:spPr>
        <p:txBody>
          <a:bodyPr wrap="square" lIns="25400" tIns="25400" rIns="25400" bIns="25400" rtlCol="0" anchor="ctr"/>
          <a:lstStyle/>
          <a:p>
            <a:pPr algn="ctr" indent="0" marL="0">
              <a:buNone/>
            </a:pPr>
            <a:r>
              <a:rPr lang="en-US" sz="1400" b="1" dirty="0">
                <a:solidFill>
                  <a:schemeClr val="tx2"/>
                </a:solidFill>
              </a:rPr>
              <a:t>docs/trazabilidad.md</a:t>
            </a:r>
            <a:endParaRPr lang="en-US" sz="1400" dirty="0"/>
          </a:p>
          <a:p>
            <a:pPr algn="ctr" indent="0" marL="0">
              <a:buNone/>
            </a:pPr>
            <a:r>
              <a:rPr lang="en-US" sz="1400" b="1" dirty="0">
                <a:solidFill>
                  <a:schemeClr val="tx2"/>
                </a:solidFill>
              </a:rPr>
              <a:t>matriz</a:t>
            </a:r>
            <a:endParaRPr lang="en-US" sz="1400" dirty="0"/>
          </a:p>
        </p:txBody>
      </p:sp>
      <p:graphicFrame>
        <p:nvGraphicFramePr>
          <p:cNvPr id="11" name="Extracto de la matriz"/>
          <p:cNvGraphicFramePr>
            <a:graphicFrameLocks noGrp="1"/>
          </p:cNvGraphicFramePr>
          <p:nvPr>
            <p:extLst>
              <p:ext uri="{D42A27DB-BD31-4B8C-83A1-F6EECF244321}">
                <p14:modId xmlns:p14="http://schemas.microsoft.com/office/powerpoint/2010/main" val="1579011935"/>
              </p:ext>
            </p:extLst>
          </p:nvPr>
        </p:nvGraphicFramePr>
        <p:xfrm>
          <a:off x="548640" y="2377440"/>
          <a:ext cx="11064240" cy="914400"/>
        </p:xfrm>
        <a:graphic>
          <a:graphicData uri="http://schemas.openxmlformats.org/drawingml/2006/table">
            <a:tbl>
              <a:tblPr/>
              <a:tblGrid>
                <a:gridCol w="1143000"/>
                <a:gridCol w="960120"/>
                <a:gridCol w="868680"/>
                <a:gridCol w="5074920"/>
                <a:gridCol w="640080"/>
                <a:gridCol w="2377440"/>
              </a:tblGrid>
              <a:tr h="530352">
                <a:tc>
                  <a:txBody>
                    <a:bodyPr/>
                    <a:lstStyle/>
                    <a:p>
                      <a:pPr indent="0" marL="0">
                        <a:buNone/>
                      </a:pPr>
                      <a:r>
                        <a:rPr lang="en-US" sz="1400" b="1" dirty="0">
                          <a:solidFill>
                            <a:schemeClr val="bg1"/>
                          </a:solidFill>
                        </a:rPr>
                        <a:t>HU</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Caso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Título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Nivel</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Resultado (run #7)</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530352">
                <a:tc>
                  <a:txBody>
                    <a:bodyPr/>
                    <a:lstStyle/>
                    <a:p>
                      <a:pPr indent="0" marL="0">
                        <a:buNone/>
                      </a:pPr>
                      <a:r>
                        <a:rPr lang="en-US" sz="1400" dirty="0">
                          <a:solidFill>
                            <a:schemeClr val="tx1"/>
                          </a:solidFill>
                        </a:rPr>
                        <a:t>HU-G4-08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CA1, CA3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CP-W16</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Aceptar pide confirmación e informa la transferencia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web</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passed (3/3)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HU-G4-08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CA2</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CP-W17</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Sin saldo se muestra el error y sigue pendiente</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web</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passed (3/3)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HU-G4-08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CA1, CA3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CP-A28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Aceptar transfiere el dinero y deja el código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api</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passed (1/1)</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HU-G4-08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400" dirty="0">
                          <a:solidFill>
                            <a:schemeClr val="tx1"/>
                          </a:solidFill>
                        </a:rPr>
                        <a:t>CA4</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400" dirty="0">
                          <a:solidFill>
                            <a:schemeClr val="tx1"/>
                          </a:solidFill>
                        </a:rPr>
                        <a:t>CP-A32</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400" dirty="0">
                          <a:solidFill>
                            <a:schemeClr val="tx1"/>
                          </a:solidFill>
                        </a:rPr>
                        <a:t>Una solicitud vencida no se puede aceptar</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400" dirty="0">
                          <a:solidFill>
                            <a:schemeClr val="tx1"/>
                          </a:solidFill>
                        </a:rPr>
                        <a:t>api</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c>
                  <a:txBody>
                    <a:bodyPr/>
                    <a:lstStyle/>
                    <a:p>
                      <a:pPr indent="0" marL="0">
                        <a:buNone/>
                      </a:pPr>
                      <a:r>
                        <a:rPr lang="en-US" sz="1400" b="1" dirty="0">
                          <a:solidFill>
                            <a:schemeClr val="tx1"/>
                          </a:solidFill>
                        </a:rPr>
                        <a:t>xfailed → DEF-03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rgbClr val="FBF0D1"/>
                    </a:solidFill>
                  </a:tcPr>
                </a:tc>
              </a:tr>
              <a:tr h="530352">
                <a:tc>
                  <a:txBody>
                    <a:bodyPr/>
                    <a:lstStyle/>
                    <a:p>
                      <a:pPr indent="0" marL="0">
                        <a:buNone/>
                      </a:pPr>
                      <a:r>
                        <a:rPr lang="en-US" sz="1400" dirty="0">
                          <a:solidFill>
                            <a:schemeClr val="tx1"/>
                          </a:solidFill>
                        </a:rPr>
                        <a:t>HU-G4-10</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CA1</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CP-W19</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Cancelar una solicitud enviada pide confirmación</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web</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passed (3/3)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Todas</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técnico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CP-T04</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Contrato OpenAPI generado con Schemathesis</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api</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passed (10/10)</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El pipeline encontró lo que mi máquina no veía</a:t>
            </a:r>
            <a:endParaRPr lang="en-US" sz="3200" dirty="0"/>
          </a:p>
        </p:txBody>
      </p:sp>
      <p:sp>
        <p:nvSpPr>
          <p:cNvPr id="4" name="Tarjeta DEF-07: «en mi máquina pasa»"/>
          <p:cNvSpPr/>
          <p:nvPr/>
        </p:nvSpPr>
        <p:spPr>
          <a:xfrm>
            <a:off x="548640" y="1325880"/>
            <a:ext cx="4572000" cy="4846320"/>
          </a:xfrm>
          <a:prstGeom prst="roundRect">
            <a:avLst>
              <a:gd name="adj" fmla="val 1600"/>
            </a:avLst>
          </a:prstGeom>
          <a:solidFill>
            <a:schemeClr val="bg2"/>
          </a:solidFill>
          <a:ln/>
        </p:spPr>
      </p:sp>
      <p:sp>
        <p:nvSpPr>
          <p:cNvPr id="5" name="Text 2"/>
          <p:cNvSpPr txBox="1"/>
          <p:nvPr/>
        </p:nvSpPr>
        <p:spPr>
          <a:xfrm>
            <a:off x="731520" y="1435608"/>
            <a:ext cx="4206240" cy="411480"/>
          </a:xfrm>
          <a:prstGeom prst="rect">
            <a:avLst/>
          </a:prstGeom>
          <a:noFill/>
          <a:ln/>
        </p:spPr>
        <p:txBody>
          <a:bodyPr wrap="square" lIns="0" tIns="0" rIns="0" bIns="0" rtlCol="0" anchor="ctr"/>
          <a:lstStyle/>
          <a:p>
            <a:pPr indent="0" marL="0">
              <a:buNone/>
            </a:pPr>
            <a:r>
              <a:rPr lang="en-US" sz="1700" b="1" dirty="0">
                <a:solidFill>
                  <a:schemeClr val="accent1"/>
                </a:solidFill>
              </a:rPr>
              <a:t>DEF-07: «en mi máquina pasa»</a:t>
            </a:r>
            <a:endParaRPr lang="en-US" sz="1700" dirty="0"/>
          </a:p>
        </p:txBody>
      </p:sp>
      <p:sp>
        <p:nvSpPr>
          <p:cNvPr id="6" name="Text 3"/>
          <p:cNvSpPr txBox="1"/>
          <p:nvPr/>
        </p:nvSpPr>
        <p:spPr>
          <a:xfrm>
            <a:off x="731520" y="1856232"/>
            <a:ext cx="4206240" cy="4224528"/>
          </a:xfrm>
          <a:prstGeom prst="rect">
            <a:avLst/>
          </a:prstGeom>
          <a:noFill/>
          <a:ln/>
        </p:spPr>
        <p:txBody>
          <a:bodyPr wrap="square" lIns="0" tIns="0" rIns="0" bIns="0" rtlCol="0" anchor="t"/>
          <a:lstStyle/>
          <a:p>
            <a:pPr marL="342900" indent="-342900">
              <a:spcAft>
                <a:spcPts val="400"/>
              </a:spcAft>
              <a:buSzPct val="100000"/>
              <a:buChar char="•"/>
            </a:pPr>
            <a:r>
              <a:rPr lang="en-US" sz="1600" dirty="0">
                <a:solidFill>
                  <a:schemeClr val="tx1"/>
                </a:solidFill>
              </a:rPr>
              <a:t>Local: todo en verde</a:t>
            </a:r>
            <a:endParaRPr lang="en-US" sz="1600" dirty="0"/>
          </a:p>
          <a:p>
            <a:pPr marL="342900" indent="-342900">
              <a:spcAft>
                <a:spcPts val="400"/>
              </a:spcAft>
              <a:buSzPct val="100000"/>
              <a:buChar char="•"/>
            </a:pPr>
            <a:r>
              <a:rPr lang="en-US" sz="1600" dirty="0">
                <a:solidFill>
                  <a:schemeClr val="tx1"/>
                </a:solidFill>
              </a:rPr>
              <a:t>Primer run: 6 fallos intermitentes de sesión y saldo</a:t>
            </a:r>
            <a:endParaRPr lang="en-US" sz="1600" dirty="0"/>
          </a:p>
          <a:p>
            <a:pPr marL="342900" indent="-342900">
              <a:spcAft>
                <a:spcPts val="400"/>
              </a:spcAft>
              <a:buSzPct val="100000"/>
              <a:buChar char="•"/>
            </a:pPr>
            <a:r>
              <a:rPr lang="en-US" sz="1600" dirty="0">
                <a:solidFill>
                  <a:schemeClr val="tx1"/>
                </a:solidFill>
              </a:rPr>
              <a:t>Causa: desde FastAPI 0.118 el commit corre después de enviar la respuesta</a:t>
            </a:r>
            <a:endParaRPr lang="en-US" sz="1600" dirty="0"/>
          </a:p>
          <a:p>
            <a:pPr marL="342900" indent="-342900">
              <a:spcAft>
                <a:spcPts val="400"/>
              </a:spcAft>
              <a:buSzPct val="100000"/>
              <a:buChar char="•"/>
            </a:pPr>
            <a:r>
              <a:rPr lang="en-US" sz="1600" dirty="0">
                <a:solidFill>
                  <a:schemeClr val="tx1"/>
                </a:solidFill>
              </a:rPr>
              <a:t>Reproducido: 2 de 300 ciclos</a:t>
            </a:r>
            <a:endParaRPr lang="en-US" sz="1600" dirty="0"/>
          </a:p>
          <a:p>
            <a:pPr marL="342900" indent="-342900">
              <a:spcAft>
                <a:spcPts val="400"/>
              </a:spcAft>
              <a:buSzPct val="100000"/>
              <a:buChar char="•"/>
            </a:pPr>
            <a:r>
              <a:rPr lang="en-US" sz="1600" dirty="0">
                <a:solidFill>
                  <a:schemeClr val="tx1"/>
                </a:solidFill>
              </a:rPr>
              <a:t>Mitigado: FastAPI 0.117.1, con 0 de 1,500</a:t>
            </a:r>
            <a:endParaRPr lang="en-US" sz="1600" dirty="0"/>
          </a:p>
          <a:p>
            <a:pPr marL="342900" indent="-342900">
              <a:spcAft>
                <a:spcPts val="400"/>
              </a:spcAft>
              <a:buSzPct val="100000"/>
              <a:buChar char="•"/>
            </a:pPr>
            <a:r>
              <a:rPr lang="en-US" sz="1600" dirty="0">
                <a:solidFill>
                  <a:schemeClr val="tx1"/>
                </a:solidFill>
              </a:rPr>
              <a:t>qolqe/ no se modificó</a:t>
            </a:r>
            <a:endParaRPr lang="en-US" sz="1600" dirty="0"/>
          </a:p>
        </p:txBody>
      </p:sp>
      <p:graphicFrame>
        <p:nvGraphicFramePr>
          <p:cNvPr id="12" name="Defectos"/>
          <p:cNvGraphicFramePr>
            <a:graphicFrameLocks noGrp="1"/>
          </p:cNvGraphicFramePr>
          <p:nvPr>
            <p:extLst>
              <p:ext uri="{D42A27DB-BD31-4B8C-83A1-F6EECF244321}">
                <p14:modId xmlns:p14="http://schemas.microsoft.com/office/powerpoint/2010/main" val="1579011935"/>
              </p:ext>
            </p:extLst>
          </p:nvPr>
        </p:nvGraphicFramePr>
        <p:xfrm>
          <a:off x="5349240" y="1325880"/>
          <a:ext cx="6263640" cy="914400"/>
        </p:xfrm>
        <a:graphic>
          <a:graphicData uri="http://schemas.openxmlformats.org/drawingml/2006/table">
            <a:tbl>
              <a:tblPr/>
              <a:tblGrid>
                <a:gridCol w="914400"/>
                <a:gridCol w="4206240"/>
                <a:gridCol w="1143000"/>
              </a:tblGrid>
              <a:tr h="530352">
                <a:tc>
                  <a:txBody>
                    <a:bodyPr/>
                    <a:lstStyle/>
                    <a:p>
                      <a:pPr indent="0" marL="0">
                        <a:buNone/>
                      </a:pPr>
                      <a:r>
                        <a:rPr lang="en-US" sz="1400" b="1" dirty="0">
                          <a:solidFill>
                            <a:schemeClr val="bg1"/>
                          </a:solidFill>
                        </a:rPr>
                        <a:t>ID</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Defecto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Severidad</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530352">
                <a:tc>
                  <a:txBody>
                    <a:bodyPr/>
                    <a:lstStyle/>
                    <a:p>
                      <a:pPr indent="0" marL="0">
                        <a:buNone/>
                      </a:pPr>
                      <a:r>
                        <a:rPr lang="en-US" sz="1400" dirty="0">
                          <a:solidFill>
                            <a:schemeClr val="tx1"/>
                          </a:solidFill>
                        </a:rPr>
                        <a:t>DEF-03</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Aceptar una solicitud vencida transfiere el dinero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accent4"/>
                          </a:solidFill>
                        </a:rPr>
                        <a:t>Crítica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DEF-04</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Se transfiere a un contacto con cuenta cerrada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b="1" dirty="0">
                          <a:solidFill>
                            <a:schemeClr val="accent4"/>
                          </a:solidFill>
                        </a:rPr>
                        <a:t>Crítica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DEF-07</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La respuesta llega antes de guardar los datos</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Alta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DEF-01</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El alias rechaza la letra ñ</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DEF-02</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Alias duplicado si tiene espacios alrededor</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Media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DEF-05</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El contrato no declara las reglas de los campos</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Baja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DEF-06</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Allow incompleto en OPTIONS</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Baja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30352">
                <a:tc>
                  <a:txBody>
                    <a:bodyPr/>
                    <a:lstStyle/>
                    <a:p>
                      <a:pPr indent="0" marL="0">
                        <a:buNone/>
                      </a:pPr>
                      <a:r>
                        <a:rPr lang="en-US" sz="1400" dirty="0">
                          <a:solidFill>
                            <a:schemeClr val="tx1"/>
                          </a:solidFill>
                        </a:rPr>
                        <a:t>DEF-08</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favorito acepta 0 y 1 como booleano</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400" dirty="0">
                          <a:solidFill>
                            <a:schemeClr val="tx1"/>
                          </a:solidFill>
                        </a:rPr>
                        <a:t>Baja</a:t>
                      </a:r>
                      <a:endParaRPr lang="en-US" sz="14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Los conceptos de la clase, aplicados</a:t>
            </a:r>
            <a:endParaRPr lang="en-US" sz="3200" dirty="0"/>
          </a:p>
        </p:txBody>
      </p:sp>
      <p:graphicFrame>
        <p:nvGraphicFramePr>
          <p:cNvPr id="13" name="Conceptos"/>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286000"/>
                <a:gridCol w="7040880"/>
                <a:gridCol w="1737360"/>
              </a:tblGrid>
              <a:tr h="594360">
                <a:tc>
                  <a:txBody>
                    <a:bodyPr/>
                    <a:lstStyle/>
                    <a:p>
                      <a:pPr indent="0" marL="0">
                        <a:buNone/>
                      </a:pPr>
                      <a:r>
                        <a:rPr lang="en-US" sz="1500" b="1" dirty="0">
                          <a:solidFill>
                            <a:schemeClr val="bg1"/>
                          </a:solidFill>
                        </a:rPr>
                        <a:t>Concepto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Cómo se aplica en este proyecto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c>
                  <a:txBody>
                    <a:bodyPr/>
                    <a:lstStyle/>
                    <a:p>
                      <a:pPr indent="0" marL="0">
                        <a:buNone/>
                      </a:pPr>
                      <a:r>
                        <a:rPr lang="en-US" sz="1500" b="1" dirty="0">
                          <a:solidFill>
                            <a:schemeClr val="bg1"/>
                          </a:solidFill>
                        </a:rPr>
                        <a:t>Fuente</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solidFill>
                      <a:schemeClr val="tx2"/>
                    </a:solidFill>
                  </a:tcPr>
                </a:tc>
              </a:tr>
              <a:tr h="594360">
                <a:tc>
                  <a:txBody>
                    <a:bodyPr/>
                    <a:lstStyle/>
                    <a:p>
                      <a:pPr indent="0" marL="0">
                        <a:buNone/>
                      </a:pPr>
                      <a:r>
                        <a:rPr lang="en-US" sz="1500" dirty="0">
                          <a:solidFill>
                            <a:schemeClr val="tx1"/>
                          </a:solidFill>
                        </a:rPr>
                        <a:t>Integración continua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Cada push o PR construye y prueba. No publica la app: no es entrega ni despliegue continuo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2024</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DevOps</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Retroalimentación rápida; el pipeline se define y se mantiene en el repositorio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2.1.4</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Shift left</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Reglas y contrato en API antes que la web</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2.1.5</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Regresión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Las 87 pruebas de API y web corren solas en cada cambio</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2.2.3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Fail fast</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Lo barato primero: si falla la API, no se gasta en la web</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Fowler, 2013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Quality gate</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Criterios de salida automatizados y protección de rama</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5.1.3</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r h="594360">
                <a:tc>
                  <a:txBody>
                    <a:bodyPr/>
                    <a:lstStyle/>
                    <a:p>
                      <a:pPr indent="0" marL="0">
                        <a:buNone/>
                      </a:pPr>
                      <a:r>
                        <a:rPr lang="en-US" sz="1500" dirty="0">
                          <a:solidFill>
                            <a:schemeClr val="tx1"/>
                          </a:solidFill>
                        </a:rPr>
                        <a:t>Trazabilidad</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HU → caso → resultado de cada run</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c>
                  <a:txBody>
                    <a:bodyPr/>
                    <a:lstStyle/>
                    <a:p>
                      <a:pPr indent="0" marL="0">
                        <a:buNone/>
                      </a:pPr>
                      <a:r>
                        <a:rPr lang="en-US" sz="1500" dirty="0">
                          <a:solidFill>
                            <a:schemeClr val="tx1"/>
                          </a:solidFill>
                        </a:rPr>
                        <a:t>ISTQB 1.4.4</a:t>
                      </a:r>
                      <a:endParaRPr lang="en-US" sz="1500" dirty="0"/>
                    </a:p>
                  </a:txBody>
                  <a:tcPr marL="91440" marR="91440" marT="36576" marB="36576" anchor="ctr">
                    <a:lnL w="9525" cap="flat" cmpd="sng" algn="ctr">
                      <a:solidFill>
                        <a:srgbClr val="D5DDE0"/>
                      </a:solidFill>
                      <a:prstDash val="solid"/>
                      <a:round/>
                      <a:headEnd type="none" w="med" len="med"/>
                      <a:tailEnd type="none" w="med" len="med"/>
                    </a:lnL>
                    <a:lnR w="9525" cap="flat" cmpd="sng" algn="ctr">
                      <a:solidFill>
                        <a:srgbClr val="D5DDE0"/>
                      </a:solidFill>
                      <a:prstDash val="solid"/>
                      <a:round/>
                      <a:headEnd type="none" w="med" len="med"/>
                      <a:tailEnd type="none" w="med" len="med"/>
                    </a:lnR>
                    <a:lnT w="9525" cap="flat" cmpd="sng" algn="ctr">
                      <a:solidFill>
                        <a:srgbClr val="D5DDE0"/>
                      </a:solidFill>
                      <a:prstDash val="solid"/>
                      <a:round/>
                      <a:headEnd type="none" w="med" len="med"/>
                      <a:tailEnd type="none" w="med" len="med"/>
                    </a:lnT>
                    <a:lnB w="9525" cap="flat" cmpd="sng" algn="ctr">
                      <a:solidFill>
                        <a:srgbClr val="D5DD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200" b="1" dirty="0">
                <a:solidFill>
                  <a:schemeClr val="tx2"/>
                </a:solidFill>
                <a:latin typeface="Cambria" pitchFamily="34" charset="0"/>
                <a:ea typeface="Cambria" pitchFamily="34" charset="-122"/>
                <a:cs typeface="Cambria" pitchFamily="34" charset="-120"/>
              </a:rPr>
              <a:t>Demo en vivo</a:t>
            </a:r>
            <a:endParaRPr lang="en-US" sz="3200" dirty="0"/>
          </a:p>
        </p:txBody>
      </p:sp>
      <p:sp>
        <p:nvSpPr>
          <p:cNvPr id="4" name="Paso 1"/>
          <p:cNvSpPr/>
          <p:nvPr/>
        </p:nvSpPr>
        <p:spPr>
          <a:xfrm>
            <a:off x="548640" y="13716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2"/>
          <p:cNvSpPr txBox="1"/>
          <p:nvPr/>
        </p:nvSpPr>
        <p:spPr>
          <a:xfrm>
            <a:off x="1280160" y="1371600"/>
            <a:ext cx="4663440" cy="594360"/>
          </a:xfrm>
          <a:prstGeom prst="rect">
            <a:avLst/>
          </a:prstGeom>
          <a:noFill/>
          <a:ln/>
        </p:spPr>
        <p:txBody>
          <a:bodyPr wrap="square" lIns="0" tIns="0" rIns="0" bIns="0" rtlCol="0" anchor="ctr"/>
          <a:lstStyle/>
          <a:p>
            <a:pPr indent="0" marL="0">
              <a:buNone/>
            </a:pPr>
            <a:r>
              <a:rPr lang="en-US" sz="1800" dirty="0">
                <a:solidFill>
                  <a:schemeClr val="tx1"/>
                </a:solidFill>
              </a:rPr>
              <a:t>Run real en GitHub Actions</a:t>
            </a:r>
            <a:endParaRPr lang="en-US" sz="1800" dirty="0"/>
          </a:p>
        </p:txBody>
      </p:sp>
      <p:sp>
        <p:nvSpPr>
          <p:cNvPr id="6" name="Paso 2"/>
          <p:cNvSpPr/>
          <p:nvPr/>
        </p:nvSpPr>
        <p:spPr>
          <a:xfrm>
            <a:off x="548640" y="22860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7" name="Text 4"/>
          <p:cNvSpPr txBox="1"/>
          <p:nvPr/>
        </p:nvSpPr>
        <p:spPr>
          <a:xfrm>
            <a:off x="1280160" y="2286000"/>
            <a:ext cx="4663440" cy="594360"/>
          </a:xfrm>
          <a:prstGeom prst="rect">
            <a:avLst/>
          </a:prstGeom>
          <a:noFill/>
          <a:ln/>
        </p:spPr>
        <p:txBody>
          <a:bodyPr wrap="square" lIns="0" tIns="0" rIns="0" bIns="0" rtlCol="0" anchor="ctr"/>
          <a:lstStyle/>
          <a:p>
            <a:pPr indent="0" marL="0">
              <a:buNone/>
            </a:pPr>
            <a:r>
              <a:rPr lang="en-US" sz="1800" dirty="0">
                <a:solidFill>
                  <a:schemeClr val="tx1"/>
                </a:solidFill>
              </a:rPr>
              <a:t>Resumen del job</a:t>
            </a:r>
            <a:endParaRPr lang="en-US" sz="1800" dirty="0"/>
          </a:p>
        </p:txBody>
      </p:sp>
      <p:sp>
        <p:nvSpPr>
          <p:cNvPr id="8" name="Paso 3"/>
          <p:cNvSpPr/>
          <p:nvPr/>
        </p:nvSpPr>
        <p:spPr>
          <a:xfrm>
            <a:off x="548640" y="32004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9" name="Text 6"/>
          <p:cNvSpPr txBox="1"/>
          <p:nvPr/>
        </p:nvSpPr>
        <p:spPr>
          <a:xfrm>
            <a:off x="1280160" y="3200400"/>
            <a:ext cx="4663440" cy="594360"/>
          </a:xfrm>
          <a:prstGeom prst="rect">
            <a:avLst/>
          </a:prstGeom>
          <a:noFill/>
          <a:ln/>
        </p:spPr>
        <p:txBody>
          <a:bodyPr wrap="square" lIns="0" tIns="0" rIns="0" bIns="0" rtlCol="0" anchor="ctr"/>
          <a:lstStyle/>
          <a:p>
            <a:pPr indent="0" marL="0">
              <a:buNone/>
            </a:pPr>
            <a:r>
              <a:rPr lang="en-US" sz="1800" dirty="0">
                <a:solidFill>
                  <a:schemeClr val="tx1"/>
                </a:solidFill>
              </a:rPr>
              <a:t>Reporte abierto: CP-W10 paso a paso</a:t>
            </a:r>
            <a:endParaRPr lang="en-US" sz="1800" dirty="0"/>
          </a:p>
        </p:txBody>
      </p:sp>
      <p:sp>
        <p:nvSpPr>
          <p:cNvPr id="10" name="Paso 4"/>
          <p:cNvSpPr/>
          <p:nvPr/>
        </p:nvSpPr>
        <p:spPr>
          <a:xfrm>
            <a:off x="6172200" y="13716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1" name="Text 8"/>
          <p:cNvSpPr txBox="1"/>
          <p:nvPr/>
        </p:nvSpPr>
        <p:spPr>
          <a:xfrm>
            <a:off x="6903720" y="1371600"/>
            <a:ext cx="4663440" cy="594360"/>
          </a:xfrm>
          <a:prstGeom prst="rect">
            <a:avLst/>
          </a:prstGeom>
          <a:noFill/>
          <a:ln/>
        </p:spPr>
        <p:txBody>
          <a:bodyPr wrap="square" lIns="0" tIns="0" rIns="0" bIns="0" rtlCol="0" anchor="ctr"/>
          <a:lstStyle/>
          <a:p>
            <a:pPr indent="0" marL="0">
              <a:buNone/>
            </a:pPr>
            <a:r>
              <a:rPr lang="en-US" sz="1800" dirty="0">
                <a:solidFill>
                  <a:schemeClr val="tx1"/>
                </a:solidFill>
              </a:rPr>
              <a:t>Matriz de trazabilidad</a:t>
            </a:r>
            <a:endParaRPr lang="en-US" sz="1800" dirty="0"/>
          </a:p>
        </p:txBody>
      </p:sp>
      <p:sp>
        <p:nvSpPr>
          <p:cNvPr id="12" name="Paso 5"/>
          <p:cNvSpPr/>
          <p:nvPr/>
        </p:nvSpPr>
        <p:spPr>
          <a:xfrm>
            <a:off x="6172200" y="22860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13" name="Text 10"/>
          <p:cNvSpPr txBox="1"/>
          <p:nvPr/>
        </p:nvSpPr>
        <p:spPr>
          <a:xfrm>
            <a:off x="6903720" y="2286000"/>
            <a:ext cx="4663440" cy="594360"/>
          </a:xfrm>
          <a:prstGeom prst="rect">
            <a:avLst/>
          </a:prstGeom>
          <a:noFill/>
          <a:ln/>
        </p:spPr>
        <p:txBody>
          <a:bodyPr wrap="square" lIns="0" tIns="0" rIns="0" bIns="0" rtlCol="0" anchor="ctr"/>
          <a:lstStyle/>
          <a:p>
            <a:pPr indent="0" marL="0">
              <a:buNone/>
            </a:pPr>
            <a:r>
              <a:rPr lang="en-US" sz="1800" dirty="0">
                <a:solidFill>
                  <a:schemeClr val="tx1"/>
                </a:solidFill>
              </a:rPr>
              <a:t>PR bloqueado por el quality gate</a:t>
            </a:r>
            <a:endParaRPr lang="en-US" sz="1800" dirty="0"/>
          </a:p>
        </p:txBody>
      </p:sp>
      <p:sp>
        <p:nvSpPr>
          <p:cNvPr id="14" name="Paso 6"/>
          <p:cNvSpPr/>
          <p:nvPr/>
        </p:nvSpPr>
        <p:spPr>
          <a:xfrm>
            <a:off x="6172200" y="3200400"/>
            <a:ext cx="594360" cy="59436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rPr>
              <a:t>6</a:t>
            </a:r>
            <a:endParaRPr lang="en-US" sz="1800" dirty="0"/>
          </a:p>
        </p:txBody>
      </p:sp>
      <p:sp>
        <p:nvSpPr>
          <p:cNvPr id="15" name="Text 12"/>
          <p:cNvSpPr txBox="1"/>
          <p:nvPr/>
        </p:nvSpPr>
        <p:spPr>
          <a:xfrm>
            <a:off x="6903720" y="3200400"/>
            <a:ext cx="4663440" cy="594360"/>
          </a:xfrm>
          <a:prstGeom prst="rect">
            <a:avLst/>
          </a:prstGeom>
          <a:noFill/>
          <a:ln/>
        </p:spPr>
        <p:txBody>
          <a:bodyPr wrap="square" lIns="0" tIns="0" rIns="0" bIns="0" rtlCol="0" anchor="ctr"/>
          <a:lstStyle/>
          <a:p>
            <a:pPr indent="0" marL="0">
              <a:buNone/>
            </a:pPr>
            <a:r>
              <a:rPr lang="en-US" sz="1800" dirty="0">
                <a:solidFill>
                  <a:schemeClr val="tx1"/>
                </a:solidFill>
              </a:rPr>
              <a:t>Automatización con el navegador visible</a:t>
            </a:r>
            <a:endParaRPr lang="en-US" sz="1800" dirty="0"/>
          </a:p>
        </p:txBody>
      </p:sp>
      <p:sp>
        <p:nvSpPr>
          <p:cNvPr id="16" name="Tarjeta Verde no significa sin problemas"/>
          <p:cNvSpPr/>
          <p:nvPr/>
        </p:nvSpPr>
        <p:spPr>
          <a:xfrm>
            <a:off x="548640" y="4343400"/>
            <a:ext cx="11064240" cy="1828800"/>
          </a:xfrm>
          <a:prstGeom prst="roundRect">
            <a:avLst>
              <a:gd name="adj" fmla="val 4000"/>
            </a:avLst>
          </a:prstGeom>
          <a:solidFill>
            <a:schemeClr val="bg2"/>
          </a:solidFill>
          <a:ln/>
        </p:spPr>
      </p:sp>
      <p:sp>
        <p:nvSpPr>
          <p:cNvPr id="17" name="Text 14"/>
          <p:cNvSpPr txBox="1"/>
          <p:nvPr/>
        </p:nvSpPr>
        <p:spPr>
          <a:xfrm>
            <a:off x="731520" y="4453128"/>
            <a:ext cx="10698480" cy="411480"/>
          </a:xfrm>
          <a:prstGeom prst="rect">
            <a:avLst/>
          </a:prstGeom>
          <a:noFill/>
          <a:ln/>
        </p:spPr>
        <p:txBody>
          <a:bodyPr wrap="square" lIns="0" tIns="0" rIns="0" bIns="0" rtlCol="0" anchor="ctr"/>
          <a:lstStyle/>
          <a:p>
            <a:pPr indent="0" marL="0">
              <a:buNone/>
            </a:pPr>
            <a:r>
              <a:rPr lang="en-US" sz="1700" b="1" dirty="0">
                <a:solidFill>
                  <a:schemeClr val="accent1"/>
                </a:solidFill>
              </a:rPr>
              <a:t>Verde no significa sin problemas</a:t>
            </a:r>
            <a:endParaRPr lang="en-US" sz="1700" dirty="0"/>
          </a:p>
        </p:txBody>
      </p:sp>
      <p:sp>
        <p:nvSpPr>
          <p:cNvPr id="18" name="Text 15"/>
          <p:cNvSpPr txBox="1"/>
          <p:nvPr/>
        </p:nvSpPr>
        <p:spPr>
          <a:xfrm>
            <a:off x="731520" y="4873752"/>
            <a:ext cx="10698480" cy="1207008"/>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Quedan 8 defectos abiertos, 2 críticos: se recomienda corregir DEF-03 y DEF-04 primero</a:t>
            </a:r>
            <a:endParaRPr lang="en-US" sz="1500" dirty="0"/>
          </a:p>
          <a:p>
            <a:pPr marL="342900" indent="-342900">
              <a:spcAft>
                <a:spcPts val="400"/>
              </a:spcAft>
              <a:buSzPct val="100000"/>
              <a:buChar char="•"/>
            </a:pPr>
            <a:r>
              <a:rPr lang="en-US" sz="1500" dirty="0">
                <a:solidFill>
                  <a:schemeClr val="tx1"/>
                </a:solidFill>
              </a:rPr>
              <a:t>La prueba manual desde la perspectiva del usuario sigue siendo necesaria</a:t>
            </a:r>
            <a:endParaRPr lang="en-US" sz="1500" dirty="0"/>
          </a:p>
          <a:p>
            <a:pPr marL="342900" indent="-342900">
              <a:spcAft>
                <a:spcPts val="400"/>
              </a:spcAft>
              <a:buSzPct val="100000"/>
              <a:buChar char="•"/>
            </a:pPr>
            <a:r>
              <a:rPr lang="en-US" sz="1500" dirty="0">
                <a:solidFill>
                  <a:schemeClr val="tx1"/>
                </a:solidFill>
              </a:rPr>
              <a:t>Rendimiento queda para la Parte 3</a:t>
            </a:r>
            <a:endParaRPr lang="en-US" sz="15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Qolqe">
  <a:themeElements>
    <a:clrScheme name="Qolqe">
      <a:dk1>
        <a:srgbClr val="16262E"/>
      </a:dk1>
      <a:lt1>
        <a:srgbClr val="FFFFFF"/>
      </a:lt1>
      <a:dk2>
        <a:srgbClr val="12343B"/>
      </a:dk2>
      <a:lt2>
        <a:srgbClr val="EEF2F3"/>
      </a:lt2>
      <a:accent1>
        <a:srgbClr val="1F6F78"/>
      </a:accent1>
      <a:accent2>
        <a:srgbClr val="E0A100"/>
      </a:accent2>
      <a:accent3>
        <a:srgbClr val="1E8E5A"/>
      </a:accent3>
      <a:accent4>
        <a:srgbClr val="C0392B"/>
      </a:accent4>
      <a:accent5>
        <a:srgbClr val="6B7C85"/>
      </a:accent5>
      <a:accent6>
        <a:srgbClr val="B9C6CB"/>
      </a:accent6>
      <a:hlink>
        <a:srgbClr val="1F6F78"/>
      </a:hlink>
      <a:folHlink>
        <a:srgbClr val="6B7C85"/>
      </a:folHlink>
    </a:clrScheme>
    <a:fontScheme name="Qolq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Johar Jared Barzola Estrella</dc:creator>
  <cp:lastModifiedBy>Johar Jared Barzola Estrella</cp:lastModifiedBy>
  <cp:revision>1</cp:revision>
  <dcterms:created xsi:type="dcterms:W3CDTF">2026-10-30T20:03:20Z</dcterms:created>
  <dcterms:modified xsi:type="dcterms:W3CDTF">2026-10-30T20:03:20Z</dcterms:modified>
</cp:coreProperties>
</file>