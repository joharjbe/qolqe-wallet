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62f72c3a7f499c" /><Relationship Type="http://schemas.openxmlformats.org/officeDocument/2006/relationships/extended-properties" Target="/docProps/app.xml" Id="Re2f1b5d572614a86" /><Relationship Type="http://schemas.openxmlformats.org/officeDocument/2006/relationships/officeDocument" Target="/ppt/presentation.xml" Id="Ra5c65e17450249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182841609041da"/>
  </p:sldMasterIdLst>
  <p:notesMasterIdLst>
    <p:notesMasterId xmlns:r="http://schemas.openxmlformats.org/officeDocument/2006/relationships" r:id="R0f4e663057414d8f"/>
  </p:notesMasterIdLst>
  <p:sldIdLst>
    <p:sldId xmlns:r="http://schemas.openxmlformats.org/officeDocument/2006/relationships" id="256" r:id="R47c371e698dc49ca"/>
    <p:sldId xmlns:r="http://schemas.openxmlformats.org/officeDocument/2006/relationships" id="257" r:id="R9611e245be104f61"/>
    <p:sldId xmlns:r="http://schemas.openxmlformats.org/officeDocument/2006/relationships" id="258" r:id="Rc5cd942114aa450c"/>
    <p:sldId xmlns:r="http://schemas.openxmlformats.org/officeDocument/2006/relationships" id="259" r:id="R7523201f633d402b"/>
    <p:sldId xmlns:r="http://schemas.openxmlformats.org/officeDocument/2006/relationships" id="260" r:id="Ra3fa68bb5d34420f"/>
    <p:sldId xmlns:r="http://schemas.openxmlformats.org/officeDocument/2006/relationships" id="261" r:id="Rc8f5bf37505b4693"/>
    <p:sldId xmlns:r="http://schemas.openxmlformats.org/officeDocument/2006/relationships" id="262" r:id="R51265f029d4c4834"/>
    <p:sldId xmlns:r="http://schemas.openxmlformats.org/officeDocument/2006/relationships" id="263" r:id="R098a81e9e14c4c77"/>
    <p:sldId xmlns:r="http://schemas.openxmlformats.org/officeDocument/2006/relationships" id="264" r:id="Rcdc43dca255d43b4"/>
    <p:sldId xmlns:r="http://schemas.openxmlformats.org/officeDocument/2006/relationships" id="265" r:id="R63dcf72d0bfa46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53923856094f21" /><Relationship Type="http://schemas.openxmlformats.org/officeDocument/2006/relationships/slideMaster" Target="/ppt/slideMasters/slideMaster1.xml" Id="R39182841609041da" /><Relationship Type="http://schemas.openxmlformats.org/officeDocument/2006/relationships/notesMaster" Target="/ppt/notesMasters/notesMaster1.xml" Id="R0f4e663057414d8f" /><Relationship Type="http://schemas.openxmlformats.org/officeDocument/2006/relationships/presProps" Target="/ppt/presProps.xml" Id="R80f2fb4dab4f4bb2" /><Relationship Type="http://schemas.openxmlformats.org/officeDocument/2006/relationships/tableStyles" Target="/ppt/tableStyles.xml" Id="Rc11dce420ea045e0" /><Relationship Type="http://schemas.openxmlformats.org/officeDocument/2006/relationships/slide" Target="/ppt/slides/slide1.xml" Id="R47c371e698dc49ca" /><Relationship Type="http://schemas.openxmlformats.org/officeDocument/2006/relationships/slide" Target="/ppt/slides/slide2.xml" Id="R9611e245be104f61" /><Relationship Type="http://schemas.openxmlformats.org/officeDocument/2006/relationships/slide" Target="/ppt/slides/slide3.xml" Id="Rc5cd942114aa450c" /><Relationship Type="http://schemas.openxmlformats.org/officeDocument/2006/relationships/slide" Target="/ppt/slides/slide4.xml" Id="R7523201f633d402b" /><Relationship Type="http://schemas.openxmlformats.org/officeDocument/2006/relationships/slide" Target="/ppt/slides/slide5.xml" Id="Ra3fa68bb5d34420f" /><Relationship Type="http://schemas.openxmlformats.org/officeDocument/2006/relationships/slide" Target="/ppt/slides/slide6.xml" Id="Rc8f5bf37505b4693" /><Relationship Type="http://schemas.openxmlformats.org/officeDocument/2006/relationships/slide" Target="/ppt/slides/slide7.xml" Id="R51265f029d4c4834" /><Relationship Type="http://schemas.openxmlformats.org/officeDocument/2006/relationships/slide" Target="/ppt/slides/slide8.xml" Id="R098a81e9e14c4c77" /><Relationship Type="http://schemas.openxmlformats.org/officeDocument/2006/relationships/slide" Target="/ppt/slides/slide9.xml" Id="Rcdc43dca255d43b4" /><Relationship Type="http://schemas.openxmlformats.org/officeDocument/2006/relationships/slide" Target="/ppt/slides/slide10.xml" Id="R63dcf72d0bfa46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aa75d71a3749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33e49731704abf" /><Relationship Type="http://schemas.openxmlformats.org/officeDocument/2006/relationships/notesMaster" Target="/ppt/notesMasters/notesMaster1.xml" Id="Rb92bf1b8f78a46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43a540ebaf4cfb" /><Relationship Type="http://schemas.openxmlformats.org/officeDocument/2006/relationships/notesMaster" Target="/ppt/notesMasters/notesMaster1.xml" Id="Rceca1d307b7e4d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3ff34885ef4cb1" /><Relationship Type="http://schemas.openxmlformats.org/officeDocument/2006/relationships/notesMaster" Target="/ppt/notesMasters/notesMaster1.xml" Id="Raea6e4d43a9442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791f5bc99c4d37" /><Relationship Type="http://schemas.openxmlformats.org/officeDocument/2006/relationships/notesMaster" Target="/ppt/notesMasters/notesMaster1.xml" Id="R7e77156a811440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ba3922dc0147c1" /><Relationship Type="http://schemas.openxmlformats.org/officeDocument/2006/relationships/notesMaster" Target="/ppt/notesMasters/notesMaster1.xml" Id="Rd087d2ff77df4c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68850a0d5d4cae" /><Relationship Type="http://schemas.openxmlformats.org/officeDocument/2006/relationships/notesMaster" Target="/ppt/notesMasters/notesMaster1.xml" Id="R45f8ec96b8354f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51079aea3f40be" /><Relationship Type="http://schemas.openxmlformats.org/officeDocument/2006/relationships/notesMaster" Target="/ppt/notesMasters/notesMaster1.xml" Id="R59fc1745049b47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19e6e51ccd445a" /><Relationship Type="http://schemas.openxmlformats.org/officeDocument/2006/relationships/notesMaster" Target="/ppt/notesMasters/notesMaster1.xml" Id="Rbf8531d8535e45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43d28335e544ac" /><Relationship Type="http://schemas.openxmlformats.org/officeDocument/2006/relationships/notesMaster" Target="/ppt/notesMasters/notesMaster1.xml" Id="R10027283f4734e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41f21545914e7e" /><Relationship Type="http://schemas.openxmlformats.org/officeDocument/2006/relationships/notesMaster" Target="/ppt/notesMasters/notesMaster1.xml" Id="R47f457b0bd084f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35 s. Presentar el trabajo: recorrido de dos usuarios del módulo G4, automatizado con Robot Framework y Browser Library. La captura es del entorno local real de Qolqe. Fuente principal del encargo: Canvas, Clase 11 - Automatización.pdf, archivo 4957072, y tarea 349599.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s. Robot Framework es un marco abierto de automatización basado en palabras clave. El núcleo ejecuta los casos y las bibliotecas interactúan con la aplicación. Se usa aquí porque el recorrido es visible, se repite y tiene estados observables. Fuente: https://robotframework.org/robotframework/latest/RobotFrameworkUserGuide y material de Canvas Clase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55 s. La línea resume hitos de capacidad, no toda la historia. Robot Framework 3.1 incorporó soporte oficial para tareas de RPA. En esta entrega se verificó Robot 7.5 y Browser Library 20.6.0; esta última usa Playwright. Fuentes: Robot Framework User Guide; https://github.com/MarketSquare/robotframework-browser ; notas de versión Robot Framework 7.5.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70 s. El archivo .robot llama keywords por pantalla. Los recursos Page Object contienen acciones y selectores. El motor Robot ejecuta el caso; Browser Library conecta con Playwright, que controla Chromium contra Qolqe. Reportes: output.xml, log.html y report.html. Fuentes: Robot Framework User Guide; https://github.com/MarketSquare/robotframework-browser ; código de tests/e2e del repositorio.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s. El caso en g4_solicitud_happy_path.robot expresa el qué; los archivos tests/e2e/pages/*.resource contienen el cómo: localizadores y acciones. Robot implementa el patrón mediante user keywords. Fuente: Canvas Clase 11, sección de patrones; archivos tests/e2e/g4_solicitud_happy_path.robot y tests/e2e/pages/ del repositorio.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85 s. Ejecutar o mostrar el video/navegador: Diego entra a Qolqe, agrega a Bruno y envía solicitud por S/ 25 con el motivo Devolución demo G4. La prueba verifica que aparece Pendiente. Fuente: capturas reales 01-contacto-creado.png y 03-solicitud-pendiente.png; requisitos Qolqe HU-G4-01, HU-G4-06, HU-G4-07.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85 s. Bruno abre solicitudes recibidas y acepta la solicitud. El cuadro confirma una transferencia de S/ 25. Diego y Bruno ven Aceptada; se verifica código de operación y saldos Diego S/ 2,525.00, Bruno S/ 775.00. La comisión es S/ 0.00 según RN-09. Fuente: capturas reales 04-confirmacion-bruno.png, 05-solicitud-aceptada.png, 06-saldo-bruno.png y 07-saldo-diego.png; Qolqe HU-G4-08, RN-09 y RN-10.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s. Iniciar Qolqe en modo de pruebas según README sección 7. Ejecutar python -m robot --variable HEADLESS:False --outputdir reportes tests/e2e/g4_solicitud_happy_path.robot. Ver el navegador y luego abrir reportes/report.html y log.html. La ejecución verificada el 24 de octubre de 2026 aprobó 1 de 1 prueba. Fuente: reportes locales y captura real 08-robot-report.png.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80 s. En Codex, abrir docs/demo-robot-ia.md y usar su prompt, aportando output.xml y los requisitos. La respuesta esperada señala que no se verifica el SMS simulado: destinatario tras crear solicitud (HU-G4-06 CA2) y solicitante tras aceptarla (HU-G4-08 CA3). Es asistencia de IA alrededor de Robot Framework; no es una función integrada de Robot. Validar la propuesta contra el requisito y ejecutar cualquier cambio. Fuente: docs/demo-robot-ia.md y docs/requisitos.md.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s. Dificultad observada: tras aceptar, la pantalla aún podía mostrar Pendiente; se resolvió esperando el estado visible. Límites: instalación del navegador y dependencias, UI más lenta que API/unidad, y mantenimiento de selectores. No usar UI E2E para cada regla pequeña, pantallas inestables o servicios externos sin control. Esta prueba no valida los SMS simulados. Entregar repo, código, README y presentación. Fuente: Canvas Clase 11, secciones de riesgos/esperas/pirámide; ejecución local; README del repositorio.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25996098c4c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51200307904f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e82a1296e845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b7d8a4c51d4d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b36092e7464b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7a5565b1f44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8CAA09-3A29-4858-8EBC-D8010C440E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E54DD16-9634-4B03-8CEC-9D937260B8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5E2DB98-1D9C-4CB4-A71B-469E7AA2F5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23CD56-0877-48F3-8CC6-05B014889B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6CD7E6-CFDB-4D69-AC08-74C35AD9C5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31F2A2-D6B9-478E-AFF8-5CD2DF2F3F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9AA059-E629-4EBC-8E2A-95E6003CD3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6964948-3A8A-4E33-970E-2F045D456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AE36-029B-4CCE-8877-BB256849C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B0B798B-E837-4E46-AAE8-5DBB28FCCD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ca7f28fff9470e" /><Relationship Type="http://schemas.openxmlformats.org/officeDocument/2006/relationships/slideLayout" Target="/ppt/slideLayouts/slideLayout1.xml" Id="Rbdb7f345e6e642e7" /><Relationship Type="http://schemas.openxmlformats.org/officeDocument/2006/relationships/slideLayout" Target="/ppt/slideLayouts/slideLayout2.xml" Id="Rd4b3588cb2ce47ce" /><Relationship Type="http://schemas.openxmlformats.org/officeDocument/2006/relationships/slideLayout" Target="/ppt/slideLayouts/slideLayout3.xml" Id="R2b252f06bb944227" /><Relationship Type="http://schemas.openxmlformats.org/officeDocument/2006/relationships/slideLayout" Target="/ppt/slideLayouts/slideLayout4.xml" Id="Rb112c707cff3440f" /><Relationship Type="http://schemas.openxmlformats.org/officeDocument/2006/relationships/slideLayout" Target="/ppt/slideLayouts/slideLayout5.xml" Id="R29f1eeeb5e5e4f44" /><Relationship Type="http://schemas.openxmlformats.org/officeDocument/2006/relationships/slideLayout" Target="/ppt/slideLayouts/slideLayout6.xml" Id="Rd534196db49a4c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b7f345e6e642e7"/>
    <p:sldLayoutId xmlns:r="http://schemas.openxmlformats.org/officeDocument/2006/relationships" id="2147483650" r:id="Rd4b3588cb2ce47ce"/>
    <p:sldLayoutId xmlns:r="http://schemas.openxmlformats.org/officeDocument/2006/relationships" id="2147483651" r:id="R2b252f06bb944227"/>
    <p:sldLayoutId xmlns:r="http://schemas.openxmlformats.org/officeDocument/2006/relationships" id="2147483652" r:id="Rb112c707cff3440f"/>
    <p:sldLayoutId xmlns:r="http://schemas.openxmlformats.org/officeDocument/2006/relationships" id="2147483653" r:id="R29f1eeeb5e5e4f44"/>
    <p:sldLayoutId xmlns:r="http://schemas.openxmlformats.org/officeDocument/2006/relationships" id="2147483654" r:id="Rd534196db49a4c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64c10db2a748b6" /><Relationship Type="http://schemas.openxmlformats.org/officeDocument/2006/relationships/image" Target="/ppt/media/image.png" Id="R16f9957777004b95" /><Relationship Type="http://schemas.openxmlformats.org/officeDocument/2006/relationships/notesSlide" Target="/ppt/notesSlides/notesSlide1.xml" Id="Rfa3f3815059940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41e182eab4eaf" /><Relationship Type="http://schemas.openxmlformats.org/officeDocument/2006/relationships/image" Target="/ppt/media/image2.png" Id="R3cd2cc70dc0e4359" /><Relationship Type="http://schemas.openxmlformats.org/officeDocument/2006/relationships/notesSlide" Target="/ppt/notesSlides/notesSlide2.xml" Id="R2ac5ec3864574a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10d388015448f1" /><Relationship Type="http://schemas.openxmlformats.org/officeDocument/2006/relationships/notesSlide" Target="/ppt/notesSlides/notesSlide3.xml" Id="Rba6b07af06274b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9cb012ba1246c8" /><Relationship Type="http://schemas.openxmlformats.org/officeDocument/2006/relationships/notesSlide" Target="/ppt/notesSlides/notesSlide4.xml" Id="R7b0ab9adf58243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3f070c3e274462" /><Relationship Type="http://schemas.openxmlformats.org/officeDocument/2006/relationships/notesSlide" Target="/ppt/notesSlides/notesSlide5.xml" Id="R0198e430f59b43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86f4b542dd44a7" /><Relationship Type="http://schemas.openxmlformats.org/officeDocument/2006/relationships/image" Target="/ppt/media/image3.png" Id="Ra70be270424b47e6" /><Relationship Type="http://schemas.openxmlformats.org/officeDocument/2006/relationships/image" Target="/ppt/media/image4.png" Id="R94aa56aa1db74d64" /><Relationship Type="http://schemas.openxmlformats.org/officeDocument/2006/relationships/notesSlide" Target="/ppt/notesSlides/notesSlide6.xml" Id="R309c35c485244d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6415b3957f488b" /><Relationship Type="http://schemas.openxmlformats.org/officeDocument/2006/relationships/image" Target="/ppt/media/image5.png" Id="Rad6c617b8b3c4cb7" /><Relationship Type="http://schemas.openxmlformats.org/officeDocument/2006/relationships/image" Target="/ppt/media/image6.png" Id="R81a1a84f55384ab3" /><Relationship Type="http://schemas.openxmlformats.org/officeDocument/2006/relationships/notesSlide" Target="/ppt/notesSlides/notesSlide7.xml" Id="Rc6be9054486f4b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7a7b491d204588" /><Relationship Type="http://schemas.openxmlformats.org/officeDocument/2006/relationships/image" Target="/ppt/media/image7.png" Id="R60b89a5dee1848ab" /><Relationship Type="http://schemas.openxmlformats.org/officeDocument/2006/relationships/hyperlink" Target="https://github.com/Joharjbe/qolqe-wallet#7-demo-e2e-del-grupo-4-robot-framework" TargetMode="External" Id="R7d5dba2d43394d11" /><Relationship Type="http://schemas.openxmlformats.org/officeDocument/2006/relationships/notesSlide" Target="/ppt/notesSlides/notesSlide8.xml" Id="R268cf36ee2b445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48af3eede24220" /><Relationship Type="http://schemas.openxmlformats.org/officeDocument/2006/relationships/hyperlink" Target="https://github.com/Joharjbe/qolqe-wallet/blob/main/docs/demo-robot-ia.md" TargetMode="External" Id="R7037d8fb938d4ce5" /><Relationship Type="http://schemas.openxmlformats.org/officeDocument/2006/relationships/notesSlide" Target="/ppt/notesSlides/notesSlide9.xml" Id="R7b6eb272a2bd47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01c742088d4630" /><Relationship Type="http://schemas.openxmlformats.org/officeDocument/2006/relationships/hyperlink" Target="https://github.com/Joharjbe/qolqe-wallet" TargetMode="External" Id="R4806752dcb584010" /><Relationship Type="http://schemas.openxmlformats.org/officeDocument/2006/relationships/notesSlide" Target="/ppt/notesSlides/notesSlide10.xml" Id="R2d4cbed3badb47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D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A59DF-EA45-4719-84F9-9BFF0C50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FAD8D-BF65-42AE-93D6-BBFB9BF2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66775"/>
            <a:ext cx="3905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A7DC7-786E-4245-AB9C-D1F44B3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5095875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Automatización</a:t>
            </a:r>
          </a:p>
          <a:p xmlns:a="http://schemas.openxmlformats.org/drawingml/2006/main">
            <a:pPr algn="l">
              <a:def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4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E2E en Qolqe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F835F-B69D-4546-88BA-8EB12E46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219450"/>
            <a:ext cx="48958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BDE3D7"/>
                </a:solidFill>
                <a:latin typeface="Avenir Next"/>
                <a:ea typeface="Avenir Next"/>
                <a:cs typeface="Avenir Next"/>
              </a:rPr>
              <a:t>Robot Framework · patrón Page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88B5B-13C0-4D28-A781-E6269CCA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43400"/>
            <a:ext cx="470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Contacto  →  solicitud  →  aceptación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A3A4A-1609-46D5-BB69-97987401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219700"/>
            <a:ext cx="261937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51F7E-AC62-4314-ACD3-02BA3E98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57800"/>
            <a:ext cx="2390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S/ 25.00  ·  1/1 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99D76-D78A-45D0-844E-877B19B9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095375"/>
            <a:ext cx="5753100" cy="3609975"/>
          </a:xfrm>
          <a:prstGeom xmlns:a="http://schemas.openxmlformats.org/drawingml/2006/main" prst="roundRect">
            <a:avLst>
              <a:gd name="adj" fmla="val 2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5390E-FAF0-47FE-8A1A-D6D42AA0A8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9957777004b95"/>
          <a:stretch xmlns:a="http://schemas.openxmlformats.org/drawingml/2006/main"/>
        </p:blipFill>
        <p:spPr>
          <a:xfrm xmlns:a="http://schemas.openxmlformats.org/drawingml/2006/main">
            <a:off x="5943600" y="1511334"/>
            <a:ext cx="5676900" cy="2778057"/>
          </a:xfrm>
          <a:prstGeom xmlns:a="http://schemas.openxmlformats.org/drawingml/2006/main" prst="roundRect">
            <a:avLst>
              <a:gd name="adj" fmla="val 2156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F44B7-E02E-457D-AD3F-CC3C336C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914900"/>
            <a:ext cx="5286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BDE3D7"/>
                </a:solidFill>
                <a:latin typeface="Avenir Next"/>
                <a:ea typeface="Avenir Next"/>
                <a:cs typeface="Avenir Next"/>
              </a:rPr>
              <a:t>Captura real del flujo automatizado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4D652-EC04-4903-B86B-EB520225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33412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B8D2CA"/>
                </a:solidFill>
                <a:latin typeface="Avenir Next"/>
                <a:ea typeface="Avenir Next"/>
                <a:cs typeface="Avenir Next"/>
              </a:rPr>
              <a:t>CS5383  ·  Grupo 4  ·  Johar</a:t>
            </a:r>
          </a:p>
        </p:txBody>
      </p:sp>
    </p:spTree>
    <p:extLst>
      <p:ext uri="{BB962C8B-B14F-4D97-AF65-F5344CB8AC3E}">
        <p14:creationId xmlns:p14="http://schemas.microsoft.com/office/powerpoint/2010/main" val="13578531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715CA-0082-4F3E-8F31-8127C135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35F16-79F6-4930-8CE2-49344160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0D2AF-1D6A-4367-B064-3EF212C6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¿Por qué Robot Framework?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78ADDF-109F-49DE-92EB-120B4C44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La automatización transforma un recorrido manual repetible en evidencia verificable.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CB200E-FC9B-4396-ADDE-247DD31A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24682-360C-47B8-855C-0CD3F5F0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9ADDC-CCF6-4234-A6B7-D51F8E5E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3B163F-BBCD-4527-A805-FFCC6534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619250"/>
            <a:ext cx="11811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6CD13-C084-4E4E-85AD-C28A97F4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573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rPr>
              <a:t>QUÉ 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4BDBC-0FB6-430A-A131-1270DF82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38350"/>
            <a:ext cx="45053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Pruebas expresadas con</a:t>
            </a:r>
          </a:p>
          <a:p xmlns:a="http://schemas.openxmlformats.org/drawingml/2006/main">
            <a:pPr algn="l">
              <a:def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47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palabras clave legibles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BB242-04B4-4173-950D-615506E7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619500"/>
            <a:ext cx="1714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615E4-3B7F-4470-AD6B-EA441F2D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65760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rPr>
              <a:t>QUÉ RESUELVE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B7C07-809D-49C6-82CF-C0AE6F3D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29075"/>
            <a:ext cx="45053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Verificar el flujo sin repetir</a:t>
            </a:r>
          </a:p>
          <a:p xmlns:a="http://schemas.openxmlformats.org/drawingml/2006/main">
            <a:pPr algn="l">
              <a:def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clics ni perder evidencia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E4489-5448-4CAC-BEA2-9AE32229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14500"/>
            <a:ext cx="6010275" cy="3448050"/>
          </a:xfrm>
          <a:prstGeom xmlns:a="http://schemas.openxmlformats.org/drawingml/2006/main" prst="roundRect">
            <a:avLst>
              <a:gd name="adj" fmla="val 22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53D5E-3EF9-4F22-9EA6-3CB313486B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2cc70dc0e4359"/>
          <a:stretch xmlns:a="http://schemas.openxmlformats.org/drawingml/2006/main"/>
        </p:blipFill>
        <p:spPr>
          <a:xfrm xmlns:a="http://schemas.openxmlformats.org/drawingml/2006/main">
            <a:off x="5543550" y="2476243"/>
            <a:ext cx="5934075" cy="1924565"/>
          </a:xfrm>
          <a:prstGeom xmlns:a="http://schemas.openxmlformats.org/drawingml/2006/main" prst="roundRect">
            <a:avLst>
              <a:gd name="adj" fmla="val 2260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30025D-D6A4-4735-BE03-90CAF345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14950"/>
            <a:ext cx="558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UI real de Qolqe · solicitud de S/ 25</a:t>
            </a:r>
          </a:p>
        </p:txBody>
      </p:sp>
    </p:spTree>
    <p:extLst>
      <p:ext uri="{BB962C8B-B14F-4D97-AF65-F5344CB8AC3E}">
        <p14:creationId xmlns:p14="http://schemas.microsoft.com/office/powerpoint/2010/main" val="2979955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89003B-FAC4-424A-8C2E-FD45278E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F8111-08E4-4FF1-B8AE-8A098F9F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A3C824-0369-4BBF-A999-B0988B2D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Una herramienta que creció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0977D-5916-485A-9B1F-6FF81C35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De pruebas de aceptación a automatización web moderna.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40A2F-62EB-4C24-B113-8836A27E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AFC0B-5AA0-40CB-ABEA-C6CBC3F0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2852B-9171-4B07-8A94-767DDA5A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ECC4E-00FB-4760-A62C-0CE08B45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057525"/>
            <a:ext cx="9934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172FC-8135-44C2-A798-21BE5D4F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847975" cy="2505075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EE346-09B8-468B-855A-AFCE4F44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857500"/>
            <a:ext cx="6667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C5548-E121-40D2-9F1B-4D1C87D0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14650"/>
            <a:ext cx="57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65DE1-90B2-496C-B01D-35856E6F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Aceptación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FA215-7C9E-41D6-8C98-0B8E309F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246697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Keywords, bibliotecas</a:t>
            </a:r>
          </a:p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y reportes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6604A-50AF-4196-9C81-E6D480FF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609850"/>
            <a:ext cx="2847975" cy="2505075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385CF-3091-497A-A23B-DD40B72A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57500"/>
            <a:ext cx="6667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378D8-59DA-4F6E-8580-701E1B3A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4650"/>
            <a:ext cx="57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806C6-7699-4541-B276-18D6E69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7662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RPA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B5B63F-581E-4EF6-85CE-831A1741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76700"/>
            <a:ext cx="246697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Tareas automatizadas</a:t>
            </a:r>
          </a:p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desde RF 3.1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3427E-83BE-4B10-8D55-5A8D2266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9850"/>
            <a:ext cx="2847975" cy="2505075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E77652-F962-40BB-BBD8-3929A568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57500"/>
            <a:ext cx="6667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01801-3FE3-497C-9419-A12A25FE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57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30D92C-5266-433D-A181-C56F1FFF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Web moderna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D67B2-10EE-4F6D-AAE9-8FE40E3A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76700"/>
            <a:ext cx="246697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Browser Library</a:t>
            </a:r>
          </a:p>
          <a:p xmlns:a="http://schemas.openxmlformats.org/drawingml/2006/main">
            <a:pPr algn="l">
              <a:def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+ Playwright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E538D-09C2-40BE-9D1B-3A7D825F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00675"/>
            <a:ext cx="99345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En esta entrega: Robot 7.5  +  Browser Library 20.6.0</a:t>
            </a:r>
          </a:p>
        </p:txBody>
      </p:sp>
    </p:spTree>
    <p:extLst>
      <p:ext uri="{BB962C8B-B14F-4D97-AF65-F5344CB8AC3E}">
        <p14:creationId xmlns:p14="http://schemas.microsoft.com/office/powerpoint/2010/main" val="21331408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DAC29D-7EAC-4D42-A77F-866EF82E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BFD6B-B0ED-4747-9826-7FEAFC8F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D20ED-EF08-4A7E-8D0B-161567D9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Arquitectura en una mirada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F1DB58-B97C-492E-A1FE-662565D4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La prueba describe el negocio; las capas inferiores operan el navegador.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1C605-D0A2-4A32-B413-57407F65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10207-C79F-4FE0-AD48-3E6D60BB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F45AC-6852-41FB-AEBC-04C919F5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2725B-7317-46AB-915C-3C194032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61B9A-760F-4E7A-9B7A-7AC28C30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Caso</a:t>
            </a:r>
          </a:p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.robot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40B85-2FB6-4AFE-9F91-73B34094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49E45-7E9E-464D-811D-49CA8158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54903-A7C6-4638-8B8F-4DB58D93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Page Object</a:t>
            </a:r>
          </a:p>
          <a:p xmlns:a="http://schemas.openxmlformats.org/drawingml/2006/main">
            <a: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.resource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DE5D5-0850-4327-BFDA-C5827B1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AF873-0B11-4DCC-ACA7-669D0DE4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BCAD0A-C219-4A4E-B048-52593A26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Motor</a:t>
            </a:r>
          </a:p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Robot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76831-3E11-44B2-A181-31C90EA6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E53E54-DE2F-47B2-A3D7-8D2BB4FA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9EC9A7-8DBC-4852-BF5F-40DD7E53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Browser</a:t>
            </a:r>
          </a:p>
          <a:p xmlns:a="http://schemas.openxmlformats.org/drawingml/2006/main">
            <a:pPr algn="ctr">
              <a:def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Library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0F496-42BF-4894-8C07-02B3A0CA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D8B9F2-14B9-48C8-A7B6-F5CE473D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949F94-3C28-4D45-B4F2-70298435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Playwright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E3316-44B4-41EF-8422-1124BFE0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6830A-2A4B-4B01-858C-5762AB30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1A2DBA-CB60-40F8-A2AC-75EE47D7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Chromium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0D69F-94F6-43DA-87BD-6F1817AE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924175"/>
            <a:ext cx="142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E3856-7212-4F1B-BED6-48F8DE5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24125"/>
            <a:ext cx="14668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78A44B-5167-4353-ACFF-4AF1BC6F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752725"/>
            <a:ext cx="1276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Qolqe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CEED6-1531-4992-A1F9-964C2169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62425"/>
            <a:ext cx="3076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Qué probar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D64955-3559-4FDD-ACC0-0418AE5E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62425"/>
            <a:ext cx="4686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Cómo ejecutarlo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12BBA-ABBF-4EB3-82A4-58588321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62425"/>
            <a:ext cx="3076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Sistema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65E380-F3B8-4474-BCEC-87E84329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10134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3E2736-9F23-4A6F-B34F-24762767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81575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5B96C"/>
                </a:solidFill>
                <a:latin typeface="Avenir Next"/>
                <a:ea typeface="Avenir Next"/>
                <a:cs typeface="Avenir Next"/>
              </a:rPr>
              <a:t>EVIDENCIA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0E8C50-A166-4511-8F74-19ED8EF2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981575"/>
            <a:ext cx="76295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output.xml    ·    log.html    ·    report.html</a:t>
            </a:r>
          </a:p>
        </p:txBody>
      </p:sp>
    </p:spTree>
    <p:extLst>
      <p:ext uri="{BB962C8B-B14F-4D97-AF65-F5344CB8AC3E}">
        <p14:creationId xmlns:p14="http://schemas.microsoft.com/office/powerpoint/2010/main" val="14917210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CDEEF-3E14-43C9-8B36-2E01CFEA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725A9-D998-4BA7-B062-EB5CC2B9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AFC5F-215A-4A18-A514-30B0E5B7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Patrón S25: Page Object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2443E-B483-4067-A79D-4DB22943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Un cambio en la interfaz se corrige en el recurso de esa pantalla.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B6CD4-50F8-4266-B9D0-39A58FE9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CC16F-0166-47FE-89F6-975EEA46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3286A-7D55-4599-93DA-A398204E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BCF56-C03D-407C-A14C-458F9C35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52768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12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FD02C-24E2-4C2B-BEEB-A3BC38FD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14668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D931C-6E84-44FC-9651-EECBD02C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050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CASO · QUÉ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1CE43-CCB2-4024-ADEC-D6B4EFAB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57450"/>
            <a:ext cx="4772025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Ingresar como usuario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Agregar contacto y comprobarlo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Enviar solicitud a contacto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Aceptar solicitud recibida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199D-0258-4E19-9F06-84813867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04975"/>
            <a:ext cx="52768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9E2DB-CFB2-494F-AD62-03BB1158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214312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C7FD4B-FDD9-4018-A157-C9F012F5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05000"/>
            <a:ext cx="1914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RECURSOS · CÓMO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491C8-B42E-473D-AF19-93F88DAD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457450"/>
            <a:ext cx="4772025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LoginPage.resource</a:t>
            </a:r>
          </a:p>
          <a:p xmlns:a="http://schemas.openxmlformats.org/drawingml/2006/main">
            <a: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ContactosPage.resource</a:t>
            </a:r>
          </a:p>
          <a:p xmlns:a="http://schemas.openxmlformats.org/drawingml/2006/main">
            <a: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SolicitudesPage.resource</a:t>
            </a:r>
          </a:p>
          <a:p xmlns:a="http://schemas.openxmlformats.org/drawingml/2006/main">
            <a:pPr algn="l">
              <a:def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InicioPage.resource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4E40B-F095-4962-B971-734BB9F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47687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El caso se lee como un flujo de negocio.</a:t>
            </a:r>
          </a:p>
        </p:txBody>
      </p:sp>
    </p:spTree>
    <p:extLst>
      <p:ext uri="{BB962C8B-B14F-4D97-AF65-F5344CB8AC3E}">
        <p14:creationId xmlns:p14="http://schemas.microsoft.com/office/powerpoint/2010/main" val="14825359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FAFC5-38A2-4C04-8502-5C0FC5DE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18FCB-841A-4C1D-B043-0A2AB6CA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83550-7BE2-4301-9A68-E3C79C65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Diego inicia el recorrido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EACC2-2750-4830-AED3-96BB8EA8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Contacto creado → solicitud de S/ 25 enviada → estado Pendiente.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C245B-ABE2-41A8-8185-DE42E17E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EA145-4764-458B-80E1-82B97E04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88C80-229C-4E1D-AFBA-66F4C48E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CE3F1-63A9-4CA7-9935-E007E569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600200"/>
            <a:ext cx="27813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0144D-DEEF-4B01-A97E-B3EC6A25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6383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rPr>
              <a:t>1  BRUNO EN CONTACTOS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41478-8D1B-4A37-A5F4-4200D376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0250"/>
            <a:ext cx="11134725" cy="1628775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21689-9869-4E70-96E8-42C4E73AFF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be270424b47e6"/>
          <a:srcRect xmlns:a="http://schemas.openxmlformats.org/drawingml/2006/main" l="0" t="581" r="0" b="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" y="2038350"/>
            <a:ext cx="11058525" cy="1552575"/>
          </a:xfrm>
          <a:prstGeom xmlns:a="http://schemas.openxmlformats.org/drawingml/2006/main" prst="roundRect">
            <a:avLst>
              <a:gd name="adj" fmla="val 490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F2D33-5890-41BA-B539-86445CF3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29050"/>
            <a:ext cx="2981325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53EFD8-5CA3-4273-A9C1-ED90FA1C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867150"/>
            <a:ext cx="2752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A4C4E"/>
                </a:solidFill>
                <a:latin typeface="Avenir Next"/>
                <a:ea typeface="Avenir Next"/>
                <a:cs typeface="Avenir Next"/>
              </a:rPr>
              <a:t>2  SOLICITUD PENDIENTE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BC852-6E75-4C8C-B800-28B447C0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29100"/>
            <a:ext cx="111347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2880F-6D65-4501-88E6-B746E750F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a56aa1db74d64"/>
          <a:srcRect xmlns:a="http://schemas.openxmlformats.org/drawingml/2006/main" l="0" t="884" r="0" b="8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" y="4267200"/>
            <a:ext cx="11058525" cy="1543050"/>
          </a:xfrm>
          <a:prstGeom xmlns:a="http://schemas.openxmlformats.org/drawingml/2006/main" prst="roundRect">
            <a:avLst>
              <a:gd name="adj" fmla="val 4938"/>
            </a:avLst>
          </a:prstGeom>
        </p:spPr>
      </p:pic>
    </p:spTree>
    <p:extLst>
      <p:ext uri="{BB962C8B-B14F-4D97-AF65-F5344CB8AC3E}">
        <p14:creationId xmlns:p14="http://schemas.microsoft.com/office/powerpoint/2010/main" val="119862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59DF81-9C58-471E-B321-89F9AA99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2BF23-FE7C-4528-AE5F-6B086414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A8999-3878-4D4E-9D81-A4976626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Bruno acepta y Qolqe transfiere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D2DE9-E89A-4886-8B21-3507E517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El resultado se comprueba en estado, operación y saldos.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F2929-53A8-4D3E-9827-1EE9878B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39DA3-83D7-487E-8379-804B95CE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1A9E3-1DF6-4C59-B9D7-BC741887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36F02-EEE3-4E00-91BA-43CB3229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24025"/>
            <a:ext cx="7762875" cy="3286125"/>
          </a:xfrm>
          <a:prstGeom xmlns:a="http://schemas.openxmlformats.org/drawingml/2006/main" prst="roundRect">
            <a:avLst>
              <a:gd name="adj" fmla="val 23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EED28-8F9C-4002-8564-5121265271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c617b8b3c4cb7"/>
          <a:srcRect xmlns:a="http://schemas.openxmlformats.org/drawingml/2006/main" l="0" t="1104" r="0" b="1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" y="1762125"/>
            <a:ext cx="7686675" cy="3209925"/>
          </a:xfrm>
          <a:prstGeom xmlns:a="http://schemas.openxmlformats.org/drawingml/2006/main" prst="roundRect">
            <a:avLst>
              <a:gd name="adj" fmla="val 2374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B83AA9-C089-49BE-B46D-AE1A6143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24025"/>
            <a:ext cx="3267075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43597-151D-4B4D-A770-80DB151F97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a1a84f55384ab3"/>
          <a:srcRect xmlns:a="http://schemas.openxmlformats.org/drawingml/2006/main" l="94" t="0" r="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9625" y="1762125"/>
            <a:ext cx="3190875" cy="1562100"/>
          </a:xfrm>
          <a:prstGeom xmlns:a="http://schemas.openxmlformats.org/drawingml/2006/main" prst="roundRect">
            <a:avLst>
              <a:gd name="adj" fmla="val 4878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5FE6B6-E860-4E75-90B1-CB1C8F09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90925"/>
            <a:ext cx="319087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59C23E-5F41-446D-A29D-A23F31F0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771900"/>
            <a:ext cx="28003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S/ 25.00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5F2277-FAC9-42D0-B3B7-DC5F6C1A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815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transferidos a Diego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68AA2-8780-4033-A81A-96354940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238750"/>
            <a:ext cx="11058525" cy="695325"/>
          </a:xfrm>
          <a:prstGeom xmlns:a="http://schemas.openxmlformats.org/drawingml/2006/main" prst="roundRect">
            <a:avLst>
              <a:gd name="adj" fmla="val 10959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19628-4593-427A-AEBA-267D1680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53050"/>
            <a:ext cx="49720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Bruno  S/ 775.00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8C1BAC-C998-4853-AC9F-7BD19ABB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353050"/>
            <a:ext cx="5286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Diego  S/ 2,525.00</a:t>
            </a:r>
          </a:p>
        </p:txBody>
      </p:sp>
    </p:spTree>
    <p:extLst>
      <p:ext uri="{BB962C8B-B14F-4D97-AF65-F5344CB8AC3E}">
        <p14:creationId xmlns:p14="http://schemas.microsoft.com/office/powerpoint/2010/main" val="205557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B4D5C-2D4E-479C-B9B0-D4B995E1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E6998-7A41-4224-9BCF-DA050EE6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EC2D9-9A10-44F2-8576-F153F2FD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Demo en vivo + evidencia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4B3A2-CCD1-44DD-803B-BC3EC4A1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Ejecutar el caso y abrir el reporte generado por Robot.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83838-3953-44E8-8726-6591FD64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6C20D-0FD1-47E7-B337-767BBE16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7CE7D-2496-42B6-A45E-A599DDE5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ED812-0D11-48F6-8A86-6CEEF511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24025"/>
            <a:ext cx="7219950" cy="4124325"/>
          </a:xfrm>
          <a:prstGeom xmlns:a="http://schemas.openxmlformats.org/drawingml/2006/main" prst="roundRect">
            <a:avLst>
              <a:gd name="adj" fmla="val 1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A8A685-2ADD-4213-AF37-645ADAEEAE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89a5dee1848ab"/>
          <a:srcRect xmlns:a="http://schemas.openxmlformats.org/drawingml/2006/main" l="0" t="417" r="0" b="4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" y="1762125"/>
            <a:ext cx="7143750" cy="4048125"/>
          </a:xfrm>
          <a:prstGeom xmlns:a="http://schemas.openxmlformats.org/drawingml/2006/main" prst="roundRect">
            <a:avLst>
              <a:gd name="adj" fmla="val 1882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CA631-BC3C-422A-80C0-A58E29D8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3638550" cy="4048125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12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5CD25-D252-4C3D-AB82-37F041E7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933575"/>
            <a:ext cx="30861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51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1/1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AE156-A82A-415F-BADF-FC57BE93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09875"/>
            <a:ext cx="3086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5B96C"/>
                </a:solidFill>
                <a:latin typeface="Avenir Next"/>
                <a:ea typeface="Avenir Next"/>
                <a:cs typeface="Avenir Next"/>
              </a:rPr>
              <a:t>PRUEBA APROBADA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338D7-781E-4AD8-BA11-33A54C23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24250"/>
            <a:ext cx="30861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1. Iniciar Qolqe</a:t>
            </a:r>
          </a:p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2. Ejecutar Robot</a:t>
            </a:r>
          </a:p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3. Abrir report.html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43247-7531-49B9-8FCB-62E59473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95900"/>
            <a:ext cx="34575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u="sng">
                <a:solidFill>
                  <a:srgbClr val="F5B96C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7d5dba2d43394d11"/>
              </a:rPr>
              <a:t>Abrir README de ejecución</a:t>
            </a:r>
          </a:p>
        </p:txBody>
      </p:sp>
    </p:spTree>
    <p:extLst>
      <p:ext uri="{BB962C8B-B14F-4D97-AF65-F5344CB8AC3E}">
        <p14:creationId xmlns:p14="http://schemas.microsoft.com/office/powerpoint/2010/main" val="4564088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9CB88F-426D-4E64-A383-20877E61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B46AB-514A-44B4-9128-06F08599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C0450-6ECD-4BC5-AA6B-58444692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IA aplicada: revisión del caso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C9FC5-64D0-4108-938B-4180AE1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Codex inspecciona la evidencia y señala una validación faltante.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66FBC-FBD9-4532-A55B-2B69AD1E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BCF51-D382-47AF-BF64-F585939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0F313-96DB-489E-A5AE-4B6540AB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E6C2D-5B18-4D49-B3B3-27B88B61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14500"/>
            <a:ext cx="11058525" cy="1628775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12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75C4A-8EC0-43BD-8C95-8384CCF4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885950"/>
            <a:ext cx="19812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A4225-F493-4ADA-B8D5-0BB51EFE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9240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PROMPT EN VIVO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DFC5FA-9438-4BA4-A411-8B353BD3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10363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“Compara output.xml con HU-G4-06 y HU-G4-08.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3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¿Qué validación importante falta?”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83747-1ECF-4E9C-93E7-CDCA39B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667125"/>
            <a:ext cx="5238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288BA-42D5-4C67-9DF7-329753C9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57625"/>
            <a:ext cx="481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HALLAZGO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FC800-6BB4-4F20-9DC3-4E2008EA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10050"/>
            <a:ext cx="48196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Falta verificar el SMS simulado</a:t>
            </a:r>
          </a:p>
          <a:p xmlns:a="http://schemas.openxmlformats.org/drawingml/2006/main">
            <a: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a Bruno y a Diego.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689109-8662-4835-81D7-83847696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67125"/>
            <a:ext cx="5238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CE56F-6E5A-4289-BB4C-618DD889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57625"/>
            <a:ext cx="481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CRITERIO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AA587-612E-4705-AD92-ECD2332F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10050"/>
            <a:ext cx="48196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Contrastar con requisitos y</a:t>
            </a:r>
          </a:p>
          <a:p xmlns:a="http://schemas.openxmlformats.org/drawingml/2006/main">
            <a:pPr algn="l">
              <a:def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ejecutar el cambio propuesto.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5C260A-B026-44D3-8783-770DD49F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495925"/>
            <a:ext cx="5133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u="sng">
                <a:solidFill>
                  <a:srgbClr val="11766E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7037d8fb938d4ce5"/>
              </a:rPr>
              <a:t>Abrir guía de la demo IA</a:t>
            </a:r>
          </a:p>
        </p:txBody>
      </p:sp>
    </p:spTree>
    <p:extLst>
      <p:ext uri="{BB962C8B-B14F-4D97-AF65-F5344CB8AC3E}">
        <p14:creationId xmlns:p14="http://schemas.microsoft.com/office/powerpoint/2010/main" val="12608357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D79263-6AD1-4A52-89A0-02849D31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FDC97-C28E-49B2-825D-BFDE7633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3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3240F-B7CC-4E5C-BFB6-38EF3ED3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Hallazgos y entrega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48589-95C8-4B75-8215-ECF78580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019175"/>
            <a:ext cx="11001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Lo que funcionó, el límite observado y cómo continuar.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AA31E-D8AD-44FC-B3A4-035F9134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257925"/>
            <a:ext cx="1106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3F3B62-1D54-4CF9-8ADD-5EC98956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3912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QOLQE  ×  ROBOT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4B00D-2B16-4040-84FF-132FE185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91275"/>
            <a:ext cx="1819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def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A6D70"/>
                </a:solidFill>
                <a:latin typeface="Avenir Next"/>
                <a:ea typeface="Avenir Next"/>
                <a:cs typeface="Avenir Next"/>
              </a:rPr>
              <a:t>GRUPO 4  · 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068C33-BFDB-47E5-A0C3-79561A7B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90700"/>
            <a:ext cx="3571875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F5B9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D1641-539A-48B9-B7F2-2FD964B3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8120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DIFICULTAD REAL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F3B20-1692-4320-A4E3-E9F0A2E9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33650"/>
            <a:ext cx="31813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La vista tardaba en pasar de</a:t>
            </a:r>
          </a:p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Pendiente a Aceptada.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2E47F8-FB9F-4EE0-8F06-1C09ED69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90700"/>
            <a:ext cx="3571875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DFF3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EE905-EF5C-4795-B04B-21C89297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8120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LÍMITES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196FD3-F10B-4D9C-B205-C18777C1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31813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Instalación, velocidad de UI</a:t>
            </a:r>
          </a:p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y selectores cambiantes.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04BA1-BEBE-45BE-AE06-E07A440B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90700"/>
            <a:ext cx="3571875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95BE5C-3035-4B27-874E-4C35E297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8120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rPr>
              <a:t>CUÁNDO NO USARLA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F1C7F-F1A6-40AD-B513-85DB92E0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33650"/>
            <a:ext cx="31813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Reglas pequeñas o servicios</a:t>
            </a:r>
          </a:p>
          <a:p xmlns:a="http://schemas.openxmlformats.org/drawingml/2006/main">
            <a:pPr algn="l">
              <a:def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22D32"/>
                </a:solidFill>
                <a:latin typeface="Avenir Next"/>
                <a:ea typeface="Avenir Next"/>
                <a:cs typeface="Avenir Next"/>
              </a:rPr>
              <a:t>externos sin control.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CCC51-A0BB-42ED-A05D-D88D77E9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495800"/>
            <a:ext cx="11058525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2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E0271-895C-4249-978B-97032BA3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38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F5B96C"/>
                </a:solidFill>
                <a:latin typeface="Avenir Next"/>
                <a:ea typeface="Avenir Next"/>
                <a:cs typeface="Avenir Next"/>
              </a:rPr>
              <a:t>ENTREGABLE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DCB41E-8B52-42E3-BD3E-D576FF9D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Presentación  +  pruebas Robot  +  README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985D1F-DA5A-441E-9275-3058A92A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829300"/>
            <a:ext cx="542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176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u="sng">
                <a:solidFill>
                  <a:srgbClr val="11766E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4806752dcb584010"/>
              </a:rPr>
              <a:t>Repositorio y código</a:t>
            </a:r>
          </a:p>
        </p:txBody>
      </p:sp>
    </p:spTree>
    <p:extLst>
      <p:ext uri="{BB962C8B-B14F-4D97-AF65-F5344CB8AC3E}">
        <p14:creationId xmlns:p14="http://schemas.microsoft.com/office/powerpoint/2010/main" val="2663098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2026-10-24T20:04:37.3950000Z</dcterms:created>
  <dcterms:modified xsi:type="dcterms:W3CDTF">2026-10-24T20:04:37.3950000Z</dcterms:modified>
</coreProperties>
</file>