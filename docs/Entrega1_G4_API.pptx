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trega 1" id="{3f2af020-2ba8-cef9-908e-3b1242f9b60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la Entrega 1: pruebas de API del módulo G4. Sigo la estructura indicada: herramienta, módulo, diseño de casos y demo de todos los escenarios.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Elegí pytest con httpx y pytest-bdd porque escribo los casos en Gherkin, con etiquetas de historia y caso que después alimentan la trazabilidad, y el resultado sale en JUnit XML para el pipeline. Schemathesis complementa: genera pruebas desde el contrato OpenAPI, sin que yo escriba cada caso. Es el stack de Python de la clase 10, el mismo lenguaje de Qolqe.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 es contactos y solicitudes de dinero. Una persona pide y otra acepta: esa aceptación transfiere dinero. Tiene tres riesgos: dinero mal transferido, una máquina de estados donde una transición indebida mueve dinero, y acceso entre usuarios. Por eso prioricé las cuatro historias de prioridad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caso funcional sale de un criterio de aceptación, con una técnica de caja negra. Valores límite para alias, monto, motivo, y las 48 horas exactas con el reloj de pruebas. Partición de equivalencia para el celular. Transición de estados para la solicitud. Tabla de decisión para quién puede hacer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casos técnicos no salen de una historia concreta, sino de propiedades del sistema: autenticación, propiedad de los datos, contrato, repetibilidad. Schemathesis genera unos 700 casos sobre las 9 operaciones del módulo. Sus hallazgos los clasifiqué en defecto del código, del contrato o falso positivo, como vimos en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Resultado: 41 escenarios y 68 ejecuciones. Pasan 64 y 4 son fallos esperados, cada uno enlazado a su defecto. Los más graves: se puede aceptar una solicitud vencida, y se puede transferir a una cuenta cerrada. Ahora ejecuto todos los escenarios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CS5383 · Proyecto 2 · Entrega 1 · Módulo G4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API del módulo G4 de Qolqe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Proyecto 2 · Entrega 1 · Contactos y solicitudes de dinero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CS5383 Pruebas y Verificación de Software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Johar Jared Barzola Estrella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Herramienta: pytest-bdd + httpx + Schemathesis</a:t>
            </a:r>
            <a:endParaRPr lang="en-US" sz="3200" dirty="0"/>
          </a:p>
        </p:txBody>
      </p:sp>
      <p:sp>
        <p:nvSpPr>
          <p:cNvPr id="4" name="Tarjeta pytest + httpx"/>
          <p:cNvSpPr/>
          <p:nvPr/>
        </p:nvSpPr>
        <p:spPr>
          <a:xfrm>
            <a:off x="548640" y="13258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35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pytest + httpx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56232"/>
            <a:ext cx="31546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Solicitudes HTTP reales contra Qolqe levantado. Fixtures para reiniciar los datos en cada escenario.</a:t>
            </a:r>
            <a:endParaRPr lang="en-US" sz="1500" dirty="0"/>
          </a:p>
        </p:txBody>
      </p:sp>
      <p:sp>
        <p:nvSpPr>
          <p:cNvPr id="7" name="Tarjeta pytest-bdd"/>
          <p:cNvSpPr/>
          <p:nvPr/>
        </p:nvSpPr>
        <p:spPr>
          <a:xfrm>
            <a:off x="4315968" y="13258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98848" y="1435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pytest-bdd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98848" y="1856232"/>
            <a:ext cx="31546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Casos en Gherkin con @HU, @CA y @CP. Un defecto se marca @DEF-xx y queda como xfail estricto.</a:t>
            </a:r>
            <a:endParaRPr lang="en-US" sz="1500" dirty="0"/>
          </a:p>
        </p:txBody>
      </p:sp>
      <p:sp>
        <p:nvSpPr>
          <p:cNvPr id="10" name="Tarjeta Schemathesis"/>
          <p:cNvSpPr/>
          <p:nvPr/>
        </p:nvSpPr>
        <p:spPr>
          <a:xfrm>
            <a:off x="8092440" y="1325880"/>
            <a:ext cx="35204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1435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Schemathesis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1856232"/>
            <a:ext cx="31546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Genera cientos de solicitudes desde /openapi.json y comprueba propiedades, como que no haya respuestas 500.</a:t>
            </a:r>
            <a:endParaRPr lang="en-US" sz="1500" dirty="0"/>
          </a:p>
        </p:txBody>
      </p:sp>
      <p:graphicFrame>
        <p:nvGraphicFramePr>
          <p:cNvPr id="3" name="Alternativ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Alternativa de la clase 10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Por qué no para este módulo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Postman + Newman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Colecciones JSON, más difíciles de revisar en Git y de reutilizar entre casos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Karate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Requiere Java; el proyecto ya es Python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Robot Framework + RequestsLibrary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xfail: un fallo conocido quedaría como skip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G4: el dinero se mueve sin que el pagador lo inicie</a:t>
            </a:r>
            <a:endParaRPr lang="en-US" sz="3200" dirty="0"/>
          </a:p>
        </p:txBody>
      </p:sp>
      <p:sp>
        <p:nvSpPr>
          <p:cNvPr id="4" name="Tarjeta historias de usuario en el módulo"/>
          <p:cNvSpPr/>
          <p:nvPr/>
        </p:nvSpPr>
        <p:spPr>
          <a:xfrm>
            <a:off x="548640" y="1325880"/>
            <a:ext cx="3520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historias de usuario en el módulo</a:t>
            </a:r>
            <a:endParaRPr lang="en-US" sz="1300" dirty="0"/>
          </a:p>
        </p:txBody>
      </p:sp>
      <p:sp>
        <p:nvSpPr>
          <p:cNvPr id="7" name="Tarjeta historias de prioridad Alta: tocan dinero"/>
          <p:cNvSpPr/>
          <p:nvPr/>
        </p:nvSpPr>
        <p:spPr>
          <a:xfrm>
            <a:off x="4315968" y="1325880"/>
            <a:ext cx="3520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53128" y="1417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453128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historias de prioridad Alta: tocan dinero</a:t>
            </a:r>
            <a:endParaRPr lang="en-US" sz="1300" dirty="0"/>
          </a:p>
        </p:txBody>
      </p:sp>
      <p:sp>
        <p:nvSpPr>
          <p:cNvPr id="10" name="Tarjeta estados de una solicitud"/>
          <p:cNvSpPr/>
          <p:nvPr/>
        </p:nvSpPr>
        <p:spPr>
          <a:xfrm>
            <a:off x="8092440" y="1325880"/>
            <a:ext cx="3520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1417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estados de una solicitud</a:t>
            </a:r>
            <a:endParaRPr lang="en-US" sz="1300" dirty="0"/>
          </a:p>
        </p:txBody>
      </p:sp>
      <p:graphicFrame>
        <p:nvGraphicFramePr>
          <p:cNvPr id="4" name="Riesg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0"/>
                <a:gridCol w="10058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Riesgo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Dónde ocurre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Impacto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Dinero mal transferido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Aceptar una solicitud (HU-G4-08), transferir a un contacto (HU-G4-05)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Alto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Máquina de estados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PENDIENTE → ACEPTADA, RECHAZADA, CANCELADA o VENCIDA (R-G4-05)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Alto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Acceso entre usuarios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Solo el destinatario acepta, solo el solicitante cancela: lo ajeno responde 404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Alto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casos funcionales: 38 escenarios</a:t>
            </a:r>
            <a:endParaRPr lang="en-US" sz="3200" dirty="0"/>
          </a:p>
        </p:txBody>
      </p:sp>
      <p:graphicFrame>
        <p:nvGraphicFramePr>
          <p:cNvPr id="5" name="Técnic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394960"/>
                <a:gridCol w="301752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Técnica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Ejemplos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Casos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Valores límite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Alias 2/3/20/21 · monto 0/0.01/500/500.01 · motivo 2/3/60/61 · 15 contactos · 5 favoritos · 10 solicitudes · 48 h exactas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CP-A03, A07, A12, A21, A22, A23, A27, A34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Partición de equivalencia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Celular inválido, propio, no registrado, cerrado, existente · caracteres del alias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CP-A02, A03, A04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Transición de estados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 PENDIENTE a cada estado final · transiciones no válidas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CP-A27, A28, A32, A33, A35, A36, A37, A39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Tabla de decisión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Quién actúa × estado de la solicitud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CP-A31, A38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Efectos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Saldos, código de operación, SMS, movimientos conservados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CP-A14, A17, A20, A28, A35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casos técnicos</a:t>
            </a:r>
            <a:endParaRPr lang="en-US" sz="3200" dirty="0"/>
          </a:p>
        </p:txBody>
      </p:sp>
      <p:graphicFrame>
        <p:nvGraphicFramePr>
          <p:cNvPr id="6" name="Casos técnic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309360"/>
                <a:gridCol w="20116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Qué verifica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Herramienta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CP-T01, T03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token responde 401 NO_AUTENTICADO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pytest-bdd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CP-T02, A31, A38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 recurso de otro usuario responde 404, como si no existiera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pytest-bdd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CP-T04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respuestas 500; estados, cabeceras y esquemas según OpenAPI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Schemathesis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Repetibilidad (FIRST)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Datos semilla y reloj real restaurados antes de cada escenario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Fixture de pytest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arjeta Clasificación de hallazgos de Schemathesis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495604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Clasificación de hallazgos de Schemathesis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376672"/>
            <a:ext cx="10698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ST205 y ST201: defectos (DEF-06, DEF-08). ST202: defecto del contrato (DEF-05). ST302: falso positivo, porque HU-G4-08 CA4 exige ese 404.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4 defectos detectados en la API</a:t>
            </a:r>
            <a:endParaRPr lang="en-US" sz="3200" dirty="0"/>
          </a:p>
        </p:txBody>
      </p:sp>
      <p:sp>
        <p:nvSpPr>
          <p:cNvPr id="4" name="Tarjeta escenarios de API"/>
          <p:cNvSpPr/>
          <p:nvPr/>
        </p:nvSpPr>
        <p:spPr>
          <a:xfrm>
            <a:off x="54864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escenarios de API</a:t>
            </a:r>
            <a:endParaRPr lang="en-US" sz="1300" dirty="0"/>
          </a:p>
        </p:txBody>
      </p:sp>
      <p:sp>
        <p:nvSpPr>
          <p:cNvPr id="7" name="Tarjeta ejecuciones passed"/>
          <p:cNvSpPr/>
          <p:nvPr/>
        </p:nvSpPr>
        <p:spPr>
          <a:xfrm>
            <a:off x="3364992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02152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ejecuciones passed</a:t>
            </a:r>
            <a:endParaRPr lang="en-US" sz="1300" dirty="0"/>
          </a:p>
        </p:txBody>
      </p:sp>
      <p:sp>
        <p:nvSpPr>
          <p:cNvPr id="10" name="Tarjeta xfailed con defecto"/>
          <p:cNvSpPr/>
          <p:nvPr/>
        </p:nvSpPr>
        <p:spPr>
          <a:xfrm>
            <a:off x="6181344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18504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xfailed con defecto</a:t>
            </a:r>
            <a:endParaRPr lang="en-US" sz="1300" dirty="0"/>
          </a:p>
        </p:txBody>
      </p:sp>
      <p:sp>
        <p:nvSpPr>
          <p:cNvPr id="13" name="Tarjeta casos de contrato"/>
          <p:cNvSpPr/>
          <p:nvPr/>
        </p:nvSpPr>
        <p:spPr>
          <a:xfrm>
            <a:off x="8997696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34856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~700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134856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casos de contrato</a:t>
            </a:r>
            <a:endParaRPr lang="en-US" sz="1300" dirty="0"/>
          </a:p>
        </p:txBody>
      </p:sp>
      <p:graphicFrame>
        <p:nvGraphicFramePr>
          <p:cNvPr id="7" name="Defec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7772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1463040"/>
                <a:gridCol w="11887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Defecto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Regla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Severidad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DEF-03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Aceptar una solicitud vencida transfiere el dinero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HU-G4-08 CA4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Crítica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DEF-04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 transfiere a un contacto con cuenta cerrada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RN-07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Crítica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DEF-02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Alias duplicado si tiene espacios alrededor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R-G4-02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DEF-01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El alias rechaza la letra ñ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R-G4-02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arjeta Demo en vivo"/>
          <p:cNvSpPr/>
          <p:nvPr/>
        </p:nvSpPr>
        <p:spPr>
          <a:xfrm>
            <a:off x="8549640" y="3017520"/>
            <a:ext cx="3063240" cy="310896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732520" y="31272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Demo en vivo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8732520" y="3547872"/>
            <a:ext cx="2697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 -m pytest tests/api -v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schemathesis run ...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Abrir ambos reportes HTML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olqe">
  <a:themeElements>
    <a:clrScheme name="Qolqe">
      <a:dk1>
        <a:srgbClr val="16262E"/>
      </a:dk1>
      <a:lt1>
        <a:srgbClr val="FFFFFF"/>
      </a:lt1>
      <a:dk2>
        <a:srgbClr val="12343B"/>
      </a:dk2>
      <a:lt2>
        <a:srgbClr val="EEF2F3"/>
      </a:lt2>
      <a:accent1>
        <a:srgbClr val="1F6F78"/>
      </a:accent1>
      <a:accent2>
        <a:srgbClr val="E0A100"/>
      </a:accent2>
      <a:accent3>
        <a:srgbClr val="1E8E5A"/>
      </a:accent3>
      <a:accent4>
        <a:srgbClr val="C0392B"/>
      </a:accent4>
      <a:accent5>
        <a:srgbClr val="6B7C85"/>
      </a:accent5>
      <a:accent6>
        <a:srgbClr val="B9C6CB"/>
      </a:accent6>
      <a:hlink>
        <a:srgbClr val="1F6F78"/>
      </a:hlink>
      <a:folHlink>
        <a:srgbClr val="6B7C85"/>
      </a:folHlink>
    </a:clrScheme>
    <a:fontScheme name="Qolq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Johar Jared Barzola Estrella</dc:creator>
  <cp:lastModifiedBy>Johar Jared Barzola Estrella</cp:lastModifiedBy>
  <cp:revision>1</cp:revision>
  <dcterms:created xsi:type="dcterms:W3CDTF">2026-10-30T20:03:56Z</dcterms:created>
  <dcterms:modified xsi:type="dcterms:W3CDTF">2026-10-30T20:03:56Z</dcterms:modified>
</cp:coreProperties>
</file>